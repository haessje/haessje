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305" r:id="rId5"/>
    <p:sldId id="285" r:id="rId6"/>
    <p:sldId id="286" r:id="rId7"/>
    <p:sldId id="302" r:id="rId8"/>
    <p:sldId id="303" r:id="rId9"/>
    <p:sldId id="284" r:id="rId10"/>
    <p:sldId id="304" r:id="rId11"/>
    <p:sldId id="300" r:id="rId12"/>
    <p:sldId id="301" r:id="rId13"/>
    <p:sldId id="308" r:id="rId14"/>
    <p:sldId id="309" r:id="rId15"/>
    <p:sldId id="259" r:id="rId16"/>
    <p:sldId id="260" r:id="rId17"/>
    <p:sldId id="262" r:id="rId18"/>
    <p:sldId id="265" r:id="rId19"/>
    <p:sldId id="266" r:id="rId20"/>
    <p:sldId id="267" r:id="rId21"/>
    <p:sldId id="283" r:id="rId22"/>
    <p:sldId id="272" r:id="rId23"/>
    <p:sldId id="298" r:id="rId24"/>
    <p:sldId id="306" r:id="rId25"/>
    <p:sldId id="274" r:id="rId26"/>
    <p:sldId id="268" r:id="rId27"/>
    <p:sldId id="307" r:id="rId28"/>
    <p:sldId id="282" r:id="rId29"/>
    <p:sldId id="288" r:id="rId30"/>
    <p:sldId id="289" r:id="rId31"/>
    <p:sldId id="290" r:id="rId32"/>
    <p:sldId id="291" r:id="rId33"/>
    <p:sldId id="292" r:id="rId34"/>
    <p:sldId id="261" r:id="rId35"/>
    <p:sldId id="293" r:id="rId36"/>
    <p:sldId id="263" r:id="rId37"/>
    <p:sldId id="264" r:id="rId38"/>
    <p:sldId id="294" r:id="rId39"/>
    <p:sldId id="295" r:id="rId40"/>
    <p:sldId id="296" r:id="rId41"/>
    <p:sldId id="297" r:id="rId42"/>
    <p:sldId id="269" r:id="rId43"/>
    <p:sldId id="270" r:id="rId44"/>
    <p:sldId id="271" r:id="rId45"/>
    <p:sldId id="287" r:id="rId4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929" autoAdjust="0"/>
  </p:normalViewPr>
  <p:slideViewPr>
    <p:cSldViewPr snapToGrid="0" snapToObjects="1">
      <p:cViewPr varScale="1">
        <p:scale>
          <a:sx n="84" d="100"/>
          <a:sy n="84" d="100"/>
        </p:scale>
        <p:origin x="82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18C2F-2DF2-4CD5-8564-6A514B925BB3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D6320-0D7D-4E17-A3A0-F836EA8A9F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4208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1" dirty="0">
                <a:solidFill>
                  <a:srgbClr val="FFFFFF"/>
                </a:solidFill>
                <a:latin typeface="Apple SD Gothic Neo"/>
              </a:rPr>
              <a:t>저도 한때 감으로 샀다가 크게 잃은 적 있어요</a:t>
            </a:r>
            <a:r>
              <a:rPr lang="en-US" altLang="ko-KR" sz="1200" b="1" dirty="0">
                <a:solidFill>
                  <a:srgbClr val="FFFFFF"/>
                </a:solidFill>
                <a:latin typeface="Apple SD Gothic Neo"/>
              </a:rPr>
              <a:t>.</a:t>
            </a:r>
          </a:p>
          <a:p>
            <a:r>
              <a:rPr lang="ko-KR" altLang="en-US" sz="1050" b="0" dirty="0">
                <a:solidFill>
                  <a:srgbClr val="999999"/>
                </a:solidFill>
                <a:latin typeface="Apple SD Gothic Neo"/>
              </a:rPr>
              <a:t>그 뒤로 조건을 찾기 시작했고</a:t>
            </a:r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,</a:t>
            </a:r>
          </a:p>
          <a:p>
            <a:r>
              <a:rPr lang="ko-KR" altLang="en-US" sz="1050" b="0" dirty="0">
                <a:solidFill>
                  <a:srgbClr val="999999"/>
                </a:solidFill>
                <a:latin typeface="Apple SD Gothic Neo"/>
              </a:rPr>
              <a:t>그 과정이 너무 힘들어서 도구를 직접 만들었습니다</a:t>
            </a:r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.</a:t>
            </a:r>
          </a:p>
          <a:p>
            <a:endParaRPr lang="en-US" altLang="ko-KR" sz="1050" b="0" dirty="0">
              <a:solidFill>
                <a:srgbClr val="999999"/>
              </a:solidFill>
              <a:latin typeface="Apple SD Gothic Neo"/>
            </a:endParaRPr>
          </a:p>
          <a:p>
            <a:r>
              <a:rPr lang="ko-KR" altLang="en-US" sz="1050" b="0" dirty="0">
                <a:solidFill>
                  <a:srgbClr val="999999"/>
                </a:solidFill>
                <a:latin typeface="Apple SD Gothic Neo"/>
              </a:rPr>
              <a:t>오늘 제 도구를 팔려는 게 아닙니다</a:t>
            </a:r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.</a:t>
            </a:r>
          </a:p>
          <a:p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5</a:t>
            </a:r>
            <a:r>
              <a:rPr lang="ko-KR" altLang="en-US" sz="1050" b="0" dirty="0">
                <a:solidFill>
                  <a:srgbClr val="999999"/>
                </a:solidFill>
                <a:latin typeface="Apple SD Gothic Neo"/>
              </a:rPr>
              <a:t>주차에 보여드릴 건데 </a:t>
            </a:r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— </a:t>
            </a:r>
            <a:r>
              <a:rPr lang="ko-KR" altLang="en-US" sz="1050" b="0" dirty="0">
                <a:solidFill>
                  <a:srgbClr val="999999"/>
                </a:solidFill>
                <a:latin typeface="Apple SD Gothic Neo"/>
              </a:rPr>
              <a:t>그때 </a:t>
            </a:r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'</a:t>
            </a:r>
            <a:r>
              <a:rPr lang="ko-KR" altLang="en-US" sz="1050" b="0" dirty="0">
                <a:solidFill>
                  <a:srgbClr val="999999"/>
                </a:solidFill>
                <a:latin typeface="Apple SD Gothic Neo"/>
              </a:rPr>
              <a:t>아</a:t>
            </a:r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, </a:t>
            </a:r>
            <a:r>
              <a:rPr lang="ko-KR" altLang="en-US" sz="1050" b="0" dirty="0">
                <a:solidFill>
                  <a:srgbClr val="999999"/>
                </a:solidFill>
                <a:latin typeface="Apple SD Gothic Neo"/>
              </a:rPr>
              <a:t>이게 왜 필요한지</a:t>
            </a:r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' </a:t>
            </a:r>
            <a:r>
              <a:rPr lang="ko-KR" altLang="en-US" sz="1050" b="0" dirty="0">
                <a:solidFill>
                  <a:srgbClr val="999999"/>
                </a:solidFill>
                <a:latin typeface="Apple SD Gothic Neo"/>
              </a:rPr>
              <a:t>느끼실 거예요</a:t>
            </a:r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.</a:t>
            </a:r>
          </a:p>
          <a:p>
            <a:endParaRPr lang="en-US" altLang="ko-KR" sz="1050" b="0" dirty="0">
              <a:solidFill>
                <a:srgbClr val="999999"/>
              </a:solidFill>
              <a:latin typeface="Apple SD Gothic Neo"/>
            </a:endParaRPr>
          </a:p>
          <a:p>
            <a:r>
              <a:rPr lang="ko-KR" altLang="en-US" sz="1200" b="1" dirty="0">
                <a:solidFill>
                  <a:srgbClr val="FFFFFF"/>
                </a:solidFill>
                <a:latin typeface="Apple SD Gothic Neo"/>
              </a:rPr>
              <a:t>오늘은 우리가 왜 돈을 못 </a:t>
            </a:r>
            <a:r>
              <a:rPr lang="ko-KR" altLang="en-US" sz="1200" b="1" dirty="0" err="1">
                <a:solidFill>
                  <a:srgbClr val="FFFFFF"/>
                </a:solidFill>
                <a:latin typeface="Apple SD Gothic Neo"/>
              </a:rPr>
              <a:t>벌었는지부터</a:t>
            </a:r>
            <a:r>
              <a:rPr lang="ko-KR" altLang="en-US" sz="1200" b="1" dirty="0">
                <a:solidFill>
                  <a:srgbClr val="FFFFFF"/>
                </a:solidFill>
                <a:latin typeface="Apple SD Gothic Neo"/>
              </a:rPr>
              <a:t> 솔직하게 얘기해봅시다</a:t>
            </a:r>
            <a:r>
              <a:rPr lang="en-US" altLang="ko-KR" sz="1200" b="1" dirty="0">
                <a:solidFill>
                  <a:srgbClr val="FFFFFF"/>
                </a:solidFill>
                <a:latin typeface="Apple SD Gothic Neo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D6320-0D7D-4E17-A3A0-F836EA8A9FD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415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3593B-0F33-BCC6-B951-7F49464A2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7D7971-EE81-2F97-A260-1CA193E8E0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101953-C4D4-2D0D-F981-98972C05B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1C84E1-56BD-F789-5B60-C5BCCDF2E6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D6320-0D7D-4E17-A3A0-F836EA8A9FD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0694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B8618-8998-E941-E36C-7F0ADEC6B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785DC2-C217-9C55-390C-15022B26E2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2D665C-0643-6092-5225-05D6B15FC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정답은 없습니다</a:t>
            </a:r>
            <a:r>
              <a:rPr lang="en-US" altLang="ko-KR" dirty="0"/>
              <a:t>. </a:t>
            </a:r>
            <a:r>
              <a:rPr lang="ko-KR" altLang="en-US" dirty="0"/>
              <a:t>대부분의 개미 선택을 알려드리자면 </a:t>
            </a:r>
            <a:r>
              <a:rPr lang="en-US" altLang="ko-KR" dirty="0"/>
              <a:t>100% </a:t>
            </a:r>
            <a:r>
              <a:rPr lang="ko-KR" altLang="en-US" dirty="0"/>
              <a:t>확률로 </a:t>
            </a:r>
            <a:r>
              <a:rPr lang="en-US" altLang="ko-KR" dirty="0"/>
              <a:t>3000</a:t>
            </a:r>
            <a:r>
              <a:rPr lang="ko-KR" altLang="en-US" dirty="0"/>
              <a:t>만원을 선택합니다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얼마를 </a:t>
            </a:r>
            <a:r>
              <a:rPr lang="ko-KR" altLang="en-US" dirty="0" err="1"/>
              <a:t>벌던간에</a:t>
            </a:r>
            <a:r>
              <a:rPr lang="ko-KR" altLang="en-US" dirty="0"/>
              <a:t> 리스크가 없다면 확실한 돈을 선택하는 것</a:t>
            </a:r>
            <a:r>
              <a:rPr lang="en-US" altLang="ko-KR" dirty="0"/>
              <a:t>, </a:t>
            </a:r>
            <a:r>
              <a:rPr lang="ko-KR" altLang="en-US" dirty="0"/>
              <a:t>즉 확률을 먼저 </a:t>
            </a:r>
            <a:r>
              <a:rPr lang="ko-KR" altLang="en-US" dirty="0" err="1"/>
              <a:t>본다는거죠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170C4C-F0ED-5CBF-A769-09B0B79197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D6320-0D7D-4E17-A3A0-F836EA8A9FD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3217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3D1E0-00F6-CEAC-C827-655BBD238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DF6CB0-E18A-0956-421E-047DDD1C4A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725C55-A75D-70B1-E89F-6176E8D3FE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정답은 없습니다</a:t>
            </a:r>
            <a:r>
              <a:rPr lang="en-US" altLang="ko-KR" dirty="0"/>
              <a:t>. </a:t>
            </a:r>
            <a:r>
              <a:rPr lang="ko-KR" altLang="en-US" dirty="0"/>
              <a:t>대부분의 개미 선택을 알려드리자면 </a:t>
            </a:r>
            <a:r>
              <a:rPr lang="en-US" altLang="ko-KR" dirty="0"/>
              <a:t>A. 20% </a:t>
            </a:r>
            <a:r>
              <a:rPr lang="ko-KR" altLang="en-US" dirty="0"/>
              <a:t>확률로 </a:t>
            </a:r>
            <a:r>
              <a:rPr lang="en-US" altLang="ko-KR" dirty="0"/>
              <a:t>0</a:t>
            </a:r>
            <a:r>
              <a:rPr lang="ko-KR" altLang="en-US" dirty="0"/>
              <a:t>원을 선택합니다</a:t>
            </a:r>
            <a:r>
              <a:rPr lang="en-US" altLang="ko-KR" dirty="0"/>
              <a:t>. </a:t>
            </a:r>
            <a:r>
              <a:rPr lang="ko-KR" altLang="en-US" dirty="0"/>
              <a:t>이익과는 다르게 금액에 대한 부분을 보거든요</a:t>
            </a:r>
            <a:endParaRPr lang="en-US" altLang="ko-KR" dirty="0"/>
          </a:p>
          <a:p>
            <a:r>
              <a:rPr lang="ko-KR" altLang="en-US" dirty="0"/>
              <a:t>이익에서는 리스크가 </a:t>
            </a:r>
            <a:r>
              <a:rPr lang="ko-KR" altLang="en-US" dirty="0" err="1"/>
              <a:t>없는것을</a:t>
            </a:r>
            <a:r>
              <a:rPr lang="ko-KR" altLang="en-US" dirty="0"/>
              <a:t> 골랐는데</a:t>
            </a:r>
            <a:r>
              <a:rPr lang="en-US" altLang="ko-KR" dirty="0"/>
              <a:t>, </a:t>
            </a:r>
            <a:r>
              <a:rPr lang="ko-KR" altLang="en-US" dirty="0"/>
              <a:t>오히려 손실영역에서는 리스크가 있는 도전을 하게 되는 게 신기하지 않나요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EC10DF-EE43-5A9F-B671-FC4B4E6019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D6320-0D7D-4E17-A3A0-F836EA8A9FD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45772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9178-C22B-A864-973D-47D31056E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A23F9A-4BE9-8D52-1B7B-AD5D56805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11A285-0DFC-2E1E-DD38-7B901EDB5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정답은 없습니다</a:t>
            </a:r>
            <a:r>
              <a:rPr lang="en-US" altLang="ko-KR" dirty="0"/>
              <a:t>. </a:t>
            </a:r>
            <a:r>
              <a:rPr lang="ko-KR" altLang="en-US" dirty="0"/>
              <a:t>대부분의 개미 선택을 알려드리자면 </a:t>
            </a:r>
            <a:r>
              <a:rPr lang="en-US" altLang="ko-KR" dirty="0"/>
              <a:t>100% </a:t>
            </a:r>
            <a:r>
              <a:rPr lang="ko-KR" altLang="en-US" dirty="0"/>
              <a:t>확률로 </a:t>
            </a:r>
            <a:r>
              <a:rPr lang="en-US" altLang="ko-KR" dirty="0"/>
              <a:t>3000</a:t>
            </a:r>
            <a:r>
              <a:rPr lang="ko-KR" altLang="en-US" dirty="0"/>
              <a:t>만원을 선택합니다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얼마를 </a:t>
            </a:r>
            <a:r>
              <a:rPr lang="ko-KR" altLang="en-US" dirty="0" err="1"/>
              <a:t>벌던간에</a:t>
            </a:r>
            <a:r>
              <a:rPr lang="ko-KR" altLang="en-US" dirty="0"/>
              <a:t> 리스크가 없다면 확실한 돈을 선택하는 것</a:t>
            </a:r>
            <a:r>
              <a:rPr lang="en-US" altLang="ko-KR" dirty="0"/>
              <a:t>, </a:t>
            </a:r>
            <a:r>
              <a:rPr lang="ko-KR" altLang="en-US" dirty="0"/>
              <a:t>즉 확률을 먼저 </a:t>
            </a:r>
            <a:r>
              <a:rPr lang="ko-KR" altLang="en-US" dirty="0" err="1"/>
              <a:t>본다는거죠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CBB4FB-156F-3B5E-E533-D9F248BFF2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D6320-0D7D-4E17-A3A0-F836EA8A9FD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9915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2D905-13B8-5AF8-BE5D-CFD5E1A04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9812E31-44E5-64AF-B0CF-92271FEE4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CD3BCC-FC49-C15B-6F8C-D548184D3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정답은 없습니다</a:t>
            </a:r>
            <a:r>
              <a:rPr lang="en-US" altLang="ko-KR" dirty="0"/>
              <a:t>. </a:t>
            </a:r>
            <a:r>
              <a:rPr lang="ko-KR" altLang="en-US" dirty="0"/>
              <a:t>대부분의 개미 선택을 알려드리자면 </a:t>
            </a:r>
            <a:r>
              <a:rPr lang="en-US" altLang="ko-KR" dirty="0"/>
              <a:t>A. 20% </a:t>
            </a:r>
            <a:r>
              <a:rPr lang="ko-KR" altLang="en-US" dirty="0"/>
              <a:t>확률로 </a:t>
            </a:r>
            <a:r>
              <a:rPr lang="en-US" altLang="ko-KR" dirty="0"/>
              <a:t>0</a:t>
            </a:r>
            <a:r>
              <a:rPr lang="ko-KR" altLang="en-US" dirty="0"/>
              <a:t>원을 선택합니다</a:t>
            </a:r>
            <a:r>
              <a:rPr lang="en-US" altLang="ko-KR" dirty="0"/>
              <a:t>. </a:t>
            </a:r>
            <a:r>
              <a:rPr lang="ko-KR" altLang="en-US" dirty="0"/>
              <a:t>이익과는 다르게 금액에 대한 부분을 보거든요</a:t>
            </a:r>
            <a:endParaRPr lang="en-US" altLang="ko-KR" dirty="0"/>
          </a:p>
          <a:p>
            <a:r>
              <a:rPr lang="ko-KR" altLang="en-US" dirty="0"/>
              <a:t>이익에서는 리스크가 </a:t>
            </a:r>
            <a:r>
              <a:rPr lang="ko-KR" altLang="en-US" dirty="0" err="1"/>
              <a:t>없는것을</a:t>
            </a:r>
            <a:r>
              <a:rPr lang="ko-KR" altLang="en-US" dirty="0"/>
              <a:t> 골랐는데</a:t>
            </a:r>
            <a:r>
              <a:rPr lang="en-US" altLang="ko-KR" dirty="0"/>
              <a:t>, </a:t>
            </a:r>
            <a:r>
              <a:rPr lang="ko-KR" altLang="en-US" dirty="0"/>
              <a:t>오히려 손실영역에서는 리스크가 있는 도전을 하게 되는 게 신기하지 않나요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F20864-D667-3754-715F-983C3F7003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D6320-0D7D-4E17-A3A0-F836EA8A9FD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8468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대부분의 개미는 플러스 상태인 주식을 판다고 하는데</a:t>
            </a:r>
            <a:r>
              <a:rPr lang="en-US" altLang="ko-KR" dirty="0"/>
              <a:t>, </a:t>
            </a:r>
            <a:r>
              <a:rPr lang="ko-KR" altLang="en-US" dirty="0"/>
              <a:t>그 이유는 손실 회피 때문이라고 합니다</a:t>
            </a:r>
            <a:r>
              <a:rPr lang="en-US" altLang="ko-KR" dirty="0"/>
              <a:t>. </a:t>
            </a:r>
            <a:r>
              <a:rPr lang="ko-KR" altLang="en-US" dirty="0"/>
              <a:t>이 주식이 언젠가는 </a:t>
            </a:r>
            <a:r>
              <a:rPr lang="ko-KR" altLang="en-US" dirty="0" err="1"/>
              <a:t>오를것이다</a:t>
            </a:r>
            <a:r>
              <a:rPr lang="ko-KR" altLang="en-US" dirty="0"/>
              <a:t> 라는 </a:t>
            </a:r>
            <a:r>
              <a:rPr lang="ko-KR" altLang="en-US" dirty="0" err="1"/>
              <a:t>것때문에</a:t>
            </a:r>
            <a:r>
              <a:rPr lang="ko-KR" altLang="en-US" dirty="0"/>
              <a:t> </a:t>
            </a:r>
            <a:r>
              <a:rPr lang="ko-KR" altLang="en-US" dirty="0" err="1"/>
              <a:t>존버를</a:t>
            </a:r>
            <a:r>
              <a:rPr lang="ko-KR" altLang="en-US" dirty="0"/>
              <a:t> </a:t>
            </a:r>
            <a:r>
              <a:rPr lang="ko-KR" altLang="en-US" dirty="0" err="1"/>
              <a:t>하게되는겁니다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철저한 나만의 </a:t>
            </a:r>
            <a:r>
              <a:rPr lang="ko-KR" altLang="en-US" dirty="0" err="1"/>
              <a:t>손절에</a:t>
            </a:r>
            <a:r>
              <a:rPr lang="ko-KR" altLang="en-US" dirty="0"/>
              <a:t> 대한 조건이 없는 거죠</a:t>
            </a:r>
            <a:r>
              <a:rPr lang="en-US" altLang="ko-KR" dirty="0"/>
              <a:t>.</a:t>
            </a:r>
            <a:r>
              <a:rPr lang="ko-KR" altLang="en-US" dirty="0"/>
              <a:t> 그렇게 되면 애착주식 반려주식이 되고</a:t>
            </a:r>
            <a:r>
              <a:rPr lang="en-US" altLang="ko-KR" dirty="0"/>
              <a:t>,</a:t>
            </a:r>
          </a:p>
          <a:p>
            <a:r>
              <a:rPr lang="ko-KR" altLang="en-US" dirty="0" err="1"/>
              <a:t>익절에</a:t>
            </a:r>
            <a:r>
              <a:rPr lang="ko-KR" altLang="en-US" dirty="0"/>
              <a:t> 대한 부분에서도 정해진 기준이 없으면 기계적으로 하기가 어렵습니다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나중에 이걸 통해서 계좌관리나 탐욕조절이 </a:t>
            </a:r>
            <a:r>
              <a:rPr lang="ko-KR" altLang="en-US" dirty="0" err="1"/>
              <a:t>가능할거에요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D6320-0D7D-4E17-A3A0-F836EA8A9FD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4375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A9B35-D0A8-6957-D345-2D9FE473F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9A5D669-9891-3FB5-76C3-D892C74688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359D24-BF85-C765-9546-49B56F524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대부분의 개미는 플러스 상태인 주식을 판다고 하는데</a:t>
            </a:r>
            <a:r>
              <a:rPr lang="en-US" altLang="ko-KR" dirty="0"/>
              <a:t>, </a:t>
            </a:r>
            <a:r>
              <a:rPr lang="ko-KR" altLang="en-US" dirty="0"/>
              <a:t>그 이유는 손실 회피 때문이라고 합니다</a:t>
            </a:r>
            <a:r>
              <a:rPr lang="en-US" altLang="ko-KR" dirty="0"/>
              <a:t>. </a:t>
            </a:r>
            <a:r>
              <a:rPr lang="ko-KR" altLang="en-US" dirty="0"/>
              <a:t>이 주식이 언젠가는 </a:t>
            </a:r>
            <a:r>
              <a:rPr lang="ko-KR" altLang="en-US" dirty="0" err="1"/>
              <a:t>오를것이다</a:t>
            </a:r>
            <a:r>
              <a:rPr lang="ko-KR" altLang="en-US" dirty="0"/>
              <a:t> 라는 </a:t>
            </a:r>
            <a:r>
              <a:rPr lang="ko-KR" altLang="en-US" dirty="0" err="1"/>
              <a:t>것때문에</a:t>
            </a:r>
            <a:r>
              <a:rPr lang="ko-KR" altLang="en-US" dirty="0"/>
              <a:t> </a:t>
            </a:r>
            <a:r>
              <a:rPr lang="ko-KR" altLang="en-US" dirty="0" err="1"/>
              <a:t>존버를</a:t>
            </a:r>
            <a:r>
              <a:rPr lang="ko-KR" altLang="en-US" dirty="0"/>
              <a:t> </a:t>
            </a:r>
            <a:r>
              <a:rPr lang="ko-KR" altLang="en-US" dirty="0" err="1"/>
              <a:t>하게되는겁니다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철저한 나만의 </a:t>
            </a:r>
            <a:r>
              <a:rPr lang="ko-KR" altLang="en-US" dirty="0" err="1"/>
              <a:t>손절에</a:t>
            </a:r>
            <a:r>
              <a:rPr lang="ko-KR" altLang="en-US" dirty="0"/>
              <a:t> 대한 조건이 없는 거죠</a:t>
            </a:r>
            <a:r>
              <a:rPr lang="en-US" altLang="ko-KR" dirty="0"/>
              <a:t>.</a:t>
            </a:r>
            <a:r>
              <a:rPr lang="ko-KR" altLang="en-US" dirty="0"/>
              <a:t> 그렇게 되면 애착주식 반려주식이 되고</a:t>
            </a:r>
            <a:r>
              <a:rPr lang="en-US" altLang="ko-KR" dirty="0"/>
              <a:t>,</a:t>
            </a:r>
          </a:p>
          <a:p>
            <a:r>
              <a:rPr lang="ko-KR" altLang="en-US" dirty="0" err="1"/>
              <a:t>익절에</a:t>
            </a:r>
            <a:r>
              <a:rPr lang="ko-KR" altLang="en-US" dirty="0"/>
              <a:t> 대한 부분에서도 정해진 기준이 없으면 기계적으로 하기가 어렵습니다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나중에 이걸 통해서 계좌관리나 탐욕조절이 </a:t>
            </a:r>
            <a:r>
              <a:rPr lang="ko-KR" altLang="en-US" dirty="0" err="1"/>
              <a:t>가능할거에요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3DDC10-C445-FE6D-C860-DE5B4A4FB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D6320-0D7D-4E17-A3A0-F836EA8A9FD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1890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B435-FE00-9C76-1A1E-421CD4E48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1ADDE4-7732-3910-9213-11FA5C790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D93EDDF-883C-7310-98DC-D485ADC594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E19D33-D5D2-7A95-B13C-1367C6D4E0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D6320-0D7D-4E17-A3A0-F836EA8A9FD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2331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71D1F-12D2-A15B-3665-57BD7E9E8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725AF6-06A3-2426-0D55-645B3C15C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4FAD22-C025-2A12-418D-FFF811650B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ko-KR" dirty="0"/>
              <a:t>실제로 적어내거나 말하게 하면 </a:t>
            </a:r>
            <a:r>
              <a:rPr lang="ko-KR" altLang="ko-KR" b="1" dirty="0"/>
              <a:t>파는 사람의 가격이 사는 사람 가격보다 2배 이상 높게</a:t>
            </a:r>
            <a:r>
              <a:rPr lang="ko-KR" altLang="ko-KR" dirty="0"/>
              <a:t> 나옵니다.</a:t>
            </a:r>
          </a:p>
          <a:p>
            <a:r>
              <a:rPr lang="ko-KR" altLang="ko-KR" b="1" dirty="0"/>
              <a:t>해설:</a:t>
            </a:r>
            <a:r>
              <a:rPr lang="ko-KR" altLang="ko-KR" dirty="0"/>
              <a:t> "같은 물건인데 내 손에 들어오는 순간 가치가 급등합니다. 이걸 경제학에선 </a:t>
            </a:r>
            <a:r>
              <a:rPr lang="ko-KR" altLang="ko-KR" b="1" dirty="0"/>
              <a:t>소유 효과</a:t>
            </a:r>
            <a:r>
              <a:rPr lang="ko-KR" altLang="ko-KR" dirty="0"/>
              <a:t>라고 해요. 우리가 어떤 종목을 매수하는 순간, 객관적 눈은 멀어버리고 '이 주식은 진짜 </a:t>
            </a:r>
            <a:r>
              <a:rPr lang="ko-KR" altLang="ko-KR" dirty="0" err="1"/>
              <a:t>대박이야'라며</a:t>
            </a:r>
            <a:r>
              <a:rPr lang="ko-KR" altLang="ko-KR" dirty="0"/>
              <a:t> 사랑에 빠지는 이유입니다. 옆에서 아무리 위험하다고 해도 귀에 안 들리는 현상, 다들 </a:t>
            </a:r>
            <a:r>
              <a:rPr lang="ko-KR" altLang="ko-KR" dirty="0" err="1"/>
              <a:t>겪어보셨죠</a:t>
            </a:r>
            <a:r>
              <a:rPr lang="ko-KR" altLang="ko-KR" dirty="0"/>
              <a:t>?"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C1B29A-FA05-E2DB-F844-C4F14600AC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D6320-0D7D-4E17-A3A0-F836EA8A9FD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9529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"</a:t>
            </a: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어때요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, </a:t>
            </a: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보시니까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?"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"</a:t>
            </a: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뭔가 느끼시는 거 있어요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?"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i="0" dirty="0">
                <a:solidFill>
                  <a:srgbClr val="D4FF00"/>
                </a:solidFill>
                <a:latin typeface="Apple SD Gothic Neo"/>
              </a:rPr>
              <a:t>이거 제가 만든 게 </a:t>
            </a:r>
            <a:r>
              <a:rPr lang="ko-KR" altLang="en-US" sz="1200" b="1" i="0" dirty="0" err="1">
                <a:solidFill>
                  <a:srgbClr val="D4FF00"/>
                </a:solidFill>
                <a:latin typeface="Apple SD Gothic Neo"/>
              </a:rPr>
              <a:t>아니에요</a:t>
            </a:r>
            <a:r>
              <a:rPr lang="en-US" altLang="ko-KR" sz="1200" b="1" i="0" dirty="0">
                <a:solidFill>
                  <a:srgbClr val="D4FF00"/>
                </a:solidFill>
                <a:latin typeface="Apple SD Gothic Neo"/>
              </a:rPr>
              <a:t>.  </a:t>
            </a:r>
            <a:r>
              <a:rPr lang="ko-KR" altLang="en-US" sz="1200" b="1" i="0" dirty="0">
                <a:solidFill>
                  <a:srgbClr val="D4FF00"/>
                </a:solidFill>
                <a:latin typeface="Apple SD Gothic Neo"/>
              </a:rPr>
              <a:t>오늘 여러분이 채운 거예요</a:t>
            </a:r>
            <a:r>
              <a:rPr lang="en-US" altLang="ko-KR" sz="1200" b="1" i="0" dirty="0">
                <a:solidFill>
                  <a:srgbClr val="D4FF00"/>
                </a:solidFill>
                <a:latin typeface="Apple SD Gothic Neo"/>
              </a:rPr>
              <a:t>.</a:t>
            </a:r>
          </a:p>
          <a:p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i="0" dirty="0">
                <a:solidFill>
                  <a:srgbClr val="FFFFFF"/>
                </a:solidFill>
                <a:latin typeface="Apple SD Gothic Neo"/>
              </a:rPr>
              <a:t>"</a:t>
            </a:r>
            <a:r>
              <a:rPr lang="ko-KR" altLang="en-US" sz="1200" b="1" i="0" dirty="0">
                <a:solidFill>
                  <a:srgbClr val="FFFFFF"/>
                </a:solidFill>
                <a:latin typeface="Apple SD Gothic Neo"/>
              </a:rPr>
              <a:t>감으로 산 것</a:t>
            </a:r>
            <a:r>
              <a:rPr lang="en-US" altLang="ko-KR" sz="1200" b="1" i="0" dirty="0">
                <a:solidFill>
                  <a:srgbClr val="FFFFFF"/>
                </a:solidFill>
                <a:latin typeface="Apple SD Gothic Neo"/>
              </a:rPr>
              <a:t>"</a:t>
            </a:r>
            <a:r>
              <a:rPr lang="ko-KR" altLang="en-US" sz="1200" b="1" i="0" dirty="0">
                <a:solidFill>
                  <a:srgbClr val="FFFFFF"/>
                </a:solidFill>
                <a:latin typeface="Apple SD Gothic Neo"/>
              </a:rPr>
              <a:t>에서
공통점이 보이나요</a:t>
            </a:r>
            <a:r>
              <a:rPr lang="en-US" altLang="ko-KR" sz="1200" b="1" i="0" dirty="0">
                <a:solidFill>
                  <a:srgbClr val="FFFFFF"/>
                </a:solidFill>
                <a:latin typeface="Apple SD Gothic Neo"/>
              </a:rPr>
              <a:t>?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이유가 외부에 있다  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—  </a:t>
            </a: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뉴스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, </a:t>
            </a: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지인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, </a:t>
            </a: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커뮤니티</a:t>
            </a:r>
            <a:endParaRPr lang="en-US" altLang="ko-KR" sz="1200" b="0" i="0" dirty="0">
              <a:solidFill>
                <a:srgbClr val="999999"/>
              </a:solidFill>
              <a:latin typeface="Apple SD Gothic Neo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내가 검증한 게 없다  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—  </a:t>
            </a: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그냥 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'</a:t>
            </a: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오를 것 같았다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'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같은 상황에서 다른 날 다른 판단을 했다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200" b="0" i="0" dirty="0">
              <a:solidFill>
                <a:srgbClr val="999999"/>
              </a:solidFill>
              <a:latin typeface="Apple SD Gothic Neo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i="0" dirty="0">
                <a:solidFill>
                  <a:srgbClr val="D4FF00"/>
                </a:solidFill>
                <a:latin typeface="Apple SD Gothic Neo"/>
              </a:rPr>
              <a:t>그렇다면</a:t>
            </a:r>
            <a:r>
              <a:rPr lang="en-US" altLang="ko-KR" sz="1200" b="1" i="0" dirty="0">
                <a:solidFill>
                  <a:srgbClr val="D4FF00"/>
                </a:solidFill>
                <a:latin typeface="Apple SD Gothic Neo"/>
              </a:rPr>
              <a:t>, </a:t>
            </a:r>
            <a:r>
              <a:rPr lang="ko-KR" altLang="en-US" sz="1200" b="1" i="0" dirty="0">
                <a:solidFill>
                  <a:srgbClr val="D4FF00"/>
                </a:solidFill>
                <a:latin typeface="Apple SD Gothic Neo"/>
              </a:rPr>
              <a:t>조건으로 산 것과의 차이는 </a:t>
            </a:r>
            <a:r>
              <a:rPr lang="ko-KR" altLang="en-US" sz="1200" b="1" i="0" dirty="0" err="1">
                <a:solidFill>
                  <a:srgbClr val="D4FF00"/>
                </a:solidFill>
                <a:latin typeface="Apple SD Gothic Neo"/>
              </a:rPr>
              <a:t>뭘까요</a:t>
            </a:r>
            <a:r>
              <a:rPr lang="en-US" altLang="ko-KR" sz="1200" b="1" i="0" dirty="0">
                <a:solidFill>
                  <a:srgbClr val="D4FF00"/>
                </a:solidFill>
                <a:latin typeface="Apple SD Gothic Neo"/>
              </a:rPr>
              <a:t>?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D6320-0D7D-4E17-A3A0-F836EA8A9FD0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70418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dirty="0">
                <a:solidFill>
                  <a:srgbClr val="555555"/>
                </a:solidFill>
                <a:latin typeface="Apple SD Gothic Neo"/>
              </a:rPr>
              <a:t>이 단어는 </a:t>
            </a:r>
            <a:r>
              <a:rPr lang="ko-KR" altLang="en-US" sz="1200" b="0" i="0" dirty="0" err="1">
                <a:solidFill>
                  <a:srgbClr val="555555"/>
                </a:solidFill>
                <a:latin typeface="Apple SD Gothic Neo"/>
              </a:rPr>
              <a:t>피스메이커가</a:t>
            </a:r>
            <a:r>
              <a:rPr lang="ko-KR" altLang="en-US" sz="1200" b="0" i="0" dirty="0">
                <a:solidFill>
                  <a:srgbClr val="555555"/>
                </a:solidFill>
                <a:latin typeface="Apple SD Gothic Neo"/>
              </a:rPr>
              <a:t> 먼저 말하지 않습니다</a:t>
            </a:r>
            <a:r>
              <a:rPr lang="en-US" altLang="ko-KR" sz="1200" b="0" i="0" dirty="0">
                <a:solidFill>
                  <a:srgbClr val="555555"/>
                </a:solidFill>
                <a:latin typeface="Apple SD Gothic Neo"/>
              </a:rPr>
              <a:t>.
</a:t>
            </a:r>
            <a:r>
              <a:rPr lang="ko-KR" altLang="en-US" sz="1200" b="0" i="0" dirty="0" err="1">
                <a:solidFill>
                  <a:srgbClr val="555555"/>
                </a:solidFill>
                <a:latin typeface="Apple SD Gothic Neo"/>
              </a:rPr>
              <a:t>피스메이트</a:t>
            </a:r>
            <a:r>
              <a:rPr lang="ko-KR" altLang="en-US" sz="1200" b="0" i="0" dirty="0">
                <a:solidFill>
                  <a:srgbClr val="555555"/>
                </a:solidFill>
                <a:latin typeface="Apple SD Gothic Neo"/>
              </a:rPr>
              <a:t> 입에서 먼저 나오는 순간이 오늘 </a:t>
            </a:r>
            <a:r>
              <a:rPr lang="en-US" altLang="ko-KR" sz="1200" b="0" i="0" dirty="0">
                <a:solidFill>
                  <a:srgbClr val="555555"/>
                </a:solidFill>
                <a:latin typeface="Apple SD Gothic Neo"/>
              </a:rPr>
              <a:t>1</a:t>
            </a:r>
            <a:r>
              <a:rPr lang="ko-KR" altLang="en-US" sz="1200" b="0" i="0" dirty="0" err="1">
                <a:solidFill>
                  <a:srgbClr val="555555"/>
                </a:solidFill>
                <a:latin typeface="Apple SD Gothic Neo"/>
              </a:rPr>
              <a:t>회차의</a:t>
            </a:r>
            <a:r>
              <a:rPr lang="ko-KR" altLang="en-US" sz="1200" b="0" i="0" dirty="0">
                <a:solidFill>
                  <a:srgbClr val="555555"/>
                </a:solidFill>
                <a:latin typeface="Apple SD Gothic Neo"/>
              </a:rPr>
              <a:t> 정점입니다</a:t>
            </a:r>
            <a:r>
              <a:rPr lang="en-US" altLang="ko-KR" sz="1200" b="0" i="0" dirty="0">
                <a:solidFill>
                  <a:srgbClr val="555555"/>
                </a:solidFill>
                <a:latin typeface="Apple SD Gothic Neo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D6320-0D7D-4E17-A3A0-F836EA8A9FD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3541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AC2DD-07C0-1E38-8519-834838702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F3DB6F-A78D-6690-D72D-42EC7B3B45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0A84FF-0361-C6F3-BF9A-3272F368E5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1" dirty="0">
                <a:solidFill>
                  <a:srgbClr val="FFFFFF"/>
                </a:solidFill>
                <a:latin typeface="Apple SD Gothic Neo"/>
              </a:rPr>
              <a:t>저도 한때 감으로 샀다가 크게 잃은 적 있어요</a:t>
            </a:r>
            <a:r>
              <a:rPr lang="en-US" altLang="ko-KR" sz="1200" b="1" dirty="0">
                <a:solidFill>
                  <a:srgbClr val="FFFFFF"/>
                </a:solidFill>
                <a:latin typeface="Apple SD Gothic Neo"/>
              </a:rPr>
              <a:t>.</a:t>
            </a:r>
          </a:p>
          <a:p>
            <a:r>
              <a:rPr lang="ko-KR" altLang="en-US" sz="1050" b="0" dirty="0">
                <a:solidFill>
                  <a:srgbClr val="999999"/>
                </a:solidFill>
                <a:latin typeface="Apple SD Gothic Neo"/>
              </a:rPr>
              <a:t>그 뒤로 조건을 찾기 시작했고</a:t>
            </a:r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,</a:t>
            </a:r>
          </a:p>
          <a:p>
            <a:r>
              <a:rPr lang="ko-KR" altLang="en-US" sz="1050" b="0" dirty="0">
                <a:solidFill>
                  <a:srgbClr val="999999"/>
                </a:solidFill>
                <a:latin typeface="Apple SD Gothic Neo"/>
              </a:rPr>
              <a:t>그 과정이 너무 힘들어서 도구를 직접 만들었습니다</a:t>
            </a:r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.</a:t>
            </a:r>
          </a:p>
          <a:p>
            <a:endParaRPr lang="en-US" altLang="ko-KR" sz="1050" b="0" dirty="0">
              <a:solidFill>
                <a:srgbClr val="999999"/>
              </a:solidFill>
              <a:latin typeface="Apple SD Gothic Neo"/>
            </a:endParaRPr>
          </a:p>
          <a:p>
            <a:r>
              <a:rPr lang="ko-KR" altLang="en-US" sz="1050" b="0" dirty="0">
                <a:solidFill>
                  <a:srgbClr val="999999"/>
                </a:solidFill>
                <a:latin typeface="Apple SD Gothic Neo"/>
              </a:rPr>
              <a:t>오늘 제 도구를 팔려는 게 아닙니다</a:t>
            </a:r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.</a:t>
            </a:r>
          </a:p>
          <a:p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5</a:t>
            </a:r>
            <a:r>
              <a:rPr lang="ko-KR" altLang="en-US" sz="1050" b="0" dirty="0">
                <a:solidFill>
                  <a:srgbClr val="999999"/>
                </a:solidFill>
                <a:latin typeface="Apple SD Gothic Neo"/>
              </a:rPr>
              <a:t>주차에 보여드릴 건데 </a:t>
            </a:r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— </a:t>
            </a:r>
            <a:r>
              <a:rPr lang="ko-KR" altLang="en-US" sz="1050" b="0" dirty="0">
                <a:solidFill>
                  <a:srgbClr val="999999"/>
                </a:solidFill>
                <a:latin typeface="Apple SD Gothic Neo"/>
              </a:rPr>
              <a:t>그때 </a:t>
            </a:r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'</a:t>
            </a:r>
            <a:r>
              <a:rPr lang="ko-KR" altLang="en-US" sz="1050" b="0" dirty="0">
                <a:solidFill>
                  <a:srgbClr val="999999"/>
                </a:solidFill>
                <a:latin typeface="Apple SD Gothic Neo"/>
              </a:rPr>
              <a:t>아</a:t>
            </a:r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, </a:t>
            </a:r>
            <a:r>
              <a:rPr lang="ko-KR" altLang="en-US" sz="1050" b="0" dirty="0">
                <a:solidFill>
                  <a:srgbClr val="999999"/>
                </a:solidFill>
                <a:latin typeface="Apple SD Gothic Neo"/>
              </a:rPr>
              <a:t>이게 왜 필요한지</a:t>
            </a:r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' </a:t>
            </a:r>
            <a:r>
              <a:rPr lang="ko-KR" altLang="en-US" sz="1050" b="0" dirty="0">
                <a:solidFill>
                  <a:srgbClr val="999999"/>
                </a:solidFill>
                <a:latin typeface="Apple SD Gothic Neo"/>
              </a:rPr>
              <a:t>느끼실 거예요</a:t>
            </a:r>
            <a:r>
              <a:rPr lang="en-US" altLang="ko-KR" sz="1050" b="0" dirty="0">
                <a:solidFill>
                  <a:srgbClr val="999999"/>
                </a:solidFill>
                <a:latin typeface="Apple SD Gothic Neo"/>
              </a:rPr>
              <a:t>.</a:t>
            </a:r>
          </a:p>
          <a:p>
            <a:endParaRPr lang="en-US" altLang="ko-KR" sz="1050" b="0" dirty="0">
              <a:solidFill>
                <a:srgbClr val="999999"/>
              </a:solidFill>
              <a:latin typeface="Apple SD Gothic Neo"/>
            </a:endParaRPr>
          </a:p>
          <a:p>
            <a:r>
              <a:rPr lang="ko-KR" altLang="en-US" sz="1200" b="1" dirty="0">
                <a:solidFill>
                  <a:srgbClr val="FFFFFF"/>
                </a:solidFill>
                <a:latin typeface="Apple SD Gothic Neo"/>
              </a:rPr>
              <a:t>오늘은 우리가 왜 돈을 못 </a:t>
            </a:r>
            <a:r>
              <a:rPr lang="ko-KR" altLang="en-US" sz="1200" b="1" dirty="0" err="1">
                <a:solidFill>
                  <a:srgbClr val="FFFFFF"/>
                </a:solidFill>
                <a:latin typeface="Apple SD Gothic Neo"/>
              </a:rPr>
              <a:t>벌었는지부터</a:t>
            </a:r>
            <a:r>
              <a:rPr lang="ko-KR" altLang="en-US" sz="1200" b="1" dirty="0">
                <a:solidFill>
                  <a:srgbClr val="FFFFFF"/>
                </a:solidFill>
                <a:latin typeface="Apple SD Gothic Neo"/>
              </a:rPr>
              <a:t> 솔직하게 얘기해봅시다</a:t>
            </a:r>
            <a:r>
              <a:rPr lang="en-US" altLang="ko-KR" sz="1200" b="1" dirty="0">
                <a:solidFill>
                  <a:srgbClr val="FFFFFF"/>
                </a:solidFill>
                <a:latin typeface="Apple SD Gothic Neo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6D22EF-79CE-84D3-64EC-E795AFBE5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D6320-0D7D-4E17-A3A0-F836EA8A9FD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1767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F3AB8-19CE-FFD2-832D-89267EE93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F9CFB0-5298-7F3E-0317-789DC3D04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3F18A5-7CCF-2DCC-F9FF-EDB07E4E8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증권사 매매 수수료와 유관기관 비용은 다른 항목이고, 국내주식은 매도할 때 증권거래세도 따로 나갑니다.</a:t>
            </a:r>
          </a:p>
          <a:p>
            <a:pPr fontAlgn="base"/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​</a:t>
            </a:r>
          </a:p>
          <a:p>
            <a:pPr fontAlgn="base"/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2026년 기준 국내 상장주식 매도 시 증권거래세는 0.20% 수준으로 보는 경우가 많습니다. </a:t>
            </a:r>
          </a:p>
          <a:p>
            <a:pPr fontAlgn="base"/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예를 들어 1,000만 원어치를 매도하면 거래세만 약 2만 원입니다. 여기에 유관기관 비용도 함께 붙습니다. </a:t>
            </a:r>
          </a:p>
          <a:p>
            <a:pPr fontAlgn="base"/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그래서 </a:t>
            </a:r>
            <a:r>
              <a:rPr lang="ko-KR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증권사수수료비교를</a:t>
            </a:r>
            <a:r>
              <a:rPr lang="ko-K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할 때는 수수료율 하나만 보지 말고, 실제 거래할 때 빠지는 비용을 같이 봐야 합니다.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0568DD-E010-E6C7-6627-8BA898893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DD6320-0D7D-4E17-A3A0-F836EA8A9FD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49882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틀려도 됩니다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. </a:t>
            </a: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찾는 과정이 중요합니다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i="0" dirty="0">
                <a:solidFill>
                  <a:srgbClr val="D4FF00"/>
                </a:solidFill>
                <a:latin typeface="Apple SD Gothic Neo"/>
              </a:rPr>
              <a:t>집에 가시면서 한 번만 생각해보세요</a:t>
            </a:r>
            <a:r>
              <a:rPr lang="en-US" altLang="ko-KR" sz="1200" b="1" i="0" dirty="0">
                <a:solidFill>
                  <a:srgbClr val="D4FF00"/>
                </a:solidFill>
                <a:latin typeface="Apple SD Gothic Neo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dirty="0">
                <a:solidFill>
                  <a:srgbClr val="FFFFFF"/>
                </a:solidFill>
                <a:latin typeface="Apple SD Gothic Neo"/>
              </a:rPr>
              <a:t>나는 몇 번이나 같은 이유로 같은 실수를 반복했을까</a:t>
            </a:r>
            <a:r>
              <a:rPr lang="en-US" altLang="ko-KR" sz="1200" b="0" i="0" dirty="0">
                <a:solidFill>
                  <a:srgbClr val="FFFFFF"/>
                </a:solidFill>
                <a:latin typeface="Apple SD Gothic Neo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지금 대답 안 하셔도 됩니다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. </a:t>
            </a: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그냥 가지고 가세요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1" i="0" dirty="0">
              <a:solidFill>
                <a:srgbClr val="D4FF00"/>
              </a:solidFill>
              <a:latin typeface="Apple SD Gothic Neo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 i="0" dirty="0">
              <a:solidFill>
                <a:srgbClr val="999999"/>
              </a:solidFill>
              <a:latin typeface="Apple SD Gothic Neo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D6320-0D7D-4E17-A3A0-F836EA8A9FD0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2325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1" i="0" dirty="0">
                <a:solidFill>
                  <a:srgbClr val="FFFFFF"/>
                </a:solidFill>
                <a:latin typeface="Apple SD Gothic Neo"/>
              </a:rPr>
              <a:t>재밌으면서도 </a:t>
            </a:r>
            <a:r>
              <a:rPr lang="ko-KR" altLang="en-US" sz="1200" b="1" i="0" dirty="0" err="1">
                <a:solidFill>
                  <a:srgbClr val="FFFFFF"/>
                </a:solidFill>
                <a:latin typeface="Apple SD Gothic Neo"/>
              </a:rPr>
              <a:t>어찌보면</a:t>
            </a:r>
            <a:r>
              <a:rPr lang="ko-KR" altLang="en-US" sz="1200" b="1" i="0" dirty="0">
                <a:solidFill>
                  <a:srgbClr val="FFFFFF"/>
                </a:solidFill>
                <a:latin typeface="Apple SD Gothic Neo"/>
              </a:rPr>
              <a:t> 불편한 시간이었을 수 도 </a:t>
            </a:r>
            <a:r>
              <a:rPr lang="ko-KR" altLang="en-US" sz="1200" b="1" i="0" dirty="0" err="1">
                <a:solidFill>
                  <a:srgbClr val="FFFFFF"/>
                </a:solidFill>
                <a:latin typeface="Apple SD Gothic Neo"/>
              </a:rPr>
              <a:t>있었을거에요</a:t>
            </a:r>
            <a:endParaRPr lang="en-US" altLang="ko-KR" sz="1200" b="1" i="0" dirty="0">
              <a:solidFill>
                <a:srgbClr val="FFFFFF"/>
              </a:solidFill>
              <a:latin typeface="Apple SD Gothic Neo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b="0" i="0" dirty="0">
                <a:solidFill>
                  <a:srgbClr val="D4FF00"/>
                </a:solidFill>
                <a:latin typeface="Apple SD Gothic Neo"/>
              </a:rPr>
              <a:t>내가 감으로 샀다는 걸 인정하는 게 쉽지 않으니까요</a:t>
            </a:r>
            <a:r>
              <a:rPr lang="en-US" altLang="ko-KR" sz="1200" b="0" i="0" dirty="0">
                <a:solidFill>
                  <a:srgbClr val="D4FF00"/>
                </a:solidFill>
                <a:latin typeface="Apple SD Gothic Neo"/>
              </a:rPr>
              <a:t>.</a:t>
            </a:r>
            <a:endParaRPr lang="en-US" altLang="ko-KR" sz="1200" b="1" i="0" dirty="0">
              <a:solidFill>
                <a:srgbClr val="FFFFFF"/>
              </a:solidFill>
              <a:latin typeface="Apple SD Gothic Neo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1200" b="0" i="0" dirty="0">
              <a:solidFill>
                <a:srgbClr val="999999"/>
              </a:solidFill>
              <a:latin typeface="Apple SD Gothic Neo"/>
            </a:endParaRPr>
          </a:p>
          <a:p>
            <a:pPr algn="l"/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다음 주에는 그 조건을 직접 찾아보는 시간인데 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—
</a:t>
            </a: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솔직히 말씀드리면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, </a:t>
            </a: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다음 주</a:t>
            </a:r>
            <a:r>
              <a:rPr lang="ko-KR" altLang="en-US" sz="1200" dirty="0">
                <a:solidFill>
                  <a:srgbClr val="999999"/>
                </a:solidFill>
                <a:latin typeface="Apple SD Gothic Neo"/>
              </a:rPr>
              <a:t> 부터는</a:t>
            </a: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 쉽지 않을 거예요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.
</a:t>
            </a: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그걸 경험해야 </a:t>
            </a:r>
            <a:r>
              <a:rPr lang="ko-KR" altLang="en-US" sz="1200" b="0" i="0" dirty="0" err="1">
                <a:solidFill>
                  <a:srgbClr val="999999"/>
                </a:solidFill>
                <a:latin typeface="Apple SD Gothic Neo"/>
              </a:rPr>
              <a:t>그다음이</a:t>
            </a:r>
            <a:r>
              <a:rPr lang="ko-KR" altLang="en-US" sz="1200" b="0" i="0" dirty="0">
                <a:solidFill>
                  <a:srgbClr val="999999"/>
                </a:solidFill>
                <a:latin typeface="Apple SD Gothic Neo"/>
              </a:rPr>
              <a:t> 의미 있어집니다</a:t>
            </a:r>
            <a:r>
              <a:rPr lang="en-US" altLang="ko-KR" sz="1200" b="0" i="0" dirty="0">
                <a:solidFill>
                  <a:srgbClr val="999999"/>
                </a:solidFill>
                <a:latin typeface="Apple SD Gothic Neo"/>
              </a:rPr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DD6320-0D7D-4E17-A3A0-F836EA8A9FD0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254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45720" cy="59436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FF00"/>
                </a:solidFill>
                <a:latin typeface="Apple SD Gothic Neo"/>
              </a:rPr>
              <a:t>WEEK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22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 dirty="0" err="1">
                <a:solidFill>
                  <a:srgbClr val="FFFFFF"/>
                </a:solidFill>
                <a:latin typeface="Apple SD Gothic Neo"/>
              </a:rPr>
              <a:t>돈복사</a:t>
            </a:r>
            <a:r>
              <a:rPr lang="en-US" sz="7200" b="1" i="0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lang="en-US" sz="2000" b="1" i="0" dirty="0">
                <a:solidFill>
                  <a:srgbClr val="FFFFFF"/>
                </a:solidFill>
                <a:latin typeface="Apple SD Gothic Neo"/>
              </a:rPr>
              <a:t>MONEY COPY</a:t>
            </a:r>
            <a:endParaRPr sz="7200" b="1" i="0" dirty="0">
              <a:solidFill>
                <a:srgbClr val="FFFFFF"/>
              </a:solidFill>
              <a:latin typeface="Apple SD Gothic Ne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2329934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D4FF00"/>
                </a:solidFill>
                <a:latin typeface="Apple SD Gothic Neo"/>
              </a:rPr>
              <a:t>강의가 아닙니다</a:t>
            </a:r>
            <a:r>
              <a:rPr lang="en-US" altLang="ko-KR" sz="1600" dirty="0">
                <a:solidFill>
                  <a:srgbClr val="D4FF00"/>
                </a:solidFill>
                <a:latin typeface="Apple SD Gothic Neo"/>
              </a:rPr>
              <a:t>. </a:t>
            </a:r>
            <a:r>
              <a:rPr lang="ko-KR" altLang="en-US" sz="1600" dirty="0">
                <a:solidFill>
                  <a:srgbClr val="D4FF00"/>
                </a:solidFill>
                <a:latin typeface="Apple SD Gothic Neo"/>
              </a:rPr>
              <a:t>오늘 여러분이 이 모임을 만들어가는 거예요</a:t>
            </a:r>
            <a:r>
              <a:rPr lang="en-US" altLang="ko-KR" sz="1600" dirty="0">
                <a:solidFill>
                  <a:srgbClr val="D4FF00"/>
                </a:solidFill>
                <a:latin typeface="Apple SD Gothic Neo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931920"/>
            <a:ext cx="1051560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4572000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 err="1">
                <a:solidFill>
                  <a:schemeClr val="bg1"/>
                </a:solidFill>
                <a:latin typeface="Apple SD Gothic Neo"/>
              </a:rPr>
              <a:t>주식</a:t>
            </a:r>
            <a:r>
              <a:rPr sz="2000" b="1" i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Apple SD Gothic Neo"/>
              </a:rPr>
              <a:t>수익은</a:t>
            </a:r>
            <a:r>
              <a:rPr sz="2000" b="1" i="0" dirty="0">
                <a:solidFill>
                  <a:schemeClr val="bg1"/>
                </a:solidFill>
                <a:latin typeface="Apple SD Gothic Neo"/>
              </a:rPr>
              <a:t>, 감(感)이 </a:t>
            </a:r>
            <a:r>
              <a:rPr sz="2000" b="1" i="0" dirty="0" err="1">
                <a:solidFill>
                  <a:schemeClr val="bg1"/>
                </a:solidFill>
                <a:latin typeface="Apple SD Gothic Neo"/>
              </a:rPr>
              <a:t>아닌</a:t>
            </a:r>
            <a:r>
              <a:rPr sz="2000" b="1" i="0" dirty="0">
                <a:solidFill>
                  <a:schemeClr val="bg1"/>
                </a:solidFill>
                <a:latin typeface="Apple SD Gothic Neo"/>
              </a:rPr>
              <a:t>
</a:t>
            </a:r>
            <a:r>
              <a:rPr lang="en-US" sz="2000" b="1" i="0" dirty="0">
                <a:solidFill>
                  <a:schemeClr val="bg1"/>
                </a:solidFill>
                <a:latin typeface="Apple SD Gothic Neo"/>
              </a:rPr>
              <a:t>'</a:t>
            </a:r>
            <a:r>
              <a:rPr sz="2000" b="1" i="0" dirty="0" err="1">
                <a:solidFill>
                  <a:schemeClr val="bg1"/>
                </a:solidFill>
                <a:latin typeface="Apple SD Gothic Neo"/>
              </a:rPr>
              <a:t>검증된</a:t>
            </a:r>
            <a:r>
              <a:rPr sz="2000" b="1" i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Apple SD Gothic Neo"/>
              </a:rPr>
              <a:t>조건</a:t>
            </a:r>
            <a:r>
              <a:rPr lang="en-US" sz="2000" b="1" i="0" dirty="0" err="1">
                <a:solidFill>
                  <a:schemeClr val="bg1"/>
                </a:solidFill>
                <a:latin typeface="Apple SD Gothic Neo"/>
              </a:rPr>
              <a:t>'</a:t>
            </a:r>
            <a:r>
              <a:rPr sz="2000" b="1" i="0" dirty="0" err="1">
                <a:solidFill>
                  <a:schemeClr val="bg1"/>
                </a:solidFill>
                <a:latin typeface="Apple SD Gothic Neo"/>
              </a:rPr>
              <a:t>을</a:t>
            </a:r>
            <a:r>
              <a:rPr sz="2000" b="1" i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Apple SD Gothic Neo"/>
              </a:rPr>
              <a:t>반복</a:t>
            </a:r>
            <a:r>
              <a:rPr sz="2000" b="1" i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2000" b="1" i="0" dirty="0" err="1">
                <a:solidFill>
                  <a:schemeClr val="bg1"/>
                </a:solidFill>
                <a:latin typeface="Apple SD Gothic Neo"/>
              </a:rPr>
              <a:t>실행할</a:t>
            </a:r>
            <a:r>
              <a:rPr sz="2000" b="1" i="0" dirty="0">
                <a:solidFill>
                  <a:schemeClr val="bg1"/>
                </a:solidFill>
                <a:latin typeface="Apple SD Gothic Neo"/>
              </a:rPr>
              <a:t> 수 </a:t>
            </a:r>
            <a:r>
              <a:rPr sz="2000" b="1" i="0" dirty="0" err="1">
                <a:solidFill>
                  <a:schemeClr val="bg1"/>
                </a:solidFill>
                <a:latin typeface="Apple SD Gothic Neo"/>
              </a:rPr>
              <a:t>있을</a:t>
            </a:r>
            <a:r>
              <a:rPr sz="2000" b="1" i="0" dirty="0">
                <a:solidFill>
                  <a:schemeClr val="bg1"/>
                </a:solidFill>
                <a:latin typeface="Apple SD Gothic Neo"/>
              </a:rPr>
              <a:t> 때 </a:t>
            </a:r>
            <a:r>
              <a:rPr sz="2000" b="1" i="0" dirty="0" err="1">
                <a:solidFill>
                  <a:schemeClr val="bg1"/>
                </a:solidFill>
                <a:latin typeface="Apple SD Gothic Neo"/>
              </a:rPr>
              <a:t>일어난다</a:t>
            </a:r>
            <a:r>
              <a:rPr sz="2000" b="1" i="0" dirty="0">
                <a:solidFill>
                  <a:schemeClr val="bg1"/>
                </a:solidFill>
                <a:latin typeface="Apple SD Gothic Neo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50292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0" b="1" i="0">
                <a:solidFill>
                  <a:srgbClr val="1A1A1A"/>
                </a:solidFill>
                <a:latin typeface="Apple SD Gothic Ne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45720" cy="5330952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rgbClr val="FFFFFF"/>
                </a:solidFill>
                <a:latin typeface="Apple SD Gothic Neo"/>
              </a:rPr>
              <a:t>5</a:t>
            </a:r>
            <a:r>
              <a:rPr sz="3600" b="1" i="0" dirty="0">
                <a:solidFill>
                  <a:srgbClr val="FFFFFF"/>
                </a:solidFill>
                <a:latin typeface="Apple SD Gothic Neo"/>
              </a:rPr>
              <a:t>주 </a:t>
            </a:r>
            <a:r>
              <a:rPr sz="3600" b="1" i="0" dirty="0" err="1">
                <a:solidFill>
                  <a:srgbClr val="FFFFFF"/>
                </a:solidFill>
                <a:latin typeface="Apple SD Gothic Neo"/>
              </a:rPr>
              <a:t>커리큘럼</a:t>
            </a:r>
            <a:endParaRPr sz="3600" b="1" i="0" dirty="0">
              <a:solidFill>
                <a:srgbClr val="FFFFFF"/>
              </a:solidFill>
              <a:latin typeface="Apple SD Gothic Ne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515600" cy="2743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4FF00"/>
                </a:solidFill>
                <a:latin typeface="Apple SD Gothic Ne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499616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FF00"/>
                </a:solidFill>
                <a:latin typeface="Apple SD Gothic Neo"/>
              </a:rPr>
              <a:t>[ 자각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499616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pple SD Gothic Neo"/>
              </a:rPr>
              <a:t>우리가 왜 돈을 못 버나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1481328"/>
            <a:ext cx="1645920" cy="420624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0" y="1481328"/>
            <a:ext cx="1645920" cy="359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1" i="0" dirty="0">
                <a:solidFill>
                  <a:srgbClr val="0D0D0D"/>
                </a:solidFill>
                <a:latin typeface="Apple SD Gothic Neo"/>
              </a:rPr>
              <a:t>◀ </a:t>
            </a:r>
            <a:r>
              <a:rPr sz="1300" b="1" i="0" dirty="0" err="1">
                <a:solidFill>
                  <a:srgbClr val="0D0D0D"/>
                </a:solidFill>
                <a:latin typeface="Apple SD Gothic Neo"/>
              </a:rPr>
              <a:t>오늘</a:t>
            </a:r>
            <a:endParaRPr sz="1300" b="1" i="0" dirty="0">
              <a:solidFill>
                <a:srgbClr val="0D0D0D"/>
              </a:solidFill>
              <a:latin typeface="Apple SD Gothic Neo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5800" y="2221992"/>
            <a:ext cx="10515600" cy="1828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258568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55555"/>
                </a:solidFill>
                <a:latin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38658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  <a:latin typeface="Apple SD Gothic Neo"/>
              </a:rPr>
              <a:t>[ 탐색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386584"/>
            <a:ext cx="64008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900" b="0" i="0" dirty="0">
                <a:solidFill>
                  <a:srgbClr val="555555"/>
                </a:solidFill>
                <a:latin typeface="Apple SD Gothic Neo"/>
              </a:rPr>
              <a:t>‘</a:t>
            </a:r>
            <a:r>
              <a:rPr sz="1900" b="0" i="0" dirty="0" err="1">
                <a:solidFill>
                  <a:srgbClr val="555555"/>
                </a:solidFill>
                <a:latin typeface="Apple SD Gothic Neo"/>
              </a:rPr>
              <a:t>좋은</a:t>
            </a:r>
            <a:r>
              <a:rPr sz="1900" b="0" i="0" dirty="0">
                <a:solidFill>
                  <a:srgbClr val="555555"/>
                </a:solidFill>
                <a:latin typeface="Apple SD Gothic Neo"/>
              </a:rPr>
              <a:t> </a:t>
            </a:r>
            <a:r>
              <a:rPr sz="1900" b="0" i="0" dirty="0" err="1">
                <a:solidFill>
                  <a:srgbClr val="555555"/>
                </a:solidFill>
                <a:latin typeface="Apple SD Gothic Neo"/>
              </a:rPr>
              <a:t>종목</a:t>
            </a:r>
            <a:r>
              <a:rPr lang="en-US" sz="1900" b="0" i="0" dirty="0" err="1">
                <a:solidFill>
                  <a:srgbClr val="555555"/>
                </a:solidFill>
                <a:latin typeface="Apple SD Gothic Neo"/>
              </a:rPr>
              <a:t>'</a:t>
            </a:r>
            <a:r>
              <a:rPr sz="1900" b="0" i="0" dirty="0" err="1">
                <a:solidFill>
                  <a:srgbClr val="555555"/>
                </a:solidFill>
                <a:latin typeface="Apple SD Gothic Neo"/>
              </a:rPr>
              <a:t>의</a:t>
            </a:r>
            <a:r>
              <a:rPr sz="1900" b="0" i="0" dirty="0">
                <a:solidFill>
                  <a:srgbClr val="555555"/>
                </a:solidFill>
                <a:latin typeface="Apple SD Gothic Neo"/>
              </a:rPr>
              <a:t> </a:t>
            </a:r>
            <a:r>
              <a:rPr sz="1900" b="0" i="0" dirty="0" err="1">
                <a:solidFill>
                  <a:srgbClr val="555555"/>
                </a:solidFill>
                <a:latin typeface="Apple SD Gothic Neo"/>
              </a:rPr>
              <a:t>조건이란</a:t>
            </a:r>
            <a:r>
              <a:rPr sz="1900" b="0" i="0" dirty="0">
                <a:solidFill>
                  <a:srgbClr val="555555"/>
                </a:solidFill>
                <a:latin typeface="Apple SD Gothic Neo"/>
              </a:rPr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108960"/>
            <a:ext cx="10515600" cy="1828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145536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55555"/>
                </a:solidFill>
                <a:latin typeface="Apple SD Gothic Ne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273552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555555"/>
                </a:solidFill>
                <a:latin typeface="Apple SD Gothic Neo"/>
              </a:rPr>
              <a:t>[ </a:t>
            </a:r>
            <a:r>
              <a:rPr lang="ko-KR" altLang="en-US" sz="1400" b="0" i="0" dirty="0">
                <a:solidFill>
                  <a:srgbClr val="555555"/>
                </a:solidFill>
                <a:latin typeface="Apple SD Gothic Neo"/>
              </a:rPr>
              <a:t>복잡</a:t>
            </a:r>
            <a:r>
              <a:rPr sz="1400" b="0" i="0" dirty="0">
                <a:solidFill>
                  <a:srgbClr val="555555"/>
                </a:solidFill>
                <a:latin typeface="Apple SD Gothic Neo"/>
              </a:rPr>
              <a:t>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73552"/>
            <a:ext cx="64008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900" dirty="0">
                <a:solidFill>
                  <a:srgbClr val="555555"/>
                </a:solidFill>
                <a:latin typeface="Apple SD Gothic Neo"/>
              </a:rPr>
              <a:t>좋은 종목을 ‘언제’ 살까</a:t>
            </a:r>
            <a:r>
              <a:rPr lang="en-US" altLang="ko-KR" sz="1900" dirty="0">
                <a:solidFill>
                  <a:srgbClr val="555555"/>
                </a:solidFill>
                <a:latin typeface="Apple SD Gothic Neo"/>
              </a:rPr>
              <a:t>?</a:t>
            </a:r>
            <a:endParaRPr lang="ko-KR" altLang="en-US" sz="1900" dirty="0">
              <a:solidFill>
                <a:srgbClr val="555555"/>
              </a:solidFill>
              <a:latin typeface="Apple SD Gothic Neo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85800" y="3995928"/>
            <a:ext cx="10515600" cy="1828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032504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55555"/>
                </a:solidFill>
                <a:latin typeface="Apple SD Gothic Ne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160520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555555"/>
                </a:solidFill>
                <a:latin typeface="Apple SD Gothic Neo"/>
              </a:rPr>
              <a:t>[ </a:t>
            </a:r>
            <a:r>
              <a:rPr lang="ko-KR" altLang="en-US" sz="1400" dirty="0">
                <a:solidFill>
                  <a:srgbClr val="555555"/>
                </a:solidFill>
                <a:latin typeface="Apple SD Gothic Neo"/>
              </a:rPr>
              <a:t>해방</a:t>
            </a:r>
            <a:r>
              <a:rPr sz="1400" b="0" i="0" dirty="0">
                <a:solidFill>
                  <a:srgbClr val="555555"/>
                </a:solidFill>
                <a:latin typeface="Apple SD Gothic Neo"/>
              </a:rPr>
              <a:t>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160520"/>
            <a:ext cx="64008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900" dirty="0">
                <a:solidFill>
                  <a:srgbClr val="555555"/>
                </a:solidFill>
                <a:latin typeface="Apple SD Gothic Neo"/>
              </a:rPr>
              <a:t>나만의 핵심 조건 레시피 만들기</a:t>
            </a:r>
            <a:endParaRPr sz="1900" b="0" i="0" dirty="0">
              <a:solidFill>
                <a:srgbClr val="555555"/>
              </a:solidFill>
              <a:latin typeface="Apple SD Gothic Neo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85800" y="4882896"/>
            <a:ext cx="10515600" cy="1828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919472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55555"/>
                </a:solidFill>
                <a:latin typeface="Apple SD Gothic Ne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047488"/>
            <a:ext cx="1371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555555"/>
                </a:solidFill>
                <a:latin typeface="Apple SD Gothic Neo"/>
              </a:rPr>
              <a:t>[ </a:t>
            </a:r>
            <a:r>
              <a:rPr lang="ko-KR" altLang="en-US" sz="1400" dirty="0">
                <a:solidFill>
                  <a:srgbClr val="555555"/>
                </a:solidFill>
                <a:latin typeface="Apple SD Gothic Neo"/>
              </a:rPr>
              <a:t>출발</a:t>
            </a:r>
            <a:r>
              <a:rPr sz="1400" b="0" i="0" dirty="0">
                <a:solidFill>
                  <a:srgbClr val="555555"/>
                </a:solidFill>
                <a:latin typeface="Apple SD Gothic Neo"/>
              </a:rPr>
              <a:t> 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047488"/>
            <a:ext cx="6400800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900" b="0" i="0" dirty="0">
                <a:solidFill>
                  <a:srgbClr val="555555"/>
                </a:solidFill>
                <a:latin typeface="Apple SD Gothic Neo"/>
              </a:rPr>
              <a:t>나의 조건 실행 시작 </a:t>
            </a:r>
            <a:r>
              <a:rPr lang="en-US" altLang="ko-KR" sz="1900" b="0" i="0" dirty="0">
                <a:solidFill>
                  <a:srgbClr val="555555"/>
                </a:solidFill>
                <a:latin typeface="Apple SD Gothic Neo"/>
              </a:rPr>
              <a:t>(</a:t>
            </a:r>
            <a:r>
              <a:rPr lang="ko-KR" altLang="en-US" sz="1900" b="0" i="0" dirty="0">
                <a:solidFill>
                  <a:srgbClr val="555555"/>
                </a:solidFill>
                <a:latin typeface="Apple SD Gothic Neo"/>
              </a:rPr>
              <a:t>성과 공유</a:t>
            </a:r>
            <a:r>
              <a:rPr lang="en-US" altLang="ko-KR" sz="1900" b="0" i="0" dirty="0">
                <a:solidFill>
                  <a:srgbClr val="555555"/>
                </a:solidFill>
                <a:latin typeface="Apple SD Gothic Neo"/>
              </a:rPr>
              <a:t>&amp;</a:t>
            </a:r>
            <a:r>
              <a:rPr lang="ko-KR" altLang="en-US" sz="1900" b="0" i="0" dirty="0">
                <a:solidFill>
                  <a:srgbClr val="555555"/>
                </a:solidFill>
                <a:latin typeface="Apple SD Gothic Neo"/>
              </a:rPr>
              <a:t>피드백</a:t>
            </a:r>
            <a:r>
              <a:rPr lang="en-US" altLang="ko-KR" sz="1900" b="0" i="0" dirty="0">
                <a:solidFill>
                  <a:srgbClr val="555555"/>
                </a:solidFill>
                <a:latin typeface="Apple SD Gothic Neo"/>
              </a:rPr>
              <a:t>)</a:t>
            </a:r>
            <a:endParaRPr sz="1900" b="0" i="0" dirty="0">
              <a:solidFill>
                <a:srgbClr val="555555"/>
              </a:solidFill>
              <a:latin typeface="Apple SD Gothic Neo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85800" y="5769864"/>
            <a:ext cx="10515600" cy="18288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45720" cy="59436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FF00"/>
                </a:solidFill>
                <a:latin typeface="Apple SD Gothic Neo"/>
              </a:rPr>
              <a:t>OPENING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3800" b="1" i="0" dirty="0">
                <a:solidFill>
                  <a:srgbClr val="FFFFFF"/>
                </a:solidFill>
                <a:latin typeface="Apple SD Gothic Neo"/>
              </a:rPr>
              <a:t>누구세요</a:t>
            </a:r>
            <a:r>
              <a:rPr lang="en-US" altLang="ko-KR" sz="3800" b="1" i="0" dirty="0">
                <a:solidFill>
                  <a:srgbClr val="FFFFFF"/>
                </a:solidFill>
                <a:latin typeface="Apple SD Gothic Neo"/>
              </a:rPr>
              <a:t>?</a:t>
            </a:r>
            <a:endParaRPr sz="3800" b="1" i="0" dirty="0">
              <a:solidFill>
                <a:srgbClr val="FFFFFF"/>
              </a:solidFill>
              <a:latin typeface="Apple SD Gothic Ne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5800" y="1783080"/>
            <a:ext cx="10515600" cy="2743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D29B4F-E52F-B11B-ABDD-C7AA751BC656}"/>
              </a:ext>
            </a:extLst>
          </p:cNvPr>
          <p:cNvSpPr txBox="1"/>
          <p:nvPr/>
        </p:nvSpPr>
        <p:spPr>
          <a:xfrm>
            <a:off x="1522412" y="2815495"/>
            <a:ext cx="9144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5200" b="1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rPr>
              <a:t>앞으로 함께하실 서로에게</a:t>
            </a:r>
            <a:endParaRPr kumimoji="0" sz="5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0D713C-E90B-DA8A-8C7F-7D5401814952}"/>
              </a:ext>
            </a:extLst>
          </p:cNvPr>
          <p:cNvSpPr txBox="1"/>
          <p:nvPr/>
        </p:nvSpPr>
        <p:spPr>
          <a:xfrm>
            <a:off x="1522412" y="3775615"/>
            <a:ext cx="9144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소개와 다짐 한마디</a:t>
            </a:r>
            <a:endParaRPr kumimoji="0" sz="52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5104A9-DED8-754B-A2B9-71A0F49C4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A0D9F9-225A-1F90-A99F-4FA5BE9B71DA}"/>
              </a:ext>
            </a:extLst>
          </p:cNvPr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6CF17-B4F6-2A1D-0229-5B89B679E800}"/>
              </a:ext>
            </a:extLst>
          </p:cNvPr>
          <p:cNvSpPr txBox="1"/>
          <p:nvPr/>
        </p:nvSpPr>
        <p:spPr>
          <a:xfrm>
            <a:off x="0" y="1572479"/>
            <a:ext cx="121889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어떤게</a:t>
            </a:r>
            <a:r>
              <a:rPr kumimoji="0" lang="ko-KR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 더 </a:t>
            </a:r>
            <a:r>
              <a:rPr kumimoji="0" lang="ko-KR" alt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킹받나요</a:t>
            </a: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?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F303728-67A4-1845-C3C8-2983852A7824}"/>
              </a:ext>
            </a:extLst>
          </p:cNvPr>
          <p:cNvGrpSpPr/>
          <p:nvPr/>
        </p:nvGrpSpPr>
        <p:grpSpPr>
          <a:xfrm>
            <a:off x="333692" y="4474081"/>
            <a:ext cx="5760720" cy="1371600"/>
            <a:chOff x="333692" y="4474081"/>
            <a:chExt cx="5760720" cy="13716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4C625E5-D060-E329-84AD-E4F7DA6B82CF}"/>
                </a:ext>
              </a:extLst>
            </p:cNvPr>
            <p:cNvSpPr/>
            <p:nvPr/>
          </p:nvSpPr>
          <p:spPr>
            <a:xfrm>
              <a:off x="333692" y="4474081"/>
              <a:ext cx="5760720" cy="13716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61DA187-354D-F9CA-A46D-26E76D6F7DEC}"/>
                </a:ext>
              </a:extLst>
            </p:cNvPr>
            <p:cNvSpPr/>
            <p:nvPr/>
          </p:nvSpPr>
          <p:spPr>
            <a:xfrm>
              <a:off x="333692" y="4474081"/>
              <a:ext cx="5760720" cy="45720"/>
            </a:xfrm>
            <a:prstGeom prst="rect">
              <a:avLst/>
            </a:prstGeom>
            <a:solidFill>
              <a:srgbClr val="D4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E4D59E5-B8A5-05AF-2010-008E3B5D2EB0}"/>
                </a:ext>
              </a:extLst>
            </p:cNvPr>
            <p:cNvSpPr txBox="1"/>
            <p:nvPr/>
          </p:nvSpPr>
          <p:spPr>
            <a:xfrm>
              <a:off x="333692" y="4644132"/>
              <a:ext cx="576072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겨우 </a:t>
              </a:r>
              <a:r>
                <a:rPr kumimoji="0" lang="ko-KR" altLang="en-US" sz="3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본절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 탈출 했더니</a:t>
              </a:r>
              <a:endPara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3200" dirty="0">
                  <a:solidFill>
                    <a:prstClr val="white"/>
                  </a:solidFill>
                  <a:latin typeface="Apple SD Gothic Neo"/>
                </a:rPr>
                <a:t>상한가로 날아갈 때</a:t>
              </a:r>
              <a:endParaRPr kumimoji="0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A67C3F12-C9BA-DC79-EE75-ED9CBBE38DFE}"/>
              </a:ext>
            </a:extLst>
          </p:cNvPr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B5DCD5-8BEF-56CC-923E-28F83004792F}"/>
              </a:ext>
            </a:extLst>
          </p:cNvPr>
          <p:cNvSpPr txBox="1"/>
          <p:nvPr/>
        </p:nvSpPr>
        <p:spPr>
          <a:xfrm>
            <a:off x="1713155" y="970023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9117C2-8B2A-E525-AFA0-1EBB458D348C}"/>
              </a:ext>
            </a:extLst>
          </p:cNvPr>
          <p:cNvSpPr txBox="1"/>
          <p:nvPr/>
        </p:nvSpPr>
        <p:spPr>
          <a:xfrm rot="10800000">
            <a:off x="9386047" y="487800"/>
            <a:ext cx="12803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“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E66A4D7-F9F6-5FF9-A70C-3340D0AB93BA}"/>
              </a:ext>
            </a:extLst>
          </p:cNvPr>
          <p:cNvGrpSpPr/>
          <p:nvPr/>
        </p:nvGrpSpPr>
        <p:grpSpPr>
          <a:xfrm>
            <a:off x="6288405" y="4474081"/>
            <a:ext cx="5760720" cy="1371600"/>
            <a:chOff x="6288405" y="4474081"/>
            <a:chExt cx="5760720" cy="1371600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6621EC2E-302D-DF6C-E82D-9FBF84EE7D37}"/>
                </a:ext>
              </a:extLst>
            </p:cNvPr>
            <p:cNvSpPr/>
            <p:nvPr/>
          </p:nvSpPr>
          <p:spPr>
            <a:xfrm>
              <a:off x="6288405" y="4474081"/>
              <a:ext cx="5760720" cy="13716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8DE0022D-6BA9-C752-EA82-4AFF32800B71}"/>
                </a:ext>
              </a:extLst>
            </p:cNvPr>
            <p:cNvSpPr/>
            <p:nvPr/>
          </p:nvSpPr>
          <p:spPr>
            <a:xfrm>
              <a:off x="6288405" y="4474081"/>
              <a:ext cx="5760720" cy="45720"/>
            </a:xfrm>
            <a:prstGeom prst="rect">
              <a:avLst/>
            </a:prstGeom>
            <a:solidFill>
              <a:srgbClr val="D4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DDE814F-D3C2-841A-2E47-61437093E592}"/>
                </a:ext>
              </a:extLst>
            </p:cNvPr>
            <p:cNvSpPr txBox="1"/>
            <p:nvPr/>
          </p:nvSpPr>
          <p:spPr>
            <a:xfrm>
              <a:off x="6288405" y="4645531"/>
              <a:ext cx="576072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수익 구간에 안 팔았는데</a:t>
              </a:r>
              <a:endPara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3200" dirty="0">
                  <a:solidFill>
                    <a:prstClr val="white"/>
                  </a:solidFill>
                  <a:latin typeface="Apple SD Gothic Neo"/>
                  <a:ea typeface="맑은 고딕" panose="020B0503020000020004" pitchFamily="50" charset="-127"/>
                </a:rPr>
                <a:t>저</a:t>
              </a:r>
              <a:r>
                <a:rPr lang="en-US" altLang="ko-KR" sz="3200" dirty="0">
                  <a:solidFill>
                    <a:prstClr val="white"/>
                  </a:solidFill>
                  <a:latin typeface="Apple SD Gothic Neo"/>
                  <a:ea typeface="맑은 고딕" panose="020B0503020000020004" pitchFamily="50" charset="-127"/>
                </a:rPr>
                <a:t>~ </a:t>
              </a:r>
              <a:r>
                <a:rPr lang="ko-KR" altLang="en-US" sz="3200" dirty="0">
                  <a:solidFill>
                    <a:prstClr val="white"/>
                  </a:solidFill>
                  <a:latin typeface="Apple SD Gothic Neo"/>
                  <a:ea typeface="맑은 고딕" panose="020B0503020000020004" pitchFamily="50" charset="-127"/>
                </a:rPr>
                <a:t>밑으로 처박힐 때</a:t>
              </a:r>
              <a:endPara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85550A7-5770-8FAE-53B9-4CB4621435BB}"/>
              </a:ext>
            </a:extLst>
          </p:cNvPr>
          <p:cNvSpPr txBox="1"/>
          <p:nvPr/>
        </p:nvSpPr>
        <p:spPr>
          <a:xfrm>
            <a:off x="2665412" y="3014276"/>
            <a:ext cx="10972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A</a:t>
            </a:r>
            <a:endParaRPr kumimoji="0" sz="90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7E4875-66BE-BDBE-10EF-7A4008A12AA7}"/>
              </a:ext>
            </a:extLst>
          </p:cNvPr>
          <p:cNvSpPr txBox="1"/>
          <p:nvPr/>
        </p:nvSpPr>
        <p:spPr>
          <a:xfrm>
            <a:off x="8837407" y="3014276"/>
            <a:ext cx="10972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B</a:t>
            </a:r>
            <a:endParaRPr kumimoji="0" sz="90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5838AC-DFE1-7FB5-C1CE-AC9DF42E1D66}"/>
              </a:ext>
            </a:extLst>
          </p:cNvPr>
          <p:cNvSpPr txBox="1"/>
          <p:nvPr/>
        </p:nvSpPr>
        <p:spPr>
          <a:xfrm>
            <a:off x="0" y="2516070"/>
            <a:ext cx="121889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sng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생각만 해도 </a:t>
            </a:r>
            <a:r>
              <a:rPr lang="ko-KR" altLang="en-US" sz="2000" b="1" strike="sngStrike" dirty="0">
                <a:solidFill>
                  <a:schemeClr val="tx1">
                    <a:lumMod val="65000"/>
                    <a:lumOff val="35000"/>
                  </a:schemeClr>
                </a:solidFill>
                <a:latin typeface="Apple SD Gothic Neo"/>
                <a:ea typeface="맑은 고딕" panose="020B0503020000020004" pitchFamily="50" charset="-127"/>
              </a:rPr>
              <a:t>킹</a:t>
            </a:r>
            <a:r>
              <a:rPr kumimoji="0" lang="ko-KR" altLang="en-US" sz="2000" b="1" i="0" u="none" strike="sng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받네</a:t>
            </a:r>
            <a:r>
              <a:rPr kumimoji="0" lang="en-US" altLang="ko-KR" sz="2000" b="1" i="0" u="none" strike="sng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…</a:t>
            </a:r>
            <a:endParaRPr kumimoji="0" sz="2000" b="1" i="0" u="none" strike="sng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E2EAAB-65E0-EBF4-5EFB-AB7E0E3840DF}"/>
              </a:ext>
            </a:extLst>
          </p:cNvPr>
          <p:cNvSpPr txBox="1"/>
          <p:nvPr/>
        </p:nvSpPr>
        <p:spPr>
          <a:xfrm>
            <a:off x="4143152" y="958169"/>
            <a:ext cx="39025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b="1" dirty="0">
                <a:solidFill>
                  <a:prstClr val="white">
                    <a:lumMod val="50000"/>
                  </a:prstClr>
                </a:solidFill>
                <a:latin typeface="Apple SD Gothic Neo"/>
                <a:ea typeface="맑은 고딕" panose="020B0503020000020004" pitchFamily="50" charset="-127"/>
              </a:rPr>
              <a:t>아주 가벼운 질문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358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070029-F3F1-8EE1-18C2-A638D804F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15288C7-657E-C121-4337-E6F35AEB16CB}"/>
              </a:ext>
            </a:extLst>
          </p:cNvPr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85E95E-B1E6-4A38-0F62-38216CC0E448}"/>
              </a:ext>
            </a:extLst>
          </p:cNvPr>
          <p:cNvSpPr txBox="1"/>
          <p:nvPr/>
        </p:nvSpPr>
        <p:spPr>
          <a:xfrm>
            <a:off x="0" y="1572479"/>
            <a:ext cx="121889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상금을 받는다면 </a:t>
            </a:r>
            <a:r>
              <a:rPr kumimoji="0" lang="ko-KR" alt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어떤것을</a:t>
            </a:r>
            <a:r>
              <a:rPr kumimoji="0" lang="ko-KR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 선택</a:t>
            </a: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?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07480ED-4BB9-C253-48C7-77EBEF08C9E3}"/>
              </a:ext>
            </a:extLst>
          </p:cNvPr>
          <p:cNvGrpSpPr/>
          <p:nvPr/>
        </p:nvGrpSpPr>
        <p:grpSpPr>
          <a:xfrm>
            <a:off x="333692" y="4474081"/>
            <a:ext cx="5760720" cy="1371600"/>
            <a:chOff x="333692" y="4474081"/>
            <a:chExt cx="5760720" cy="13716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09C94B2-6EC4-E84B-DFDE-7FE071E8711F}"/>
                </a:ext>
              </a:extLst>
            </p:cNvPr>
            <p:cNvSpPr/>
            <p:nvPr/>
          </p:nvSpPr>
          <p:spPr>
            <a:xfrm>
              <a:off x="333692" y="4474081"/>
              <a:ext cx="5760720" cy="13716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39ACF86-7A63-3FE2-EEA3-7FD201D83BAF}"/>
                </a:ext>
              </a:extLst>
            </p:cNvPr>
            <p:cNvSpPr/>
            <p:nvPr/>
          </p:nvSpPr>
          <p:spPr>
            <a:xfrm>
              <a:off x="333692" y="4474081"/>
              <a:ext cx="5760720" cy="45720"/>
            </a:xfrm>
            <a:prstGeom prst="rect">
              <a:avLst/>
            </a:prstGeom>
            <a:solidFill>
              <a:srgbClr val="D4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3C5919E-4447-D2BF-B193-9C6346D48A2F}"/>
                </a:ext>
              </a:extLst>
            </p:cNvPr>
            <p:cNvSpPr txBox="1"/>
            <p:nvPr/>
          </p:nvSpPr>
          <p:spPr>
            <a:xfrm>
              <a:off x="333692" y="4644132"/>
              <a:ext cx="576072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80% 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확률로     </a:t>
              </a: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4000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만원</a:t>
              </a:r>
              <a:endPara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3200" dirty="0">
                  <a:solidFill>
                    <a:prstClr val="white"/>
                  </a:solidFill>
                  <a:latin typeface="Apple SD Gothic Neo"/>
                </a:rPr>
                <a:t>20% </a:t>
              </a:r>
              <a:r>
                <a:rPr lang="ko-KR" altLang="en-US" sz="3200" dirty="0">
                  <a:solidFill>
                    <a:prstClr val="white"/>
                  </a:solidFill>
                  <a:latin typeface="Apple SD Gothic Neo"/>
                </a:rPr>
                <a:t>확률로               </a:t>
              </a:r>
              <a:r>
                <a:rPr lang="en-US" sz="3200" dirty="0">
                  <a:solidFill>
                    <a:prstClr val="white"/>
                  </a:solidFill>
                  <a:latin typeface="Apple SD Gothic Neo"/>
                </a:rPr>
                <a:t> 0</a:t>
              </a:r>
              <a:r>
                <a:rPr lang="ko-KR" altLang="en-US" sz="3200" dirty="0">
                  <a:solidFill>
                    <a:prstClr val="white"/>
                  </a:solidFill>
                  <a:latin typeface="Apple SD Gothic Neo"/>
                </a:rPr>
                <a:t>원</a:t>
              </a:r>
              <a:endParaRPr kumimoji="0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12844FF6-6C5E-AF11-293F-D71B3F8DA4E6}"/>
              </a:ext>
            </a:extLst>
          </p:cNvPr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C89F7B-D987-EED4-8824-21C329BEC85B}"/>
              </a:ext>
            </a:extLst>
          </p:cNvPr>
          <p:cNvSpPr txBox="1"/>
          <p:nvPr/>
        </p:nvSpPr>
        <p:spPr>
          <a:xfrm>
            <a:off x="1713155" y="970023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35B1B5-3532-A706-ADDF-3800ABF39927}"/>
              </a:ext>
            </a:extLst>
          </p:cNvPr>
          <p:cNvSpPr txBox="1"/>
          <p:nvPr/>
        </p:nvSpPr>
        <p:spPr>
          <a:xfrm rot="10800000">
            <a:off x="9386047" y="487800"/>
            <a:ext cx="12803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“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257039D-9DA5-C7CC-0064-2FDCA72733BD}"/>
              </a:ext>
            </a:extLst>
          </p:cNvPr>
          <p:cNvGrpSpPr/>
          <p:nvPr/>
        </p:nvGrpSpPr>
        <p:grpSpPr>
          <a:xfrm>
            <a:off x="6288405" y="4474081"/>
            <a:ext cx="5760720" cy="1371600"/>
            <a:chOff x="6288405" y="4474081"/>
            <a:chExt cx="5760720" cy="1371600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A15C4DEB-C12D-4D77-387C-E844BCC4440C}"/>
                </a:ext>
              </a:extLst>
            </p:cNvPr>
            <p:cNvSpPr/>
            <p:nvPr/>
          </p:nvSpPr>
          <p:spPr>
            <a:xfrm>
              <a:off x="6288405" y="4474081"/>
              <a:ext cx="5760720" cy="13716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FCAD35FE-275A-6D17-67FC-26E69A44215F}"/>
                </a:ext>
              </a:extLst>
            </p:cNvPr>
            <p:cNvSpPr/>
            <p:nvPr/>
          </p:nvSpPr>
          <p:spPr>
            <a:xfrm>
              <a:off x="6288405" y="4474081"/>
              <a:ext cx="5760720" cy="45720"/>
            </a:xfrm>
            <a:prstGeom prst="rect">
              <a:avLst/>
            </a:prstGeom>
            <a:solidFill>
              <a:srgbClr val="D4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AD7C4BE-89CB-316C-0F57-20630AFB6149}"/>
                </a:ext>
              </a:extLst>
            </p:cNvPr>
            <p:cNvSpPr txBox="1"/>
            <p:nvPr/>
          </p:nvSpPr>
          <p:spPr>
            <a:xfrm>
              <a:off x="6288405" y="4931281"/>
              <a:ext cx="576072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en-US" altLang="ko-KR" sz="3200" dirty="0">
                  <a:solidFill>
                    <a:prstClr val="white"/>
                  </a:solidFill>
                  <a:latin typeface="Apple SD Gothic Neo"/>
                </a:rPr>
                <a:t>100% </a:t>
              </a:r>
              <a:r>
                <a:rPr lang="ko-KR" altLang="en-US" sz="3200" dirty="0">
                  <a:solidFill>
                    <a:prstClr val="white"/>
                  </a:solidFill>
                  <a:latin typeface="Apple SD Gothic Neo"/>
                </a:rPr>
                <a:t>확률로 </a:t>
              </a:r>
              <a:r>
                <a:rPr lang="en-US" altLang="ko-KR" sz="3200" dirty="0">
                  <a:solidFill>
                    <a:prstClr val="white"/>
                  </a:solidFill>
                  <a:latin typeface="Apple SD Gothic Neo"/>
                </a:rPr>
                <a:t>3000</a:t>
              </a:r>
              <a:r>
                <a:rPr lang="ko-KR" altLang="en-US" sz="3200" dirty="0">
                  <a:solidFill>
                    <a:prstClr val="white"/>
                  </a:solidFill>
                  <a:latin typeface="Apple SD Gothic Neo"/>
                </a:rPr>
                <a:t>만원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3D68AEC4-8881-23EE-9AC4-C540A4DDB300}"/>
              </a:ext>
            </a:extLst>
          </p:cNvPr>
          <p:cNvSpPr txBox="1"/>
          <p:nvPr/>
        </p:nvSpPr>
        <p:spPr>
          <a:xfrm>
            <a:off x="2665412" y="3014276"/>
            <a:ext cx="10972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A</a:t>
            </a:r>
            <a:endParaRPr kumimoji="0" sz="90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5EC78B-065B-54B9-C1EB-5F6635A4C1B0}"/>
              </a:ext>
            </a:extLst>
          </p:cNvPr>
          <p:cNvSpPr txBox="1"/>
          <p:nvPr/>
        </p:nvSpPr>
        <p:spPr>
          <a:xfrm>
            <a:off x="8837407" y="3014276"/>
            <a:ext cx="10972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B</a:t>
            </a:r>
            <a:endParaRPr kumimoji="0" sz="90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A9BB0F-37E1-B452-459D-20DA9FF524FC}"/>
              </a:ext>
            </a:extLst>
          </p:cNvPr>
          <p:cNvSpPr txBox="1"/>
          <p:nvPr/>
        </p:nvSpPr>
        <p:spPr>
          <a:xfrm>
            <a:off x="0" y="2516070"/>
            <a:ext cx="121889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A/B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선택후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 이유를 작성해주세요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937B1E-45B6-FDC4-3EF6-C048DD968DAE}"/>
              </a:ext>
            </a:extLst>
          </p:cNvPr>
          <p:cNvSpPr txBox="1"/>
          <p:nvPr/>
        </p:nvSpPr>
        <p:spPr>
          <a:xfrm>
            <a:off x="4143152" y="958169"/>
            <a:ext cx="39025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노벨 경제학상 이론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–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투자 심리 실험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9369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B58507-E4AF-9FD1-D618-003223A5F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1AA0C7-C879-FAB3-554B-0095AF68D54A}"/>
              </a:ext>
            </a:extLst>
          </p:cNvPr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29D042-3567-D7CF-5532-9BEC5F87B9EA}"/>
              </a:ext>
            </a:extLst>
          </p:cNvPr>
          <p:cNvSpPr txBox="1"/>
          <p:nvPr/>
        </p:nvSpPr>
        <p:spPr>
          <a:xfrm>
            <a:off x="0" y="1572479"/>
            <a:ext cx="121889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벌금</a:t>
            </a:r>
            <a:r>
              <a:rPr kumimoji="0" lang="ko-KR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을 낸다면 </a:t>
            </a:r>
            <a:r>
              <a:rPr kumimoji="0" lang="ko-KR" alt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어떤것을</a:t>
            </a:r>
            <a:r>
              <a:rPr kumimoji="0" lang="ko-KR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 선택</a:t>
            </a: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?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464677F-A7E1-F635-A984-EAC234B7C079}"/>
              </a:ext>
            </a:extLst>
          </p:cNvPr>
          <p:cNvGrpSpPr/>
          <p:nvPr/>
        </p:nvGrpSpPr>
        <p:grpSpPr>
          <a:xfrm>
            <a:off x="333692" y="4474081"/>
            <a:ext cx="5760720" cy="1371600"/>
            <a:chOff x="333692" y="4474081"/>
            <a:chExt cx="5760720" cy="13716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2866FDE-AB83-3007-A4C7-1C5321E88AB8}"/>
                </a:ext>
              </a:extLst>
            </p:cNvPr>
            <p:cNvSpPr/>
            <p:nvPr/>
          </p:nvSpPr>
          <p:spPr>
            <a:xfrm>
              <a:off x="333692" y="4474081"/>
              <a:ext cx="5760720" cy="13716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315C832-BF80-0071-69D8-E0F6569D1C66}"/>
                </a:ext>
              </a:extLst>
            </p:cNvPr>
            <p:cNvSpPr/>
            <p:nvPr/>
          </p:nvSpPr>
          <p:spPr>
            <a:xfrm>
              <a:off x="333692" y="4474081"/>
              <a:ext cx="5760720" cy="45720"/>
            </a:xfrm>
            <a:prstGeom prst="rect">
              <a:avLst/>
            </a:prstGeom>
            <a:solidFill>
              <a:srgbClr val="D4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C7EDE86-BFC7-4E07-DF98-8A581EFABD84}"/>
                </a:ext>
              </a:extLst>
            </p:cNvPr>
            <p:cNvSpPr txBox="1"/>
            <p:nvPr/>
          </p:nvSpPr>
          <p:spPr>
            <a:xfrm>
              <a:off x="333692" y="4644132"/>
              <a:ext cx="576072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80% 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확률로     </a:t>
              </a:r>
              <a:r>
                <a:rPr kumimoji="0" lang="en-US" altLang="ko-KR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-</a:t>
              </a: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4000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만원</a:t>
              </a:r>
              <a:endPara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20% 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확률로               </a:t>
              </a: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 -0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원</a:t>
              </a:r>
              <a:endParaRPr kumimoji="0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1E313138-48B2-68A9-1183-8AB6858B7A61}"/>
              </a:ext>
            </a:extLst>
          </p:cNvPr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DD0418-2877-52D5-CA85-18EECA8892F3}"/>
              </a:ext>
            </a:extLst>
          </p:cNvPr>
          <p:cNvSpPr txBox="1"/>
          <p:nvPr/>
        </p:nvSpPr>
        <p:spPr>
          <a:xfrm>
            <a:off x="1713155" y="970023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932F21-3530-5DA3-9496-4D47C84CA109}"/>
              </a:ext>
            </a:extLst>
          </p:cNvPr>
          <p:cNvSpPr txBox="1"/>
          <p:nvPr/>
        </p:nvSpPr>
        <p:spPr>
          <a:xfrm rot="10800000">
            <a:off x="9386047" y="487800"/>
            <a:ext cx="12803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“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606DD64-18A7-0DF6-93F3-DFA8CE2A2C16}"/>
              </a:ext>
            </a:extLst>
          </p:cNvPr>
          <p:cNvGrpSpPr/>
          <p:nvPr/>
        </p:nvGrpSpPr>
        <p:grpSpPr>
          <a:xfrm>
            <a:off x="6288405" y="4474081"/>
            <a:ext cx="5760720" cy="1371600"/>
            <a:chOff x="6288405" y="4474081"/>
            <a:chExt cx="5760720" cy="1371600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165D3E9D-5F2B-1FD6-7C99-51FDAB23C6AB}"/>
                </a:ext>
              </a:extLst>
            </p:cNvPr>
            <p:cNvSpPr/>
            <p:nvPr/>
          </p:nvSpPr>
          <p:spPr>
            <a:xfrm>
              <a:off x="6288405" y="4474081"/>
              <a:ext cx="5760720" cy="13716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DB7928C4-6F11-A7F6-B505-991641FA3602}"/>
                </a:ext>
              </a:extLst>
            </p:cNvPr>
            <p:cNvSpPr/>
            <p:nvPr/>
          </p:nvSpPr>
          <p:spPr>
            <a:xfrm>
              <a:off x="6288405" y="4474081"/>
              <a:ext cx="5760720" cy="45720"/>
            </a:xfrm>
            <a:prstGeom prst="rect">
              <a:avLst/>
            </a:prstGeom>
            <a:solidFill>
              <a:srgbClr val="D4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2561B19-C54F-FBB3-1D4C-5547D94C380C}"/>
                </a:ext>
              </a:extLst>
            </p:cNvPr>
            <p:cNvSpPr txBox="1"/>
            <p:nvPr/>
          </p:nvSpPr>
          <p:spPr>
            <a:xfrm>
              <a:off x="6288405" y="4931281"/>
              <a:ext cx="576072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100% 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확률로 </a:t>
              </a:r>
              <a:r>
                <a:rPr kumimoji="0" lang="en-US" altLang="ko-KR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-3000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만원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20EDFD1-D11A-B207-1F19-5C1822A8ACDB}"/>
              </a:ext>
            </a:extLst>
          </p:cNvPr>
          <p:cNvSpPr txBox="1"/>
          <p:nvPr/>
        </p:nvSpPr>
        <p:spPr>
          <a:xfrm>
            <a:off x="2665412" y="3014276"/>
            <a:ext cx="10972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A</a:t>
            </a:r>
            <a:endParaRPr kumimoji="0" sz="90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C4C037-60A9-6421-F91D-CF6A79E3B43B}"/>
              </a:ext>
            </a:extLst>
          </p:cNvPr>
          <p:cNvSpPr txBox="1"/>
          <p:nvPr/>
        </p:nvSpPr>
        <p:spPr>
          <a:xfrm>
            <a:off x="8837407" y="3014276"/>
            <a:ext cx="10972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B</a:t>
            </a:r>
            <a:endParaRPr kumimoji="0" sz="90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304F09-4F3A-21DF-C018-6090118D210F}"/>
              </a:ext>
            </a:extLst>
          </p:cNvPr>
          <p:cNvSpPr txBox="1"/>
          <p:nvPr/>
        </p:nvSpPr>
        <p:spPr>
          <a:xfrm>
            <a:off x="0" y="2516070"/>
            <a:ext cx="121889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A/B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선택후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 이유를 작성해주세요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C8FDA6-A6FC-9E5D-9C98-432467FB4D69}"/>
              </a:ext>
            </a:extLst>
          </p:cNvPr>
          <p:cNvSpPr txBox="1"/>
          <p:nvPr/>
        </p:nvSpPr>
        <p:spPr>
          <a:xfrm>
            <a:off x="4143152" y="958169"/>
            <a:ext cx="39025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노벨 경제학상 이론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–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투자 심리 실험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2574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D1B6BC-33C0-3524-1675-BDA0643E8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C11047-C9BD-CE9F-099A-87ACE91585AE}"/>
              </a:ext>
            </a:extLst>
          </p:cNvPr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763131-8CA5-602D-7EA1-827A9291CEFC}"/>
              </a:ext>
            </a:extLst>
          </p:cNvPr>
          <p:cNvSpPr txBox="1"/>
          <p:nvPr/>
        </p:nvSpPr>
        <p:spPr>
          <a:xfrm>
            <a:off x="0" y="1572479"/>
            <a:ext cx="121889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상금을 받는다면 </a:t>
            </a:r>
            <a:r>
              <a:rPr kumimoji="0" lang="ko-KR" alt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어떤것을</a:t>
            </a:r>
            <a:r>
              <a:rPr kumimoji="0" lang="ko-KR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 선택</a:t>
            </a: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?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0A928D4-32FD-EAC8-539A-D3D474B99459}"/>
              </a:ext>
            </a:extLst>
          </p:cNvPr>
          <p:cNvGrpSpPr/>
          <p:nvPr/>
        </p:nvGrpSpPr>
        <p:grpSpPr>
          <a:xfrm>
            <a:off x="333692" y="4474081"/>
            <a:ext cx="5760720" cy="1371600"/>
            <a:chOff x="333692" y="4474081"/>
            <a:chExt cx="5760720" cy="13716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7C6C27B-977B-72E4-64E1-90E472682880}"/>
                </a:ext>
              </a:extLst>
            </p:cNvPr>
            <p:cNvSpPr/>
            <p:nvPr/>
          </p:nvSpPr>
          <p:spPr>
            <a:xfrm>
              <a:off x="333692" y="4474081"/>
              <a:ext cx="5760720" cy="13716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64140B0-1496-B2D7-C441-616D7BBCF002}"/>
                </a:ext>
              </a:extLst>
            </p:cNvPr>
            <p:cNvSpPr/>
            <p:nvPr/>
          </p:nvSpPr>
          <p:spPr>
            <a:xfrm>
              <a:off x="333692" y="4474081"/>
              <a:ext cx="5760720" cy="45720"/>
            </a:xfrm>
            <a:prstGeom prst="rect">
              <a:avLst/>
            </a:prstGeom>
            <a:solidFill>
              <a:srgbClr val="D4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74A3FF1-7D69-2A12-4343-B39C8E827429}"/>
                </a:ext>
              </a:extLst>
            </p:cNvPr>
            <p:cNvSpPr txBox="1"/>
            <p:nvPr/>
          </p:nvSpPr>
          <p:spPr>
            <a:xfrm>
              <a:off x="333692" y="4644132"/>
              <a:ext cx="576072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80% 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확률로     </a:t>
              </a: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4000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만원</a:t>
              </a:r>
              <a:endPara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20% 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확률로               </a:t>
              </a: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 0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원</a:t>
              </a:r>
              <a:endParaRPr kumimoji="0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C3FAF45-C6FB-ED2B-191A-2113F27E60D1}"/>
              </a:ext>
            </a:extLst>
          </p:cNvPr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A891D4-555F-193A-D704-FB94FCD8C04D}"/>
              </a:ext>
            </a:extLst>
          </p:cNvPr>
          <p:cNvSpPr txBox="1"/>
          <p:nvPr/>
        </p:nvSpPr>
        <p:spPr>
          <a:xfrm>
            <a:off x="1713155" y="970023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BF5142-1B87-69A6-41C4-0183585D3D10}"/>
              </a:ext>
            </a:extLst>
          </p:cNvPr>
          <p:cNvSpPr txBox="1"/>
          <p:nvPr/>
        </p:nvSpPr>
        <p:spPr>
          <a:xfrm rot="10800000">
            <a:off x="9386047" y="487800"/>
            <a:ext cx="12803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“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D892644-7EF4-F8F5-BB2F-031A0501D385}"/>
              </a:ext>
            </a:extLst>
          </p:cNvPr>
          <p:cNvGrpSpPr/>
          <p:nvPr/>
        </p:nvGrpSpPr>
        <p:grpSpPr>
          <a:xfrm>
            <a:off x="6288405" y="4474081"/>
            <a:ext cx="5760720" cy="1371600"/>
            <a:chOff x="6288405" y="4474081"/>
            <a:chExt cx="5760720" cy="1371600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6E739576-6964-AF0C-25AC-08C93BE1A8FD}"/>
                </a:ext>
              </a:extLst>
            </p:cNvPr>
            <p:cNvSpPr/>
            <p:nvPr/>
          </p:nvSpPr>
          <p:spPr>
            <a:xfrm>
              <a:off x="6288405" y="4474081"/>
              <a:ext cx="5760720" cy="13716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447A8559-A78E-20AE-6B1A-A2CFDA0C88F2}"/>
                </a:ext>
              </a:extLst>
            </p:cNvPr>
            <p:cNvSpPr/>
            <p:nvPr/>
          </p:nvSpPr>
          <p:spPr>
            <a:xfrm>
              <a:off x="6288405" y="4474081"/>
              <a:ext cx="5760720" cy="45720"/>
            </a:xfrm>
            <a:prstGeom prst="rect">
              <a:avLst/>
            </a:prstGeom>
            <a:solidFill>
              <a:srgbClr val="D4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B495890-A67F-4236-A348-895781F152A0}"/>
                </a:ext>
              </a:extLst>
            </p:cNvPr>
            <p:cNvSpPr txBox="1"/>
            <p:nvPr/>
          </p:nvSpPr>
          <p:spPr>
            <a:xfrm>
              <a:off x="6288405" y="4931281"/>
              <a:ext cx="576072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100% 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확률로 </a:t>
              </a:r>
              <a:r>
                <a:rPr kumimoji="0" lang="en-US" altLang="ko-KR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3000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만원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855A67E-700A-AFE6-71AD-8C583EF31DF9}"/>
              </a:ext>
            </a:extLst>
          </p:cNvPr>
          <p:cNvSpPr txBox="1"/>
          <p:nvPr/>
        </p:nvSpPr>
        <p:spPr>
          <a:xfrm>
            <a:off x="2665412" y="3014276"/>
            <a:ext cx="10972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A</a:t>
            </a:r>
            <a:endParaRPr kumimoji="0" sz="90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A1A25C-297D-1385-0104-3958A109F735}"/>
              </a:ext>
            </a:extLst>
          </p:cNvPr>
          <p:cNvSpPr txBox="1"/>
          <p:nvPr/>
        </p:nvSpPr>
        <p:spPr>
          <a:xfrm>
            <a:off x="8837407" y="3014276"/>
            <a:ext cx="10972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B</a:t>
            </a:r>
            <a:endParaRPr kumimoji="0" sz="90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F27F13-E497-18DB-F5E6-4C033A025124}"/>
              </a:ext>
            </a:extLst>
          </p:cNvPr>
          <p:cNvSpPr txBox="1"/>
          <p:nvPr/>
        </p:nvSpPr>
        <p:spPr>
          <a:xfrm>
            <a:off x="0" y="2516070"/>
            <a:ext cx="121889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A/B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선택후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 이유를 작성해주세요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A88BDB-3FD4-2A77-D338-104370D601C1}"/>
              </a:ext>
            </a:extLst>
          </p:cNvPr>
          <p:cNvSpPr txBox="1"/>
          <p:nvPr/>
        </p:nvSpPr>
        <p:spPr>
          <a:xfrm>
            <a:off x="4143152" y="958169"/>
            <a:ext cx="39025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노벨 경제학상 이론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–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투자 심리 실험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7463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5639E8-7AA8-E40A-FCFC-011048558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EA4DE8-CBFB-ED14-7EF4-29CB86A88136}"/>
              </a:ext>
            </a:extLst>
          </p:cNvPr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0976AC-0099-64C6-4D47-8EAE81D9D6E0}"/>
              </a:ext>
            </a:extLst>
          </p:cNvPr>
          <p:cNvSpPr txBox="1"/>
          <p:nvPr/>
        </p:nvSpPr>
        <p:spPr>
          <a:xfrm>
            <a:off x="0" y="1572479"/>
            <a:ext cx="121889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벌금</a:t>
            </a:r>
            <a:r>
              <a:rPr kumimoji="0" lang="ko-KR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을 낸다면 </a:t>
            </a:r>
            <a:r>
              <a:rPr kumimoji="0" lang="ko-KR" altLang="en-US" sz="44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어떤것을</a:t>
            </a:r>
            <a:r>
              <a:rPr kumimoji="0" lang="ko-KR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 선택</a:t>
            </a: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?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F3A9B30-C84C-A834-A908-3B51DDD4A8C6}"/>
              </a:ext>
            </a:extLst>
          </p:cNvPr>
          <p:cNvGrpSpPr/>
          <p:nvPr/>
        </p:nvGrpSpPr>
        <p:grpSpPr>
          <a:xfrm>
            <a:off x="333692" y="4474081"/>
            <a:ext cx="5760720" cy="1371600"/>
            <a:chOff x="333692" y="4474081"/>
            <a:chExt cx="5760720" cy="13716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77F54FF-6E7A-642A-CCD7-E16E51F5EE5E}"/>
                </a:ext>
              </a:extLst>
            </p:cNvPr>
            <p:cNvSpPr/>
            <p:nvPr/>
          </p:nvSpPr>
          <p:spPr>
            <a:xfrm>
              <a:off x="333692" y="4474081"/>
              <a:ext cx="5760720" cy="13716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635121B-01FC-C644-9D9A-A4C254446808}"/>
                </a:ext>
              </a:extLst>
            </p:cNvPr>
            <p:cNvSpPr/>
            <p:nvPr/>
          </p:nvSpPr>
          <p:spPr>
            <a:xfrm>
              <a:off x="333692" y="4474081"/>
              <a:ext cx="5760720" cy="45720"/>
            </a:xfrm>
            <a:prstGeom prst="rect">
              <a:avLst/>
            </a:prstGeom>
            <a:solidFill>
              <a:srgbClr val="D4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887FCA7-65E8-CC9E-E8F4-AB95F218BD95}"/>
                </a:ext>
              </a:extLst>
            </p:cNvPr>
            <p:cNvSpPr txBox="1"/>
            <p:nvPr/>
          </p:nvSpPr>
          <p:spPr>
            <a:xfrm>
              <a:off x="333692" y="4644132"/>
              <a:ext cx="5760720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80% 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확률로     </a:t>
              </a:r>
              <a:r>
                <a:rPr kumimoji="0" lang="en-US" altLang="ko-KR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-</a:t>
              </a: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4000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만원</a:t>
              </a:r>
              <a:endPara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20% 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확률로               </a:t>
              </a: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 -0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원</a:t>
              </a:r>
              <a:endPara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23818999-762F-2C20-B2BA-1973B5476C77}"/>
              </a:ext>
            </a:extLst>
          </p:cNvPr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1E278B-9139-2EED-A2E5-78AE437D653F}"/>
              </a:ext>
            </a:extLst>
          </p:cNvPr>
          <p:cNvSpPr txBox="1"/>
          <p:nvPr/>
        </p:nvSpPr>
        <p:spPr>
          <a:xfrm>
            <a:off x="1713155" y="970023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A7B7B8-6F1D-BEDA-8B1E-0CF75E8562D8}"/>
              </a:ext>
            </a:extLst>
          </p:cNvPr>
          <p:cNvSpPr txBox="1"/>
          <p:nvPr/>
        </p:nvSpPr>
        <p:spPr>
          <a:xfrm rot="10800000">
            <a:off x="9386047" y="487800"/>
            <a:ext cx="12803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“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5DF6EA1-A7B4-EE82-4833-3AE078F2897F}"/>
              </a:ext>
            </a:extLst>
          </p:cNvPr>
          <p:cNvGrpSpPr/>
          <p:nvPr/>
        </p:nvGrpSpPr>
        <p:grpSpPr>
          <a:xfrm>
            <a:off x="6288405" y="4474081"/>
            <a:ext cx="5760720" cy="1371600"/>
            <a:chOff x="6288405" y="4474081"/>
            <a:chExt cx="5760720" cy="1371600"/>
          </a:xfrm>
        </p:grpSpPr>
        <p:sp>
          <p:nvSpPr>
            <p:cNvPr id="3" name="Rectangle 4">
              <a:extLst>
                <a:ext uri="{FF2B5EF4-FFF2-40B4-BE49-F238E27FC236}">
                  <a16:creationId xmlns:a16="http://schemas.microsoft.com/office/drawing/2014/main" id="{7EB5BD45-77BF-69D4-DD91-D499B1E01ECA}"/>
                </a:ext>
              </a:extLst>
            </p:cNvPr>
            <p:cNvSpPr/>
            <p:nvPr/>
          </p:nvSpPr>
          <p:spPr>
            <a:xfrm>
              <a:off x="6288405" y="4474081"/>
              <a:ext cx="5760720" cy="13716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C78A0CB9-1330-9FBE-E996-CFA3C50F4E06}"/>
                </a:ext>
              </a:extLst>
            </p:cNvPr>
            <p:cNvSpPr/>
            <p:nvPr/>
          </p:nvSpPr>
          <p:spPr>
            <a:xfrm>
              <a:off x="6288405" y="4474081"/>
              <a:ext cx="5760720" cy="45720"/>
            </a:xfrm>
            <a:prstGeom prst="rect">
              <a:avLst/>
            </a:prstGeom>
            <a:solidFill>
              <a:srgbClr val="D4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CE29046-AD9C-2775-9E80-ED5C37C90CF9}"/>
                </a:ext>
              </a:extLst>
            </p:cNvPr>
            <p:cNvSpPr txBox="1"/>
            <p:nvPr/>
          </p:nvSpPr>
          <p:spPr>
            <a:xfrm>
              <a:off x="6288405" y="4931281"/>
              <a:ext cx="576072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100% 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확률로 </a:t>
              </a:r>
              <a:r>
                <a:rPr kumimoji="0" lang="en-US" altLang="ko-KR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-3000</a:t>
              </a:r>
              <a:r>
                <a:rPr kumimoji="0" lang="ko-KR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ple SD Gothic Neo"/>
                  <a:ea typeface="맑은 고딕" panose="020B0503020000020004" pitchFamily="50" charset="-127"/>
                  <a:cs typeface="+mn-cs"/>
                </a:rPr>
                <a:t>만원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272B698-6D66-93CB-E51C-6FB1FC87BD0C}"/>
              </a:ext>
            </a:extLst>
          </p:cNvPr>
          <p:cNvSpPr txBox="1"/>
          <p:nvPr/>
        </p:nvSpPr>
        <p:spPr>
          <a:xfrm>
            <a:off x="2665412" y="3014276"/>
            <a:ext cx="10972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A</a:t>
            </a:r>
            <a:endParaRPr kumimoji="0" sz="90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21C94D6-A526-DC30-6AAE-F3F4EF5BAC4C}"/>
              </a:ext>
            </a:extLst>
          </p:cNvPr>
          <p:cNvSpPr txBox="1"/>
          <p:nvPr/>
        </p:nvSpPr>
        <p:spPr>
          <a:xfrm>
            <a:off x="8837407" y="3014276"/>
            <a:ext cx="10972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B</a:t>
            </a:r>
            <a:endParaRPr kumimoji="0" sz="90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23AE1B-B74C-2471-D652-E65FF0D5F8DD}"/>
              </a:ext>
            </a:extLst>
          </p:cNvPr>
          <p:cNvSpPr txBox="1"/>
          <p:nvPr/>
        </p:nvSpPr>
        <p:spPr>
          <a:xfrm>
            <a:off x="0" y="2516070"/>
            <a:ext cx="121889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A/B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선택후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 이유를 작성해주세요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EA5BC3-1600-F1A3-9E59-374C5C2CBE3E}"/>
              </a:ext>
            </a:extLst>
          </p:cNvPr>
          <p:cNvSpPr txBox="1"/>
          <p:nvPr/>
        </p:nvSpPr>
        <p:spPr>
          <a:xfrm>
            <a:off x="4143152" y="958169"/>
            <a:ext cx="39025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노벨 경제학상 이론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–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투자 심리 실험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6441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BE965A-CC23-F343-7BE8-2FBB52771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C039FE-B897-1DF4-818F-C6B861C2A8A6}"/>
              </a:ext>
            </a:extLst>
          </p:cNvPr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11EDDC-1B7F-51CD-6F56-957D95341B93}"/>
              </a:ext>
            </a:extLst>
          </p:cNvPr>
          <p:cNvSpPr txBox="1"/>
          <p:nvPr/>
        </p:nvSpPr>
        <p:spPr>
          <a:xfrm>
            <a:off x="0" y="1572479"/>
            <a:ext cx="121889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반드시 한 주식을 팔아야 한다면</a:t>
            </a: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?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9F05BA-CBB7-5E3F-11CD-4B4518AFDA18}"/>
              </a:ext>
            </a:extLst>
          </p:cNvPr>
          <p:cNvSpPr/>
          <p:nvPr/>
        </p:nvSpPr>
        <p:spPr>
          <a:xfrm>
            <a:off x="3200400" y="3474720"/>
            <a:ext cx="5760720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EAC07F-20A3-C202-76F8-7F990B9A548C}"/>
              </a:ext>
            </a:extLst>
          </p:cNvPr>
          <p:cNvSpPr/>
          <p:nvPr/>
        </p:nvSpPr>
        <p:spPr>
          <a:xfrm>
            <a:off x="3200400" y="3474720"/>
            <a:ext cx="5760720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BEA765-69F7-4454-E102-3FFDB48986F0}"/>
              </a:ext>
            </a:extLst>
          </p:cNvPr>
          <p:cNvSpPr txBox="1"/>
          <p:nvPr/>
        </p:nvSpPr>
        <p:spPr>
          <a:xfrm>
            <a:off x="3200400" y="3931920"/>
            <a:ext cx="5760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chemeClr val="bg1"/>
                </a:solidFill>
                <a:latin typeface="Apple SD Gothic Neo"/>
              </a:rPr>
              <a:t>+20%  |  +10%  |  -10%  |  -20%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85CDBE-9A50-74A4-C818-F74E7DA96535}"/>
              </a:ext>
            </a:extLst>
          </p:cNvPr>
          <p:cNvSpPr txBox="1"/>
          <p:nvPr/>
        </p:nvSpPr>
        <p:spPr>
          <a:xfrm>
            <a:off x="0" y="5178623"/>
            <a:ext cx="121889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4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개 주식의 기업가치 및 투자 규모는 동일하다고 가정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75000"/>
                </a:schemeClr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70E2DD-E0AA-B121-27B5-EA0A086A1B7B}"/>
              </a:ext>
            </a:extLst>
          </p:cNvPr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A44434-7A81-ECA7-42F8-753352DF70C1}"/>
              </a:ext>
            </a:extLst>
          </p:cNvPr>
          <p:cNvSpPr txBox="1"/>
          <p:nvPr/>
        </p:nvSpPr>
        <p:spPr>
          <a:xfrm>
            <a:off x="1713155" y="970023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 dirty="0">
                <a:solidFill>
                  <a:srgbClr val="D4FF00"/>
                </a:solidFill>
                <a:latin typeface="Apple SD Gothic Neo"/>
              </a:rPr>
              <a:t>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EB34F9-D811-0BF0-40ED-5AFEC4F72760}"/>
              </a:ext>
            </a:extLst>
          </p:cNvPr>
          <p:cNvSpPr txBox="1"/>
          <p:nvPr/>
        </p:nvSpPr>
        <p:spPr>
          <a:xfrm rot="10800000">
            <a:off x="9386047" y="487800"/>
            <a:ext cx="12803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0" b="1" i="0" dirty="0">
                <a:solidFill>
                  <a:srgbClr val="D4FF00"/>
                </a:solidFill>
                <a:latin typeface="Apple SD Gothic Neo"/>
              </a:rPr>
              <a:t>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0D8EB2-7940-3180-6DCE-96DC53C153B3}"/>
              </a:ext>
            </a:extLst>
          </p:cNvPr>
          <p:cNvSpPr txBox="1"/>
          <p:nvPr/>
        </p:nvSpPr>
        <p:spPr>
          <a:xfrm>
            <a:off x="4143152" y="958169"/>
            <a:ext cx="39025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노벨 경제학상 이론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–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투자 심리 실험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0526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7E567E-896A-79FC-B943-D044D1DC3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6EE136-A97F-4B90-A8D9-AC958A51D94D}"/>
              </a:ext>
            </a:extLst>
          </p:cNvPr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CF560E-273F-2B81-6ACF-B7882940A0BF}"/>
              </a:ext>
            </a:extLst>
          </p:cNvPr>
          <p:cNvSpPr txBox="1"/>
          <p:nvPr/>
        </p:nvSpPr>
        <p:spPr>
          <a:xfrm>
            <a:off x="0" y="1572479"/>
            <a:ext cx="121889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반드시 한 주식을 팔아야 한다면</a:t>
            </a: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?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D813F0-0F13-842B-9962-531B84CCC41A}"/>
              </a:ext>
            </a:extLst>
          </p:cNvPr>
          <p:cNvSpPr/>
          <p:nvPr/>
        </p:nvSpPr>
        <p:spPr>
          <a:xfrm>
            <a:off x="3200400" y="3474720"/>
            <a:ext cx="5760720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D094A5-4AED-22E7-5C7F-43745614AFD6}"/>
              </a:ext>
            </a:extLst>
          </p:cNvPr>
          <p:cNvSpPr/>
          <p:nvPr/>
        </p:nvSpPr>
        <p:spPr>
          <a:xfrm>
            <a:off x="3200400" y="3474720"/>
            <a:ext cx="5760720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3EF52F-9A53-F91B-9D71-17BEAACC3E6A}"/>
              </a:ext>
            </a:extLst>
          </p:cNvPr>
          <p:cNvSpPr txBox="1"/>
          <p:nvPr/>
        </p:nvSpPr>
        <p:spPr>
          <a:xfrm>
            <a:off x="3200400" y="3931920"/>
            <a:ext cx="57607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+20%  |  +10% 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|  -10%  |  -20%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2DAD37-64A2-D83B-5393-49BFA45FB9E0}"/>
              </a:ext>
            </a:extLst>
          </p:cNvPr>
          <p:cNvSpPr txBox="1"/>
          <p:nvPr/>
        </p:nvSpPr>
        <p:spPr>
          <a:xfrm>
            <a:off x="0" y="5178623"/>
            <a:ext cx="121889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4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개 주식의 기업가치 및 투자 규모는 동일하다고 가정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49E6F6-1731-88C3-DB93-7CD02C7E662B}"/>
              </a:ext>
            </a:extLst>
          </p:cNvPr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94CF9F-13F0-E051-65B5-6E656799EFFC}"/>
              </a:ext>
            </a:extLst>
          </p:cNvPr>
          <p:cNvSpPr txBox="1"/>
          <p:nvPr/>
        </p:nvSpPr>
        <p:spPr>
          <a:xfrm>
            <a:off x="1713155" y="970023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638E1C-746C-08A6-AE68-7C475C992C39}"/>
              </a:ext>
            </a:extLst>
          </p:cNvPr>
          <p:cNvSpPr txBox="1"/>
          <p:nvPr/>
        </p:nvSpPr>
        <p:spPr>
          <a:xfrm rot="10800000">
            <a:off x="9386047" y="487800"/>
            <a:ext cx="12803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1D6341-1620-AE96-F9DA-FC7685CAFFD5}"/>
              </a:ext>
            </a:extLst>
          </p:cNvPr>
          <p:cNvSpPr txBox="1"/>
          <p:nvPr/>
        </p:nvSpPr>
        <p:spPr>
          <a:xfrm>
            <a:off x="4143152" y="958169"/>
            <a:ext cx="39025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노벨 경제학상 이론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–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투자 심리 실험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9571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FFC90-BCC4-4EC0-CC4A-16880F840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EF8012-BD8D-0549-D14A-E570968315A7}"/>
              </a:ext>
            </a:extLst>
          </p:cNvPr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E510C5-F27E-FD6F-D45A-F71CA453C42C}"/>
              </a:ext>
            </a:extLst>
          </p:cNvPr>
          <p:cNvSpPr txBox="1"/>
          <p:nvPr/>
        </p:nvSpPr>
        <p:spPr>
          <a:xfrm>
            <a:off x="0" y="1572479"/>
            <a:ext cx="1218895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텀블러를 판다면</a:t>
            </a:r>
            <a:endParaRPr kumimoji="0" lang="en-US" altLang="ko-KR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400" b="1" dirty="0">
                <a:solidFill>
                  <a:srgbClr val="FFFFFF"/>
                </a:solidFill>
                <a:latin typeface="Apple SD Gothic Neo"/>
              </a:rPr>
              <a:t>최소 얼마 이상에 팔 것인가</a:t>
            </a:r>
            <a:r>
              <a:rPr lang="en-US" altLang="ko-KR" sz="4400" b="1" dirty="0">
                <a:solidFill>
                  <a:srgbClr val="FFFFFF"/>
                </a:solidFill>
                <a:latin typeface="Apple SD Gothic Neo"/>
              </a:rPr>
              <a:t>?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0A590E-7D49-2C4F-E4ED-CE8E3B5184F6}"/>
              </a:ext>
            </a:extLst>
          </p:cNvPr>
          <p:cNvSpPr/>
          <p:nvPr/>
        </p:nvSpPr>
        <p:spPr>
          <a:xfrm>
            <a:off x="3200400" y="3474720"/>
            <a:ext cx="5760720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C4E61B-19B9-5427-DA03-2DEC9D7A6C98}"/>
              </a:ext>
            </a:extLst>
          </p:cNvPr>
          <p:cNvSpPr/>
          <p:nvPr/>
        </p:nvSpPr>
        <p:spPr>
          <a:xfrm>
            <a:off x="3200400" y="3474720"/>
            <a:ext cx="5760720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5FF0A6-343F-59FE-6626-6CC1D50D48A4}"/>
              </a:ext>
            </a:extLst>
          </p:cNvPr>
          <p:cNvSpPr txBox="1"/>
          <p:nvPr/>
        </p:nvSpPr>
        <p:spPr>
          <a:xfrm>
            <a:off x="3200400" y="3931920"/>
            <a:ext cx="5760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당신의 답을 적어주세요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3CA709-1A1F-5503-F273-390AAFBFB32C}"/>
              </a:ext>
            </a:extLst>
          </p:cNvPr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9BB303-82D5-6F2D-4B0D-FA111933897C}"/>
              </a:ext>
            </a:extLst>
          </p:cNvPr>
          <p:cNvSpPr txBox="1"/>
          <p:nvPr/>
        </p:nvSpPr>
        <p:spPr>
          <a:xfrm>
            <a:off x="1713155" y="970023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B694E3-A90F-7506-7019-3D551A2826D4}"/>
              </a:ext>
            </a:extLst>
          </p:cNvPr>
          <p:cNvSpPr txBox="1"/>
          <p:nvPr/>
        </p:nvSpPr>
        <p:spPr>
          <a:xfrm rot="10800000">
            <a:off x="9386047" y="487800"/>
            <a:ext cx="12803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26C52F-4A5C-D48A-827A-3CDFB6200E55}"/>
              </a:ext>
            </a:extLst>
          </p:cNvPr>
          <p:cNvSpPr txBox="1"/>
          <p:nvPr/>
        </p:nvSpPr>
        <p:spPr>
          <a:xfrm>
            <a:off x="4143152" y="958169"/>
            <a:ext cx="39025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노벨 경제학상 이론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–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투자 심리 실험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4554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95CE5-FF09-D36C-D085-DB9EF1480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3B4CD3-57CB-2E72-F11E-2314B37DBB1D}"/>
              </a:ext>
            </a:extLst>
          </p:cNvPr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9F4A7-E048-7781-4015-F753EB3DB6E6}"/>
              </a:ext>
            </a:extLst>
          </p:cNvPr>
          <p:cNvSpPr txBox="1"/>
          <p:nvPr/>
        </p:nvSpPr>
        <p:spPr>
          <a:xfrm>
            <a:off x="0" y="1572479"/>
            <a:ext cx="1218895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만약 못 받았다면</a:t>
            </a:r>
            <a:r>
              <a:rPr kumimoji="0" lang="en-US" altLang="ko-KR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,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400" b="1" dirty="0">
                <a:solidFill>
                  <a:srgbClr val="FFFFFF"/>
                </a:solidFill>
                <a:latin typeface="Apple SD Gothic Neo"/>
                <a:ea typeface="맑은 고딕" panose="020B0503020000020004" pitchFamily="50" charset="-127"/>
              </a:rPr>
              <a:t>옆사람에게 얼마에 사올 것인가</a:t>
            </a:r>
            <a:r>
              <a:rPr lang="en-US" altLang="ko-KR" sz="4400" b="1" dirty="0">
                <a:solidFill>
                  <a:srgbClr val="FFFFFF"/>
                </a:solidFill>
                <a:latin typeface="Apple SD Gothic Neo"/>
                <a:ea typeface="맑은 고딕" panose="020B0503020000020004" pitchFamily="50" charset="-127"/>
              </a:rPr>
              <a:t>?</a:t>
            </a: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547AC6-8B0D-0C91-87C2-034546D8C923}"/>
              </a:ext>
            </a:extLst>
          </p:cNvPr>
          <p:cNvSpPr/>
          <p:nvPr/>
        </p:nvSpPr>
        <p:spPr>
          <a:xfrm>
            <a:off x="3200400" y="3474720"/>
            <a:ext cx="5760720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153AF5-DF9C-FA17-2C73-B54DBE2AAD00}"/>
              </a:ext>
            </a:extLst>
          </p:cNvPr>
          <p:cNvSpPr/>
          <p:nvPr/>
        </p:nvSpPr>
        <p:spPr>
          <a:xfrm>
            <a:off x="3200400" y="3474720"/>
            <a:ext cx="5760720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7E908C-588E-32CA-3E06-B1D7FA34907E}"/>
              </a:ext>
            </a:extLst>
          </p:cNvPr>
          <p:cNvSpPr txBox="1"/>
          <p:nvPr/>
        </p:nvSpPr>
        <p:spPr>
          <a:xfrm>
            <a:off x="3200400" y="3931920"/>
            <a:ext cx="57607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당신의 답을 적어주세요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8CED79-8B22-29F8-AB07-45497C36F6B6}"/>
              </a:ext>
            </a:extLst>
          </p:cNvPr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1E62FF-AEA4-0416-0579-6D749F9DE28D}"/>
              </a:ext>
            </a:extLst>
          </p:cNvPr>
          <p:cNvSpPr txBox="1"/>
          <p:nvPr/>
        </p:nvSpPr>
        <p:spPr>
          <a:xfrm>
            <a:off x="1713155" y="970023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D30E60-D6C9-49A4-F2EF-4E71E01DDED4}"/>
              </a:ext>
            </a:extLst>
          </p:cNvPr>
          <p:cNvSpPr txBox="1"/>
          <p:nvPr/>
        </p:nvSpPr>
        <p:spPr>
          <a:xfrm rot="10800000">
            <a:off x="9386047" y="487800"/>
            <a:ext cx="12803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1DAC7A-551C-C955-BF8C-299EE4FCCA31}"/>
              </a:ext>
            </a:extLst>
          </p:cNvPr>
          <p:cNvSpPr txBox="1"/>
          <p:nvPr/>
        </p:nvSpPr>
        <p:spPr>
          <a:xfrm>
            <a:off x="4143152" y="958169"/>
            <a:ext cx="39025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노벨 경제학상 이론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–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투자 심리 실험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2750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F18A6C-8F02-9898-3EE4-9EBD9F6AE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986521-F80F-BD96-5E91-B510BFD7DBA7}"/>
              </a:ext>
            </a:extLst>
          </p:cNvPr>
          <p:cNvSpPr/>
          <p:nvPr/>
        </p:nvSpPr>
        <p:spPr>
          <a:xfrm>
            <a:off x="502920" y="457200"/>
            <a:ext cx="45720" cy="59436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AD8AD7-8C1C-2FA2-7388-F78A43392032}"/>
              </a:ext>
            </a:extLst>
          </p:cNvPr>
          <p:cNvSpPr txBox="1"/>
          <p:nvPr/>
        </p:nvSpPr>
        <p:spPr>
          <a:xfrm>
            <a:off x="685800" y="502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 dirty="0" err="1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자가진단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31453C-ABED-3858-F662-3971E69D268A}"/>
              </a:ext>
            </a:extLst>
          </p:cNvPr>
          <p:cNvSpPr txBox="1"/>
          <p:nvPr/>
        </p:nvSpPr>
        <p:spPr>
          <a:xfrm>
            <a:off x="685800" y="800100"/>
            <a:ext cx="9144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당신의</a:t>
            </a: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 </a:t>
            </a:r>
            <a:r>
              <a:rPr kumimoji="0" sz="3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투자</a:t>
            </a: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 </a:t>
            </a:r>
            <a:r>
              <a:rPr lang="ko-KR" altLang="en-US" sz="3800" b="1" dirty="0">
                <a:solidFill>
                  <a:srgbClr val="FFFFFF"/>
                </a:solidFill>
                <a:latin typeface="Apple SD Gothic Neo"/>
                <a:ea typeface="맑은 고딕" panose="020B0503020000020004" pitchFamily="50" charset="-127"/>
              </a:rPr>
              <a:t>성향은</a:t>
            </a: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843ABE-1B1A-AF9C-01C9-B6FCA78B5010}"/>
              </a:ext>
            </a:extLst>
          </p:cNvPr>
          <p:cNvSpPr txBox="1"/>
          <p:nvPr/>
        </p:nvSpPr>
        <p:spPr>
          <a:xfrm>
            <a:off x="685800" y="1485900"/>
            <a:ext cx="1059789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ko-KR" altLang="ko-KR" sz="1600" dirty="0">
                <a:solidFill>
                  <a:schemeClr val="bg1"/>
                </a:solidFill>
              </a:rPr>
              <a:t>여러분에게 1,000만 원의 여윳돈이 생겼고, 평소 정말 갖고 싶었던 명품 가방(또는 시계)</a:t>
            </a: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ko-KR" altLang="en-US" sz="1600" dirty="0">
                <a:solidFill>
                  <a:schemeClr val="bg1"/>
                </a:solidFill>
              </a:rPr>
              <a:t>등</a:t>
            </a:r>
            <a:r>
              <a:rPr lang="ko-KR" altLang="ko-KR" sz="1600" dirty="0">
                <a:solidFill>
                  <a:schemeClr val="bg1"/>
                </a:solidFill>
              </a:rPr>
              <a:t>을 사러 백화점에 갔습니다. 여러분은 어떤 행동을 </a:t>
            </a:r>
            <a:r>
              <a:rPr lang="ko-KR" altLang="ko-KR" sz="1600" dirty="0" err="1">
                <a:solidFill>
                  <a:schemeClr val="bg1"/>
                </a:solidFill>
              </a:rPr>
              <a:t>하실지</a:t>
            </a:r>
            <a:r>
              <a:rPr lang="ko-KR" altLang="ko-KR" sz="1600" dirty="0">
                <a:solidFill>
                  <a:schemeClr val="bg1"/>
                </a:solidFill>
              </a:rPr>
              <a:t> 골라보세요. 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1726FD-2134-E4DC-77E2-01B5BCD89B12}"/>
              </a:ext>
            </a:extLst>
          </p:cNvPr>
          <p:cNvSpPr/>
          <p:nvPr/>
        </p:nvSpPr>
        <p:spPr>
          <a:xfrm>
            <a:off x="685800" y="2103120"/>
            <a:ext cx="10515600" cy="2743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8D96D504-7DFC-2D14-81B0-ACF0CF6A02AB}"/>
              </a:ext>
            </a:extLst>
          </p:cNvPr>
          <p:cNvGrpSpPr/>
          <p:nvPr/>
        </p:nvGrpSpPr>
        <p:grpSpPr>
          <a:xfrm>
            <a:off x="685800" y="2283714"/>
            <a:ext cx="9326880" cy="646331"/>
            <a:chOff x="685800" y="2318004"/>
            <a:chExt cx="9326880" cy="64633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06545CE-128C-0304-9293-50500C8F8C3E}"/>
                </a:ext>
              </a:extLst>
            </p:cNvPr>
            <p:cNvSpPr/>
            <p:nvPr/>
          </p:nvSpPr>
          <p:spPr>
            <a:xfrm>
              <a:off x="685800" y="2456503"/>
              <a:ext cx="502920" cy="369332"/>
            </a:xfrm>
            <a:prstGeom prst="rect">
              <a:avLst/>
            </a:prstGeom>
            <a:solidFill>
              <a:srgbClr val="D4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A15F326-FCB2-16CF-DD36-994848CDE586}"/>
                </a:ext>
              </a:extLst>
            </p:cNvPr>
            <p:cNvSpPr txBox="1"/>
            <p:nvPr/>
          </p:nvSpPr>
          <p:spPr>
            <a:xfrm>
              <a:off x="685800" y="2456503"/>
              <a:ext cx="502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2072DFC-9212-E661-D83A-CF74BB7F5101}"/>
                </a:ext>
              </a:extLst>
            </p:cNvPr>
            <p:cNvSpPr txBox="1"/>
            <p:nvPr/>
          </p:nvSpPr>
          <p:spPr>
            <a:xfrm>
              <a:off x="1325880" y="2318004"/>
              <a:ext cx="86868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ko-KR" altLang="ko-KR" dirty="0">
                  <a:solidFill>
                    <a:schemeClr val="bg1"/>
                  </a:solidFill>
                </a:rPr>
                <a:t>아침 일찍 백화점 문 열자마자 달려가서 줄을 서고,</a:t>
              </a:r>
              <a:endParaRPr lang="en-US" altLang="ko-KR" dirty="0">
                <a:solidFill>
                  <a:schemeClr val="bg1"/>
                </a:solidFill>
              </a:endParaRPr>
            </a:p>
            <a:p>
              <a:pPr lvl="0"/>
              <a:r>
                <a:rPr lang="ko-KR" altLang="ko-KR" dirty="0">
                  <a:solidFill>
                    <a:schemeClr val="bg1"/>
                  </a:solidFill>
                </a:rPr>
                <a:t>매장에 들어가자마자</a:t>
              </a:r>
              <a:r>
                <a:rPr lang="en-US" altLang="ko-KR" dirty="0">
                  <a:solidFill>
                    <a:schemeClr val="bg1"/>
                  </a:solidFill>
                </a:rPr>
                <a:t> </a:t>
              </a:r>
              <a:r>
                <a:rPr lang="ko-KR" altLang="ko-KR" dirty="0">
                  <a:solidFill>
                    <a:schemeClr val="bg1"/>
                  </a:solidFill>
                </a:rPr>
                <a:t>재고가 있는 인기 상품을 앞뒤 안 재고 바로 결제한다.</a:t>
              </a:r>
              <a:endParaRPr kumimoji="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2F27EED3-D4D0-A196-31D2-82B8771342D9}"/>
              </a:ext>
            </a:extLst>
          </p:cNvPr>
          <p:cNvGrpSpPr/>
          <p:nvPr/>
        </p:nvGrpSpPr>
        <p:grpSpPr>
          <a:xfrm>
            <a:off x="685800" y="3417903"/>
            <a:ext cx="10817224" cy="646331"/>
            <a:chOff x="685800" y="3476220"/>
            <a:chExt cx="10817224" cy="646331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5B85428-C820-F4DA-DD72-7F20C6AE5126}"/>
                </a:ext>
              </a:extLst>
            </p:cNvPr>
            <p:cNvSpPr/>
            <p:nvPr/>
          </p:nvSpPr>
          <p:spPr>
            <a:xfrm>
              <a:off x="685800" y="3614719"/>
              <a:ext cx="502920" cy="369332"/>
            </a:xfrm>
            <a:prstGeom prst="rect">
              <a:avLst/>
            </a:prstGeom>
            <a:solidFill>
              <a:srgbClr val="2222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A7AF1A2-00CB-1812-31E1-FE8945F467D4}"/>
                </a:ext>
              </a:extLst>
            </p:cNvPr>
            <p:cNvSpPr txBox="1"/>
            <p:nvPr/>
          </p:nvSpPr>
          <p:spPr>
            <a:xfrm>
              <a:off x="685800" y="3614719"/>
              <a:ext cx="502920" cy="369332"/>
            </a:xfrm>
            <a:prstGeom prst="rect">
              <a:avLst/>
            </a:prstGeom>
            <a:solidFill>
              <a:srgbClr val="D4FF00"/>
            </a:solidFill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7BD1177-CD48-5D1A-7D74-C4899F2A418D}"/>
                </a:ext>
              </a:extLst>
            </p:cNvPr>
            <p:cNvSpPr txBox="1"/>
            <p:nvPr/>
          </p:nvSpPr>
          <p:spPr>
            <a:xfrm>
              <a:off x="1325879" y="3476220"/>
              <a:ext cx="1017714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ko-KR" altLang="ko-KR" dirty="0">
                  <a:solidFill>
                    <a:schemeClr val="bg1"/>
                  </a:solidFill>
                </a:rPr>
                <a:t>매장 직원에게 가죽 재질, 바느질 마감, 보증 기간을 꼼꼼히 묻는다. 집에 돌아와 </a:t>
              </a:r>
              <a:r>
                <a:rPr lang="ko-KR" altLang="en-US" dirty="0">
                  <a:solidFill>
                    <a:schemeClr val="bg1"/>
                  </a:solidFill>
                </a:rPr>
                <a:t>인</a:t>
              </a:r>
              <a:r>
                <a:rPr lang="ko-KR" altLang="ko-KR" dirty="0">
                  <a:solidFill>
                    <a:schemeClr val="bg1"/>
                  </a:solidFill>
                </a:rPr>
                <a:t>터넷으로</a:t>
              </a:r>
              <a:endParaRPr lang="en-US" altLang="ko-KR" dirty="0">
                <a:solidFill>
                  <a:schemeClr val="bg1"/>
                </a:solidFill>
              </a:endParaRPr>
            </a:p>
            <a:p>
              <a:pPr lvl="0"/>
              <a:r>
                <a:rPr lang="ko-KR" altLang="ko-KR" dirty="0">
                  <a:solidFill>
                    <a:schemeClr val="bg1"/>
                  </a:solidFill>
                </a:rPr>
                <a:t>이 모델의 5년간 중고 시세 방어율, 감가상각비까지 엑셀로 계산해 본 뒤 구매를 결정한다.</a:t>
              </a:r>
              <a:endParaRPr kumimoji="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AFC9801-9A93-3C5E-D002-2E022C13A79B}"/>
              </a:ext>
            </a:extLst>
          </p:cNvPr>
          <p:cNvGrpSpPr/>
          <p:nvPr/>
        </p:nvGrpSpPr>
        <p:grpSpPr>
          <a:xfrm>
            <a:off x="685800" y="4552092"/>
            <a:ext cx="10597896" cy="646331"/>
            <a:chOff x="685800" y="4575786"/>
            <a:chExt cx="10597896" cy="646331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28BF355-7C88-A385-8F95-4F3EC33EA18F}"/>
                </a:ext>
              </a:extLst>
            </p:cNvPr>
            <p:cNvSpPr/>
            <p:nvPr/>
          </p:nvSpPr>
          <p:spPr>
            <a:xfrm>
              <a:off x="685800" y="4714285"/>
              <a:ext cx="502920" cy="369332"/>
            </a:xfrm>
            <a:prstGeom prst="rect">
              <a:avLst/>
            </a:prstGeom>
            <a:solidFill>
              <a:srgbClr val="2222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267A26B-5877-9B4C-B630-08E095AA177E}"/>
                </a:ext>
              </a:extLst>
            </p:cNvPr>
            <p:cNvSpPr txBox="1"/>
            <p:nvPr/>
          </p:nvSpPr>
          <p:spPr>
            <a:xfrm>
              <a:off x="685800" y="4714285"/>
              <a:ext cx="502920" cy="369332"/>
            </a:xfrm>
            <a:prstGeom prst="rect">
              <a:avLst/>
            </a:prstGeom>
            <a:solidFill>
              <a:srgbClr val="D4FF00"/>
            </a:solidFill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769837C-FFA2-8AC2-D16D-87C97B6BE664}"/>
                </a:ext>
              </a:extLst>
            </p:cNvPr>
            <p:cNvSpPr txBox="1"/>
            <p:nvPr/>
          </p:nvSpPr>
          <p:spPr>
            <a:xfrm>
              <a:off x="1325880" y="4575786"/>
              <a:ext cx="995781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ko-KR" altLang="ko-KR" dirty="0">
                  <a:solidFill>
                    <a:schemeClr val="bg1"/>
                  </a:solidFill>
                </a:rPr>
                <a:t>백화점은 너무 비싸." 백화점 매장에서는 구경만 하고 착용만 해본 뒤, 당근마켓이나 중고 명품 사이트를 며칠 동안 </a:t>
              </a:r>
              <a:r>
                <a:rPr lang="ko-KR" altLang="ko-KR" dirty="0" err="1">
                  <a:solidFill>
                    <a:schemeClr val="bg1"/>
                  </a:solidFill>
                </a:rPr>
                <a:t>새로고침하며</a:t>
              </a:r>
              <a:r>
                <a:rPr lang="ko-KR" altLang="ko-KR" dirty="0">
                  <a:solidFill>
                    <a:schemeClr val="bg1"/>
                  </a:solidFill>
                </a:rPr>
                <a:t> 원가보다 30% 이상 싸게 나온 '</a:t>
              </a:r>
              <a:r>
                <a:rPr lang="ko-KR" altLang="ko-KR" dirty="0" err="1">
                  <a:solidFill>
                    <a:schemeClr val="bg1"/>
                  </a:solidFill>
                </a:rPr>
                <a:t>급매물'이</a:t>
              </a:r>
              <a:r>
                <a:rPr lang="ko-KR" altLang="ko-KR" dirty="0">
                  <a:solidFill>
                    <a:schemeClr val="bg1"/>
                  </a:solidFill>
                </a:rPr>
                <a:t> 있을 때만 산다.</a:t>
              </a:r>
              <a:endParaRPr kumimoji="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259A5CA1-F7EE-631A-2C16-DE85E7A135C3}"/>
              </a:ext>
            </a:extLst>
          </p:cNvPr>
          <p:cNvGrpSpPr/>
          <p:nvPr/>
        </p:nvGrpSpPr>
        <p:grpSpPr>
          <a:xfrm>
            <a:off x="685800" y="5686282"/>
            <a:ext cx="10401300" cy="646331"/>
            <a:chOff x="685800" y="5720572"/>
            <a:chExt cx="10401300" cy="64633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66F56F7-230C-B617-BA7F-5A5A55272D05}"/>
                </a:ext>
              </a:extLst>
            </p:cNvPr>
            <p:cNvSpPr/>
            <p:nvPr/>
          </p:nvSpPr>
          <p:spPr>
            <a:xfrm>
              <a:off x="685800" y="5859071"/>
              <a:ext cx="502920" cy="369332"/>
            </a:xfrm>
            <a:prstGeom prst="rect">
              <a:avLst/>
            </a:prstGeom>
            <a:solidFill>
              <a:srgbClr val="2222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801CD68-A4ED-F65B-E144-4EBA03CCAD3B}"/>
                </a:ext>
              </a:extLst>
            </p:cNvPr>
            <p:cNvSpPr txBox="1"/>
            <p:nvPr/>
          </p:nvSpPr>
          <p:spPr>
            <a:xfrm>
              <a:off x="685800" y="5859071"/>
              <a:ext cx="502920" cy="369332"/>
            </a:xfrm>
            <a:prstGeom prst="rect">
              <a:avLst/>
            </a:prstGeom>
            <a:solidFill>
              <a:srgbClr val="D4FF00"/>
            </a:solidFill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48C44FC-1448-F913-AAEC-E4B85F769E90}"/>
                </a:ext>
              </a:extLst>
            </p:cNvPr>
            <p:cNvSpPr txBox="1"/>
            <p:nvPr/>
          </p:nvSpPr>
          <p:spPr>
            <a:xfrm>
              <a:off x="1325880" y="5720572"/>
              <a:ext cx="976122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ko-KR" altLang="ko-KR" dirty="0">
                  <a:solidFill>
                    <a:schemeClr val="bg1"/>
                  </a:solidFill>
                </a:rPr>
                <a:t>평소엔 관심 없었는데, 요즘 인스타그램이나 유튜브에서 연예인들과 </a:t>
              </a:r>
              <a:r>
                <a:rPr lang="ko-KR" altLang="ko-KR" dirty="0" err="1">
                  <a:solidFill>
                    <a:schemeClr val="bg1"/>
                  </a:solidFill>
                </a:rPr>
                <a:t>인플루언서들이</a:t>
              </a:r>
              <a:endParaRPr lang="en-US" altLang="ko-KR" dirty="0">
                <a:solidFill>
                  <a:schemeClr val="bg1"/>
                </a:solidFill>
              </a:endParaRPr>
            </a:p>
            <a:p>
              <a:pPr lvl="0"/>
              <a:r>
                <a:rPr lang="ko-KR" altLang="ko-KR" dirty="0">
                  <a:solidFill>
                    <a:schemeClr val="bg1"/>
                  </a:solidFill>
                </a:rPr>
                <a:t>너도나도 들고 나와서 "어머, 저건 지금 꼭 사야 해!" 하고 충동적으로 매장에 가서 산다.</a:t>
              </a:r>
              <a:endParaRPr kumimoji="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5434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44FD7D-357E-D9A3-BF4B-3CB836359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280806-63AB-655B-EFEC-C6AB844F380C}"/>
              </a:ext>
            </a:extLst>
          </p:cNvPr>
          <p:cNvSpPr/>
          <p:nvPr/>
        </p:nvSpPr>
        <p:spPr>
          <a:xfrm>
            <a:off x="502920" y="457200"/>
            <a:ext cx="45720" cy="59436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6E0187-2F3E-3CC3-ED29-70AF14E7B9AB}"/>
              </a:ext>
            </a:extLst>
          </p:cNvPr>
          <p:cNvSpPr txBox="1"/>
          <p:nvPr/>
        </p:nvSpPr>
        <p:spPr>
          <a:xfrm>
            <a:off x="685800" y="199102"/>
            <a:ext cx="9144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정답확인</a:t>
            </a:r>
            <a:endParaRPr kumimoji="0" sz="13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CB5011A3-1393-3909-904F-A108CEF99F44}"/>
              </a:ext>
            </a:extLst>
          </p:cNvPr>
          <p:cNvGrpSpPr/>
          <p:nvPr/>
        </p:nvGrpSpPr>
        <p:grpSpPr>
          <a:xfrm>
            <a:off x="797878" y="555579"/>
            <a:ext cx="10597896" cy="1323439"/>
            <a:chOff x="685800" y="2318004"/>
            <a:chExt cx="9326880" cy="132343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C5D285E-5121-AAB6-14A5-833C8015B3D6}"/>
                </a:ext>
              </a:extLst>
            </p:cNvPr>
            <p:cNvSpPr/>
            <p:nvPr/>
          </p:nvSpPr>
          <p:spPr>
            <a:xfrm>
              <a:off x="685800" y="2456503"/>
              <a:ext cx="502920" cy="369332"/>
            </a:xfrm>
            <a:prstGeom prst="rect">
              <a:avLst/>
            </a:prstGeom>
            <a:solidFill>
              <a:srgbClr val="D4FF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704C072-EC92-AF3F-6578-4529910FE313}"/>
                </a:ext>
              </a:extLst>
            </p:cNvPr>
            <p:cNvSpPr txBox="1"/>
            <p:nvPr/>
          </p:nvSpPr>
          <p:spPr>
            <a:xfrm>
              <a:off x="685800" y="2456503"/>
              <a:ext cx="502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C0A2D19-E9BD-9736-E9C0-243A67DEA00A}"/>
                </a:ext>
              </a:extLst>
            </p:cNvPr>
            <p:cNvSpPr txBox="1"/>
            <p:nvPr/>
          </p:nvSpPr>
          <p:spPr>
            <a:xfrm>
              <a:off x="1325880" y="2318004"/>
              <a:ext cx="8686800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ko-KR" sz="1600" b="1" dirty="0">
                  <a:solidFill>
                    <a:schemeClr val="bg1"/>
                  </a:solidFill>
                </a:rPr>
                <a:t>주식 스타일:</a:t>
              </a:r>
              <a:r>
                <a:rPr lang="ko-KR" altLang="ko-KR" sz="1600" dirty="0">
                  <a:solidFill>
                    <a:schemeClr val="bg1"/>
                  </a:solidFill>
                </a:rPr>
                <a:t> 거래량이 터지면서 전고점을 뚫고 올라가는 종목에 과감하게 올라타는 </a:t>
              </a:r>
              <a:r>
                <a:rPr lang="ko-KR" altLang="ko-KR" sz="1600" b="1" dirty="0">
                  <a:solidFill>
                    <a:schemeClr val="bg1"/>
                  </a:solidFill>
                </a:rPr>
                <a:t>'돌파 매매'</a:t>
              </a:r>
              <a:r>
                <a:rPr lang="ko-KR" altLang="ko-KR" sz="1600" dirty="0">
                  <a:solidFill>
                    <a:schemeClr val="bg1"/>
                  </a:solidFill>
                </a:rPr>
                <a:t> 스타일입니다. 가격이 비싸더라도 '더 비싸게 팔면 </a:t>
              </a:r>
              <a:r>
                <a:rPr lang="ko-KR" altLang="ko-KR" sz="1600" dirty="0" err="1">
                  <a:solidFill>
                    <a:schemeClr val="bg1"/>
                  </a:solidFill>
                </a:rPr>
                <a:t>된다'는</a:t>
              </a:r>
              <a:r>
                <a:rPr lang="ko-KR" altLang="ko-KR" sz="1600" dirty="0">
                  <a:solidFill>
                    <a:schemeClr val="bg1"/>
                  </a:solidFill>
                </a:rPr>
                <a:t> 마인드입니다.</a:t>
              </a:r>
              <a:endParaRPr lang="en-US" altLang="ko-KR" sz="1600" dirty="0">
                <a:solidFill>
                  <a:schemeClr val="bg1"/>
                </a:solidFill>
              </a:endParaRPr>
            </a:p>
            <a:p>
              <a:endParaRPr lang="ko-KR" altLang="ko-KR" sz="1600" dirty="0">
                <a:solidFill>
                  <a:schemeClr val="bg1"/>
                </a:solidFill>
              </a:endParaRPr>
            </a:p>
            <a:p>
              <a:r>
                <a:rPr lang="ko-KR" altLang="ko-KR" sz="1600" b="1" dirty="0">
                  <a:solidFill>
                    <a:schemeClr val="bg1"/>
                  </a:solidFill>
                </a:rPr>
                <a:t>개미의 위험 요소:</a:t>
              </a:r>
              <a:r>
                <a:rPr lang="ko-KR" altLang="ko-KR" sz="1600" dirty="0">
                  <a:solidFill>
                    <a:schemeClr val="bg1"/>
                  </a:solidFill>
                </a:rPr>
                <a:t> 장대양봉 꼭대기에서 샀다가 세력들의 물량 넘기기에 당해 '</a:t>
              </a:r>
              <a:r>
                <a:rPr lang="ko-KR" altLang="ko-KR" sz="1600" dirty="0" err="1">
                  <a:solidFill>
                    <a:schemeClr val="bg1"/>
                  </a:solidFill>
                </a:rPr>
                <a:t>상투'를</a:t>
              </a:r>
              <a:r>
                <a:rPr lang="ko-KR" altLang="ko-KR" sz="1600" dirty="0">
                  <a:solidFill>
                    <a:schemeClr val="bg1"/>
                  </a:solidFill>
                </a:rPr>
                <a:t> 잡을 위험이 가장 큽니다. 칼 같은 </a:t>
              </a:r>
              <a:r>
                <a:rPr lang="ko-KR" altLang="ko-KR" sz="1600" dirty="0" err="1">
                  <a:solidFill>
                    <a:schemeClr val="bg1"/>
                  </a:solidFill>
                </a:rPr>
                <a:t>손절</a:t>
              </a:r>
              <a:r>
                <a:rPr lang="ko-KR" altLang="ko-KR" sz="1600" dirty="0">
                  <a:solidFill>
                    <a:schemeClr val="bg1"/>
                  </a:solidFill>
                </a:rPr>
                <a:t> 원칙이 필수인 분들입니다.</a:t>
              </a: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56E76551-5419-4E9E-2EEE-3BA4A2F0398C}"/>
              </a:ext>
            </a:extLst>
          </p:cNvPr>
          <p:cNvGrpSpPr/>
          <p:nvPr/>
        </p:nvGrpSpPr>
        <p:grpSpPr>
          <a:xfrm>
            <a:off x="797878" y="2148872"/>
            <a:ext cx="10817224" cy="1323439"/>
            <a:chOff x="685800" y="3476220"/>
            <a:chExt cx="10817224" cy="132343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452D18E-FF01-4D9F-0A0F-8BA0FD798075}"/>
                </a:ext>
              </a:extLst>
            </p:cNvPr>
            <p:cNvSpPr/>
            <p:nvPr/>
          </p:nvSpPr>
          <p:spPr>
            <a:xfrm>
              <a:off x="685800" y="3614719"/>
              <a:ext cx="502920" cy="369332"/>
            </a:xfrm>
            <a:prstGeom prst="rect">
              <a:avLst/>
            </a:prstGeom>
            <a:solidFill>
              <a:srgbClr val="2222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9996DA4-2E98-C2BC-75BB-CDAE28ACEAFE}"/>
                </a:ext>
              </a:extLst>
            </p:cNvPr>
            <p:cNvSpPr txBox="1"/>
            <p:nvPr/>
          </p:nvSpPr>
          <p:spPr>
            <a:xfrm>
              <a:off x="685800" y="3614719"/>
              <a:ext cx="502920" cy="369332"/>
            </a:xfrm>
            <a:prstGeom prst="rect">
              <a:avLst/>
            </a:prstGeom>
            <a:solidFill>
              <a:srgbClr val="D4FF00"/>
            </a:solidFill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C39C31E-9595-EEBD-48B6-DA6419146E0A}"/>
                </a:ext>
              </a:extLst>
            </p:cNvPr>
            <p:cNvSpPr txBox="1"/>
            <p:nvPr/>
          </p:nvSpPr>
          <p:spPr>
            <a:xfrm>
              <a:off x="1325879" y="3476220"/>
              <a:ext cx="10177145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ko-KR" sz="1600" b="1" dirty="0">
                  <a:solidFill>
                    <a:schemeClr val="bg1"/>
                  </a:solidFill>
                </a:rPr>
                <a:t>주식 스타일:</a:t>
              </a:r>
              <a:r>
                <a:rPr lang="ko-KR" altLang="ko-KR" sz="1600" dirty="0">
                  <a:solidFill>
                    <a:schemeClr val="bg1"/>
                  </a:solidFill>
                </a:rPr>
                <a:t> 기업의 재무제표, PBR, PER, 미래 성장성까지 완벽하게 분석하는 '정석 가치 </a:t>
              </a:r>
              <a:r>
                <a:rPr lang="ko-KR" altLang="ko-KR" sz="1600" dirty="0" err="1">
                  <a:solidFill>
                    <a:schemeClr val="bg1"/>
                  </a:solidFill>
                </a:rPr>
                <a:t>투자자'입니다</a:t>
              </a:r>
              <a:r>
                <a:rPr lang="ko-KR" altLang="ko-KR" sz="1600" dirty="0">
                  <a:solidFill>
                    <a:schemeClr val="bg1"/>
                  </a:solidFill>
                </a:rPr>
                <a:t>. 확신이 들기 전까지는 절대 예수금을 쓰지 않습니다.</a:t>
              </a:r>
              <a:endParaRPr lang="en-US" altLang="ko-KR" sz="1600" dirty="0">
                <a:solidFill>
                  <a:schemeClr val="bg1"/>
                </a:solidFill>
              </a:endParaRPr>
            </a:p>
            <a:p>
              <a:endParaRPr lang="ko-KR" altLang="ko-KR" sz="1600" dirty="0">
                <a:solidFill>
                  <a:schemeClr val="bg1"/>
                </a:solidFill>
              </a:endParaRPr>
            </a:p>
            <a:p>
              <a:r>
                <a:rPr lang="ko-KR" altLang="ko-KR" sz="1600" b="1" dirty="0">
                  <a:solidFill>
                    <a:schemeClr val="bg1"/>
                  </a:solidFill>
                </a:rPr>
                <a:t>개미의 위험 요소:</a:t>
              </a:r>
              <a:r>
                <a:rPr lang="ko-KR" altLang="ko-KR" sz="1600" dirty="0">
                  <a:solidFill>
                    <a:schemeClr val="bg1"/>
                  </a:solidFill>
                </a:rPr>
                <a:t> 분석만 하다가 매수 타이밍을 놓치는 경우가 많고, 장이 불타오를 때 소외감을 느끼기 쉽습니다. 소위 '공부하다 날 지새우는' 스타일입니다.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94DEF43-E559-24E4-8853-5E7FAE4B0949}"/>
              </a:ext>
            </a:extLst>
          </p:cNvPr>
          <p:cNvGrpSpPr/>
          <p:nvPr/>
        </p:nvGrpSpPr>
        <p:grpSpPr>
          <a:xfrm>
            <a:off x="797878" y="3742165"/>
            <a:ext cx="10597896" cy="1323439"/>
            <a:chOff x="685800" y="4575786"/>
            <a:chExt cx="10597896" cy="1323439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A44E148-6EF4-F97C-33CD-6748B6B45D8F}"/>
                </a:ext>
              </a:extLst>
            </p:cNvPr>
            <p:cNvSpPr/>
            <p:nvPr/>
          </p:nvSpPr>
          <p:spPr>
            <a:xfrm>
              <a:off x="685800" y="4714285"/>
              <a:ext cx="502920" cy="369332"/>
            </a:xfrm>
            <a:prstGeom prst="rect">
              <a:avLst/>
            </a:prstGeom>
            <a:solidFill>
              <a:srgbClr val="2222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74E27EE-A76E-5FAF-A7CC-51C2ACE19082}"/>
                </a:ext>
              </a:extLst>
            </p:cNvPr>
            <p:cNvSpPr txBox="1"/>
            <p:nvPr/>
          </p:nvSpPr>
          <p:spPr>
            <a:xfrm>
              <a:off x="685800" y="4714285"/>
              <a:ext cx="502920" cy="369332"/>
            </a:xfrm>
            <a:prstGeom prst="rect">
              <a:avLst/>
            </a:prstGeom>
            <a:solidFill>
              <a:srgbClr val="D4FF00"/>
            </a:solidFill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56A0868-C935-AB86-3FC9-FD5C20CB6668}"/>
                </a:ext>
              </a:extLst>
            </p:cNvPr>
            <p:cNvSpPr txBox="1"/>
            <p:nvPr/>
          </p:nvSpPr>
          <p:spPr>
            <a:xfrm>
              <a:off x="1325880" y="4575786"/>
              <a:ext cx="9957816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ko-KR" sz="1600" b="1" dirty="0">
                  <a:solidFill>
                    <a:schemeClr val="bg1"/>
                  </a:solidFill>
                </a:rPr>
                <a:t>주식 스타일:</a:t>
              </a:r>
              <a:r>
                <a:rPr lang="ko-KR" altLang="ko-KR" sz="1600" dirty="0">
                  <a:solidFill>
                    <a:schemeClr val="bg1"/>
                  </a:solidFill>
                </a:rPr>
                <a:t> 아무리 좋은 주식도 제값 주곤 안 삽니다. 악재가 터져서 주가가 바닥을 기거나 과도하게 폭락한 '</a:t>
              </a:r>
              <a:r>
                <a:rPr lang="ko-KR" altLang="ko-KR" sz="1600" dirty="0" err="1">
                  <a:solidFill>
                    <a:schemeClr val="bg1"/>
                  </a:solidFill>
                </a:rPr>
                <a:t>소외주</a:t>
              </a:r>
              <a:r>
                <a:rPr lang="ko-KR" altLang="ko-KR" sz="1600" dirty="0">
                  <a:solidFill>
                    <a:schemeClr val="bg1"/>
                  </a:solidFill>
                </a:rPr>
                <a:t>, </a:t>
              </a:r>
              <a:r>
                <a:rPr lang="ko-KR" altLang="ko-KR" sz="1600" dirty="0" err="1">
                  <a:solidFill>
                    <a:schemeClr val="bg1"/>
                  </a:solidFill>
                </a:rPr>
                <a:t>낙폭과대주'를</a:t>
              </a:r>
              <a:r>
                <a:rPr lang="ko-KR" altLang="ko-KR" sz="1600" dirty="0">
                  <a:solidFill>
                    <a:schemeClr val="bg1"/>
                  </a:solidFill>
                </a:rPr>
                <a:t> 주워 담는 것을 좋아합니다.</a:t>
              </a:r>
              <a:endParaRPr lang="en-US" altLang="ko-KR" sz="1600" dirty="0">
                <a:solidFill>
                  <a:schemeClr val="bg1"/>
                </a:solidFill>
              </a:endParaRPr>
            </a:p>
            <a:p>
              <a:endParaRPr lang="ko-KR" altLang="ko-KR" sz="1600" dirty="0">
                <a:solidFill>
                  <a:schemeClr val="bg1"/>
                </a:solidFill>
              </a:endParaRPr>
            </a:p>
            <a:p>
              <a:r>
                <a:rPr lang="ko-KR" altLang="ko-KR" sz="1600" b="1" dirty="0">
                  <a:solidFill>
                    <a:schemeClr val="bg1"/>
                  </a:solidFill>
                </a:rPr>
                <a:t>개미의 위험 요소:</a:t>
              </a:r>
              <a:r>
                <a:rPr lang="ko-KR" altLang="ko-KR" sz="1600" dirty="0">
                  <a:solidFill>
                    <a:schemeClr val="bg1"/>
                  </a:solidFill>
                </a:rPr>
                <a:t> '바닥 밑에 지하실이 </a:t>
              </a:r>
              <a:r>
                <a:rPr lang="ko-KR" altLang="ko-KR" sz="1600" dirty="0" err="1">
                  <a:solidFill>
                    <a:schemeClr val="bg1"/>
                  </a:solidFill>
                </a:rPr>
                <a:t>있다'는</a:t>
              </a:r>
              <a:r>
                <a:rPr lang="ko-KR" altLang="ko-KR" sz="1600" dirty="0">
                  <a:solidFill>
                    <a:schemeClr val="bg1"/>
                  </a:solidFill>
                </a:rPr>
                <a:t> 걸 경험하기 딱 좋습니다. 싼 맛에 샀다가 상장폐지 직전까지 가거나, 주가가 몇 년 동안 횡보해서 강제로 장기 투자(</a:t>
              </a:r>
              <a:r>
                <a:rPr lang="ko-KR" altLang="ko-KR" sz="1600" dirty="0" err="1">
                  <a:solidFill>
                    <a:schemeClr val="bg1"/>
                  </a:solidFill>
                </a:rPr>
                <a:t>강방원</a:t>
              </a:r>
              <a:r>
                <a:rPr lang="ko-KR" altLang="ko-KR" sz="1600" dirty="0">
                  <a:solidFill>
                    <a:schemeClr val="bg1"/>
                  </a:solidFill>
                </a:rPr>
                <a:t>)를 하게 될 수 있습니다.</a:t>
              </a: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01AC1D77-7ED1-69E9-0ABD-27357339A43A}"/>
              </a:ext>
            </a:extLst>
          </p:cNvPr>
          <p:cNvGrpSpPr/>
          <p:nvPr/>
        </p:nvGrpSpPr>
        <p:grpSpPr>
          <a:xfrm>
            <a:off x="797878" y="5335459"/>
            <a:ext cx="10401300" cy="1323439"/>
            <a:chOff x="685800" y="5720572"/>
            <a:chExt cx="10401300" cy="132343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8DC4636-AE5C-EA7B-06A8-E4EF1B41CA26}"/>
                </a:ext>
              </a:extLst>
            </p:cNvPr>
            <p:cNvSpPr/>
            <p:nvPr/>
          </p:nvSpPr>
          <p:spPr>
            <a:xfrm>
              <a:off x="685800" y="5859071"/>
              <a:ext cx="502920" cy="369332"/>
            </a:xfrm>
            <a:prstGeom prst="rect">
              <a:avLst/>
            </a:prstGeom>
            <a:solidFill>
              <a:srgbClr val="22222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DF8810F-DD86-7B19-82F0-FD2B19007C86}"/>
                </a:ext>
              </a:extLst>
            </p:cNvPr>
            <p:cNvSpPr txBox="1"/>
            <p:nvPr/>
          </p:nvSpPr>
          <p:spPr>
            <a:xfrm>
              <a:off x="685800" y="5859071"/>
              <a:ext cx="502920" cy="369332"/>
            </a:xfrm>
            <a:prstGeom prst="rect">
              <a:avLst/>
            </a:prstGeom>
            <a:solidFill>
              <a:srgbClr val="D4FF00"/>
            </a:solidFill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ple SD Gothic Neo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8CB9EAC-1CE9-5362-C781-85825372C2AC}"/>
                </a:ext>
              </a:extLst>
            </p:cNvPr>
            <p:cNvSpPr txBox="1"/>
            <p:nvPr/>
          </p:nvSpPr>
          <p:spPr>
            <a:xfrm>
              <a:off x="1325880" y="5720572"/>
              <a:ext cx="9761220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ko-KR" sz="1600" b="1" dirty="0">
                  <a:solidFill>
                    <a:schemeClr val="bg1"/>
                  </a:solidFill>
                </a:rPr>
                <a:t>주식 스타일:</a:t>
              </a:r>
              <a:r>
                <a:rPr lang="ko-KR" altLang="ko-KR" sz="1600" dirty="0">
                  <a:solidFill>
                    <a:schemeClr val="bg1"/>
                  </a:solidFill>
                </a:rPr>
                <a:t> 시장에서 가장 </a:t>
              </a:r>
              <a:r>
                <a:rPr lang="ko-KR" altLang="ko-KR" sz="1600" dirty="0" err="1">
                  <a:solidFill>
                    <a:schemeClr val="bg1"/>
                  </a:solidFill>
                </a:rPr>
                <a:t>핫한</a:t>
              </a:r>
              <a:r>
                <a:rPr lang="ko-KR" altLang="ko-KR" sz="1600" dirty="0">
                  <a:solidFill>
                    <a:schemeClr val="bg1"/>
                  </a:solidFill>
                </a:rPr>
                <a:t> 테마주(초전도체, AI, 바이오 등)와 찌라시에 심장이 뛰는 '트렌드 </a:t>
              </a:r>
              <a:r>
                <a:rPr lang="ko-KR" altLang="ko-KR" sz="1600" dirty="0" err="1">
                  <a:solidFill>
                    <a:schemeClr val="bg1"/>
                  </a:solidFill>
                </a:rPr>
                <a:t>세터'입니다</a:t>
              </a:r>
              <a:r>
                <a:rPr lang="ko-KR" altLang="ko-KR" sz="1600" dirty="0">
                  <a:solidFill>
                    <a:schemeClr val="bg1"/>
                  </a:solidFill>
                </a:rPr>
                <a:t>. 남들 돈 벌었다는 소리 들으면 잠이 안 옵니다.</a:t>
              </a:r>
              <a:endParaRPr lang="en-US" altLang="ko-KR" sz="1600" dirty="0">
                <a:solidFill>
                  <a:schemeClr val="bg1"/>
                </a:solidFill>
              </a:endParaRPr>
            </a:p>
            <a:p>
              <a:endParaRPr lang="ko-KR" altLang="ko-KR" sz="1600" dirty="0">
                <a:solidFill>
                  <a:schemeClr val="bg1"/>
                </a:solidFill>
              </a:endParaRPr>
            </a:p>
            <a:p>
              <a:r>
                <a:rPr lang="ko-KR" altLang="ko-KR" sz="1600" b="1" dirty="0">
                  <a:solidFill>
                    <a:schemeClr val="bg1"/>
                  </a:solidFill>
                </a:rPr>
                <a:t>개미의 위험 요소:</a:t>
              </a:r>
              <a:r>
                <a:rPr lang="ko-KR" altLang="ko-KR" sz="1600" dirty="0">
                  <a:solidFill>
                    <a:schemeClr val="bg1"/>
                  </a:solidFill>
                </a:rPr>
                <a:t> 순도 100% 개미의 본능을 가진 분들입니다. 계획에 없던 매매를 자주 하며, 계좌가 항상 불타오르거나 </a:t>
              </a:r>
              <a:r>
                <a:rPr lang="ko-KR" altLang="ko-KR" sz="1600" dirty="0" err="1">
                  <a:solidFill>
                    <a:schemeClr val="bg1"/>
                  </a:solidFill>
                </a:rPr>
                <a:t>녹아내리는</a:t>
              </a:r>
              <a:r>
                <a:rPr lang="ko-KR" altLang="ko-KR" sz="1600" dirty="0">
                  <a:solidFill>
                    <a:schemeClr val="bg1"/>
                  </a:solidFill>
                </a:rPr>
                <a:t> 극단적인 경험을 자주 합니다. 이 모임에서 가장 열심히 공부하셔야 할 분들입니다!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675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45720" cy="59436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FF00"/>
                </a:solidFill>
                <a:latin typeface="Apple SD Gothic Neo"/>
              </a:rPr>
              <a:t>자가진단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960120"/>
            <a:ext cx="9144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 dirty="0" err="1">
                <a:solidFill>
                  <a:srgbClr val="FFFFFF"/>
                </a:solidFill>
                <a:latin typeface="Apple SD Gothic Neo"/>
              </a:rPr>
              <a:t>당신의</a:t>
            </a:r>
            <a:r>
              <a:rPr sz="3800" b="1" i="0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sz="3800" b="1" i="0" dirty="0" err="1">
                <a:solidFill>
                  <a:srgbClr val="FFFFFF"/>
                </a:solidFill>
                <a:latin typeface="Apple SD Gothic Neo"/>
              </a:rPr>
              <a:t>투자</a:t>
            </a:r>
            <a:r>
              <a:rPr sz="3800" b="1" i="0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lang="ko-KR" altLang="en-US" sz="3800" b="1" i="0" dirty="0">
                <a:solidFill>
                  <a:srgbClr val="FFFFFF"/>
                </a:solidFill>
                <a:latin typeface="Apple SD Gothic Neo"/>
              </a:rPr>
              <a:t>습관 점수는</a:t>
            </a:r>
            <a:r>
              <a:rPr sz="3800" b="1" i="0" dirty="0">
                <a:solidFill>
                  <a:srgbClr val="FFFFFF"/>
                </a:solidFill>
                <a:latin typeface="Apple SD Gothic Neo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0584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 dirty="0">
                <a:solidFill>
                  <a:srgbClr val="999999"/>
                </a:solidFill>
                <a:latin typeface="Apple SD Gothic Neo"/>
              </a:rPr>
              <a:t>각 </a:t>
            </a:r>
            <a:r>
              <a:rPr sz="1500" b="0" i="0" dirty="0" err="1">
                <a:solidFill>
                  <a:srgbClr val="999999"/>
                </a:solidFill>
                <a:latin typeface="Apple SD Gothic Neo"/>
              </a:rPr>
              <a:t>항목을</a:t>
            </a:r>
            <a:r>
              <a:rPr sz="1500" b="0" i="0" dirty="0">
                <a:solidFill>
                  <a:srgbClr val="999999"/>
                </a:solidFill>
                <a:latin typeface="Apple SD Gothic Neo"/>
              </a:rPr>
              <a:t> </a:t>
            </a:r>
            <a:r>
              <a:rPr sz="1500" b="0" i="0" dirty="0" err="1">
                <a:solidFill>
                  <a:srgbClr val="999999"/>
                </a:solidFill>
                <a:latin typeface="Apple SD Gothic Neo"/>
              </a:rPr>
              <a:t>읽고</a:t>
            </a:r>
            <a:r>
              <a:rPr sz="1500" b="0" i="0" dirty="0">
                <a:solidFill>
                  <a:srgbClr val="999999"/>
                </a:solidFill>
                <a:latin typeface="Apple SD Gothic Neo"/>
              </a:rPr>
              <a:t> </a:t>
            </a:r>
            <a:r>
              <a:rPr sz="1500" b="0" i="0" dirty="0" err="1">
                <a:solidFill>
                  <a:srgbClr val="999999"/>
                </a:solidFill>
                <a:latin typeface="Apple SD Gothic Neo"/>
              </a:rPr>
              <a:t>솔직하게</a:t>
            </a:r>
            <a:r>
              <a:rPr sz="1500" b="0" i="0" dirty="0">
                <a:solidFill>
                  <a:srgbClr val="999999"/>
                </a:solidFill>
                <a:latin typeface="Apple SD Gothic Neo"/>
              </a:rPr>
              <a:t>  ○  △  ×  로 </a:t>
            </a:r>
            <a:r>
              <a:rPr sz="1500" b="0" i="0" dirty="0" err="1">
                <a:solidFill>
                  <a:srgbClr val="999999"/>
                </a:solidFill>
                <a:latin typeface="Apple SD Gothic Neo"/>
              </a:rPr>
              <a:t>표시해주세요</a:t>
            </a:r>
            <a:r>
              <a:rPr sz="1500" b="0" i="0" dirty="0">
                <a:solidFill>
                  <a:srgbClr val="999999"/>
                </a:solidFill>
                <a:latin typeface="Apple SD Gothic Neo"/>
              </a:rPr>
              <a:t>. </a:t>
            </a:r>
            <a:r>
              <a:rPr lang="ko-KR" altLang="en-US" sz="1500" dirty="0">
                <a:solidFill>
                  <a:srgbClr val="999999"/>
                </a:solidFill>
                <a:latin typeface="Apple SD Gothic Neo"/>
              </a:rPr>
              <a:t>총점은</a:t>
            </a:r>
            <a:r>
              <a:rPr lang="en-US" altLang="ko-KR" sz="1500" dirty="0">
                <a:solidFill>
                  <a:srgbClr val="999999"/>
                </a:solidFill>
                <a:latin typeface="Apple SD Gothic Neo"/>
              </a:rPr>
              <a:t>?</a:t>
            </a:r>
            <a:r>
              <a:rPr lang="en-US" sz="1500" b="0" i="0" dirty="0">
                <a:solidFill>
                  <a:srgbClr val="999999"/>
                </a:solidFill>
                <a:latin typeface="Apple SD Gothic Neo"/>
              </a:rPr>
              <a:t> (O = 5</a:t>
            </a:r>
            <a:r>
              <a:rPr lang="ko-KR" altLang="en-US" sz="1500" dirty="0">
                <a:solidFill>
                  <a:srgbClr val="999999"/>
                </a:solidFill>
                <a:latin typeface="Apple SD Gothic Neo"/>
              </a:rPr>
              <a:t>점 </a:t>
            </a:r>
            <a:r>
              <a:rPr lang="en-US" altLang="ko-KR" sz="1500" dirty="0">
                <a:solidFill>
                  <a:srgbClr val="999999"/>
                </a:solidFill>
                <a:latin typeface="Apple SD Gothic Neo"/>
              </a:rPr>
              <a:t>|   </a:t>
            </a:r>
            <a:r>
              <a:rPr lang="ko-KR" altLang="en-US" sz="1500" dirty="0">
                <a:solidFill>
                  <a:srgbClr val="999999"/>
                </a:solidFill>
                <a:latin typeface="Apple SD Gothic Neo"/>
              </a:rPr>
              <a:t>△ </a:t>
            </a:r>
            <a:r>
              <a:rPr lang="en-US" altLang="ko-KR" sz="1500" dirty="0">
                <a:solidFill>
                  <a:srgbClr val="999999"/>
                </a:solidFill>
                <a:latin typeface="Apple SD Gothic Neo"/>
              </a:rPr>
              <a:t>= 3</a:t>
            </a:r>
            <a:r>
              <a:rPr lang="ko-KR" altLang="en-US" sz="1500" dirty="0">
                <a:solidFill>
                  <a:srgbClr val="999999"/>
                </a:solidFill>
                <a:latin typeface="Apple SD Gothic Neo"/>
              </a:rPr>
              <a:t>점   </a:t>
            </a:r>
            <a:r>
              <a:rPr lang="en-US" altLang="ko-KR" sz="1500" dirty="0">
                <a:solidFill>
                  <a:srgbClr val="999999"/>
                </a:solidFill>
                <a:latin typeface="Apple SD Gothic Neo"/>
              </a:rPr>
              <a:t>|   x = 1</a:t>
            </a:r>
            <a:r>
              <a:rPr lang="ko-KR" altLang="en-US" sz="1500" dirty="0">
                <a:solidFill>
                  <a:srgbClr val="999999"/>
                </a:solidFill>
                <a:latin typeface="Apple SD Gothic Neo"/>
              </a:rPr>
              <a:t>점</a:t>
            </a:r>
            <a:r>
              <a:rPr lang="en-US" altLang="ko-KR" sz="1500" dirty="0">
                <a:solidFill>
                  <a:srgbClr val="999999"/>
                </a:solidFill>
                <a:latin typeface="Apple SD Gothic Neo"/>
              </a:rPr>
              <a:t>)</a:t>
            </a:r>
            <a:endParaRPr sz="1500" b="0" i="0" dirty="0">
              <a:solidFill>
                <a:srgbClr val="999999"/>
              </a:solidFill>
              <a:latin typeface="Apple SD Gothic Neo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5800" y="2103120"/>
            <a:ext cx="10515600" cy="2743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2286000"/>
            <a:ext cx="502920" cy="369332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502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latin typeface="Apple SD Gothic Neo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350008"/>
            <a:ext cx="868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i="0" dirty="0" err="1">
                <a:solidFill>
                  <a:srgbClr val="FFFFFF"/>
                </a:solidFill>
                <a:latin typeface="Apple SD Gothic Neo"/>
              </a:rPr>
              <a:t>나는</a:t>
            </a:r>
            <a:r>
              <a:rPr sz="1800" i="0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sz="1800" i="0" dirty="0" err="1">
                <a:solidFill>
                  <a:srgbClr val="FFFFFF"/>
                </a:solidFill>
                <a:latin typeface="Apple SD Gothic Neo"/>
              </a:rPr>
              <a:t>지인</a:t>
            </a:r>
            <a:r>
              <a:rPr sz="1800" i="0" dirty="0">
                <a:solidFill>
                  <a:srgbClr val="FFFFFF"/>
                </a:solidFill>
                <a:latin typeface="Apple SD Gothic Neo"/>
              </a:rPr>
              <a:t>, </a:t>
            </a:r>
            <a:r>
              <a:rPr sz="1800" i="0" dirty="0" err="1">
                <a:solidFill>
                  <a:srgbClr val="FFFFFF"/>
                </a:solidFill>
                <a:latin typeface="Apple SD Gothic Neo"/>
              </a:rPr>
              <a:t>커뮤니티</a:t>
            </a:r>
            <a:r>
              <a:rPr sz="1800" i="0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sz="1800" i="0" dirty="0" err="1">
                <a:solidFill>
                  <a:srgbClr val="FFFFFF"/>
                </a:solidFill>
                <a:latin typeface="Apple SD Gothic Neo"/>
              </a:rPr>
              <a:t>의견에</a:t>
            </a:r>
            <a:r>
              <a:rPr sz="1800" i="0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sz="1800" i="0" dirty="0" err="1">
                <a:solidFill>
                  <a:srgbClr val="FFFFFF"/>
                </a:solidFill>
                <a:latin typeface="Apple SD Gothic Neo"/>
              </a:rPr>
              <a:t>흔들리지</a:t>
            </a:r>
            <a:r>
              <a:rPr sz="1800" i="0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sz="1800" i="0" dirty="0" err="1">
                <a:solidFill>
                  <a:srgbClr val="FFFFFF"/>
                </a:solidFill>
                <a:latin typeface="Apple SD Gothic Neo"/>
              </a:rPr>
              <a:t>않고</a:t>
            </a:r>
            <a:r>
              <a:rPr sz="1800" i="0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sz="1800" i="0" dirty="0" err="1">
                <a:solidFill>
                  <a:srgbClr val="FFFFFF"/>
                </a:solidFill>
                <a:latin typeface="Apple SD Gothic Neo"/>
              </a:rPr>
              <a:t>매매한다</a:t>
            </a:r>
            <a:r>
              <a:rPr sz="1800" i="0" dirty="0">
                <a:solidFill>
                  <a:srgbClr val="FFFFFF"/>
                </a:solidFill>
                <a:latin typeface="Apple SD Gothic Neo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32720" y="2286000"/>
            <a:ext cx="438912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0" y="2286000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solidFill>
                  <a:srgbClr val="D4FF00"/>
                </a:solidFill>
                <a:latin typeface="Apple SD Gothic Neo"/>
              </a:rPr>
              <a:t>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08208" y="2286000"/>
            <a:ext cx="438912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08208" y="2286000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ple SD Gothic Neo"/>
              </a:rPr>
              <a:t>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283696" y="2286000"/>
            <a:ext cx="438912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283696" y="2286000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66666"/>
                </a:solidFill>
                <a:latin typeface="Apple SD Gothic Neo"/>
              </a:rPr>
              <a:t>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182112"/>
            <a:ext cx="502920" cy="36933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182112"/>
            <a:ext cx="502920" cy="369332"/>
          </a:xfrm>
          <a:prstGeom prst="rect">
            <a:avLst/>
          </a:prstGeom>
          <a:solidFill>
            <a:srgbClr val="D4FF00"/>
          </a:solidFill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latin typeface="Apple SD Gothic Ne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246120"/>
            <a:ext cx="868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 err="1">
                <a:solidFill>
                  <a:schemeClr val="bg1"/>
                </a:solidFill>
                <a:latin typeface="Apple SD Gothic Neo"/>
              </a:rPr>
              <a:t>나는</a:t>
            </a:r>
            <a:r>
              <a:rPr sz="1800" b="0" i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1800" b="0" i="0" dirty="0" err="1">
                <a:solidFill>
                  <a:schemeClr val="bg1"/>
                </a:solidFill>
                <a:latin typeface="Apple SD Gothic Neo"/>
              </a:rPr>
              <a:t>투자를</a:t>
            </a:r>
            <a:r>
              <a:rPr sz="1800" b="0" i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1800" b="0" i="0" dirty="0" err="1">
                <a:solidFill>
                  <a:schemeClr val="bg1"/>
                </a:solidFill>
                <a:latin typeface="Apple SD Gothic Neo"/>
              </a:rPr>
              <a:t>하기</a:t>
            </a:r>
            <a:r>
              <a:rPr sz="1800" b="0" i="0" dirty="0">
                <a:solidFill>
                  <a:schemeClr val="bg1"/>
                </a:solidFill>
                <a:latin typeface="Apple SD Gothic Neo"/>
              </a:rPr>
              <a:t> 전 </a:t>
            </a:r>
            <a:r>
              <a:rPr sz="1800" b="0" i="0" dirty="0" err="1">
                <a:solidFill>
                  <a:schemeClr val="bg1"/>
                </a:solidFill>
                <a:latin typeface="Apple SD Gothic Neo"/>
              </a:rPr>
              <a:t>공부를</a:t>
            </a:r>
            <a:r>
              <a:rPr sz="1800" b="0" i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1800" b="0" i="0" dirty="0" err="1">
                <a:solidFill>
                  <a:schemeClr val="bg1"/>
                </a:solidFill>
                <a:latin typeface="Apple SD Gothic Neo"/>
              </a:rPr>
              <a:t>하고</a:t>
            </a:r>
            <a:r>
              <a:rPr sz="1800" b="0" i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1800" b="0" i="0" dirty="0" err="1">
                <a:solidFill>
                  <a:schemeClr val="bg1"/>
                </a:solidFill>
                <a:latin typeface="Apple SD Gothic Neo"/>
              </a:rPr>
              <a:t>투자를</a:t>
            </a:r>
            <a:r>
              <a:rPr sz="1800" b="0" i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1800" b="0" i="0" dirty="0" err="1">
                <a:solidFill>
                  <a:schemeClr val="bg1"/>
                </a:solidFill>
                <a:latin typeface="Apple SD Gothic Neo"/>
              </a:rPr>
              <a:t>한다</a:t>
            </a:r>
            <a:r>
              <a:rPr sz="1800" b="0" i="0" dirty="0">
                <a:solidFill>
                  <a:schemeClr val="bg1"/>
                </a:solidFill>
                <a:latin typeface="Apple SD Gothic Neo"/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332720" y="3182112"/>
            <a:ext cx="438912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0" y="3182112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FF00"/>
                </a:solidFill>
                <a:latin typeface="Apple SD Gothic Neo"/>
              </a:rPr>
              <a:t>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808208" y="3182112"/>
            <a:ext cx="438912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808208" y="3182112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ple SD Gothic Neo"/>
              </a:rPr>
              <a:t>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283696" y="3182112"/>
            <a:ext cx="438912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283696" y="3182112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66666"/>
                </a:solidFill>
                <a:latin typeface="Apple SD Gothic Neo"/>
              </a:rPr>
              <a:t>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4078224"/>
            <a:ext cx="502920" cy="36933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078224"/>
            <a:ext cx="502920" cy="369332"/>
          </a:xfrm>
          <a:prstGeom prst="rect">
            <a:avLst/>
          </a:prstGeom>
          <a:solidFill>
            <a:srgbClr val="D4FF00"/>
          </a:solidFill>
        </p:spPr>
        <p:txBody>
          <a:bodyPr wrap="square">
            <a:spAutoFit/>
          </a:bodyPr>
          <a:lstStyle/>
          <a:p>
            <a:pPr algn="ctr"/>
            <a:r>
              <a:rPr sz="1800" b="1" i="0" dirty="0">
                <a:latin typeface="Apple SD Gothic Neo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142232"/>
            <a:ext cx="868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chemeClr val="bg1"/>
                </a:solidFill>
                <a:latin typeface="Apple SD Gothic Neo"/>
              </a:rPr>
              <a:t>나는 내가 투자한 것에 근거 3가지 이상 댈 수 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20" y="4078224"/>
            <a:ext cx="438912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332720" y="4078224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FF00"/>
                </a:solidFill>
                <a:latin typeface="Apple SD Gothic Neo"/>
              </a:rPr>
              <a:t>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808208" y="4078224"/>
            <a:ext cx="438912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808208" y="4078224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ple SD Gothic Neo"/>
              </a:rPr>
              <a:t>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283696" y="4078224"/>
            <a:ext cx="438912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283696" y="4078224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66666"/>
                </a:solidFill>
                <a:latin typeface="Apple SD Gothic Neo"/>
              </a:rPr>
              <a:t>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4974336"/>
            <a:ext cx="502920" cy="36933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4974336"/>
            <a:ext cx="502920" cy="369332"/>
          </a:xfrm>
          <a:prstGeom prst="rect">
            <a:avLst/>
          </a:prstGeom>
          <a:solidFill>
            <a:srgbClr val="D4FF00"/>
          </a:solidFill>
        </p:spPr>
        <p:txBody>
          <a:bodyPr wrap="square">
            <a:spAutoFit/>
          </a:bodyPr>
          <a:lstStyle/>
          <a:p>
            <a:pPr algn="ctr"/>
            <a:r>
              <a:rPr sz="1800" b="1" i="0">
                <a:latin typeface="Apple SD Gothic Neo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5038344"/>
            <a:ext cx="868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chemeClr val="bg1"/>
                </a:solidFill>
                <a:latin typeface="Apple SD Gothic Neo"/>
              </a:rPr>
              <a:t>수익이 나도 목표한 금액이 있고, 그 금액까지 기다린다.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32720" y="4974336"/>
            <a:ext cx="438912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32720" y="4974336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FF00"/>
                </a:solidFill>
                <a:latin typeface="Apple SD Gothic Neo"/>
              </a:rPr>
              <a:t>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808208" y="4974336"/>
            <a:ext cx="438912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808208" y="4974336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ple SD Gothic Neo"/>
              </a:rPr>
              <a:t>△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283696" y="4974336"/>
            <a:ext cx="438912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1283696" y="4974336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66666"/>
                </a:solidFill>
                <a:latin typeface="Apple SD Gothic Neo"/>
              </a:rPr>
              <a:t>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5870448"/>
            <a:ext cx="502920" cy="36933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5800" y="5870448"/>
            <a:ext cx="502920" cy="369332"/>
          </a:xfrm>
          <a:prstGeom prst="rect">
            <a:avLst/>
          </a:prstGeom>
          <a:solidFill>
            <a:srgbClr val="D4FF00"/>
          </a:solidFill>
        </p:spPr>
        <p:txBody>
          <a:bodyPr wrap="square">
            <a:spAutoFit/>
          </a:bodyPr>
          <a:lstStyle/>
          <a:p>
            <a:pPr algn="ctr"/>
            <a:r>
              <a:rPr sz="1800" b="1" i="0">
                <a:latin typeface="Apple SD Gothic Neo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5934456"/>
            <a:ext cx="868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chemeClr val="bg1"/>
                </a:solidFill>
                <a:latin typeface="Apple SD Gothic Neo"/>
              </a:rPr>
              <a:t>나는 나의 전체 자산이 매년 얼마나 불어나는지 알고 있다.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332720" y="5870448"/>
            <a:ext cx="438912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332720" y="5870448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FF00"/>
                </a:solidFill>
                <a:latin typeface="Apple SD Gothic Neo"/>
              </a:rPr>
              <a:t>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808208" y="5870448"/>
            <a:ext cx="438912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808208" y="5870448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pple SD Gothic Neo"/>
              </a:rPr>
              <a:t>△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283696" y="5870448"/>
            <a:ext cx="438912" cy="5029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1283696" y="5870448"/>
            <a:ext cx="438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66666"/>
                </a:solidFill>
                <a:latin typeface="Apple SD Gothic Neo"/>
              </a:rPr>
              <a:t>×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45720" cy="59436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pple SD Gothic Neo"/>
              </a:rPr>
              <a:t>잠깐 생각해봐요.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515600" cy="2743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FF00"/>
                </a:solidFill>
                <a:latin typeface="Apple SD Gothic Neo"/>
              </a:rP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 dirty="0" err="1">
                <a:solidFill>
                  <a:schemeClr val="bg1"/>
                </a:solidFill>
                <a:latin typeface="Apple SD Gothic Neo"/>
              </a:rPr>
              <a:t>가장</a:t>
            </a:r>
            <a:r>
              <a:rPr sz="3000" b="0" i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3000" b="0" i="0" dirty="0" err="1">
                <a:solidFill>
                  <a:schemeClr val="bg1"/>
                </a:solidFill>
                <a:latin typeface="Apple SD Gothic Neo"/>
              </a:rPr>
              <a:t>크게</a:t>
            </a:r>
            <a:r>
              <a:rPr sz="3000" b="0" i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3000" b="0" i="0" dirty="0" err="1">
                <a:solidFill>
                  <a:schemeClr val="bg1"/>
                </a:solidFill>
                <a:latin typeface="Apple SD Gothic Neo"/>
              </a:rPr>
              <a:t>잃었던</a:t>
            </a:r>
            <a:r>
              <a:rPr sz="3000" b="0" i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3000" b="0" i="0" dirty="0" err="1">
                <a:solidFill>
                  <a:schemeClr val="bg1"/>
                </a:solidFill>
                <a:latin typeface="Apple SD Gothic Neo"/>
              </a:rPr>
              <a:t>매매를</a:t>
            </a:r>
            <a:r>
              <a:rPr sz="3000" b="0" i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3000" b="0" i="0" dirty="0" err="1">
                <a:solidFill>
                  <a:schemeClr val="bg1"/>
                </a:solidFill>
                <a:latin typeface="Apple SD Gothic Neo"/>
              </a:rPr>
              <a:t>떠올려보세요</a:t>
            </a:r>
            <a:r>
              <a:rPr sz="3000" b="0" i="0" dirty="0">
                <a:solidFill>
                  <a:schemeClr val="bg1"/>
                </a:solidFill>
                <a:latin typeface="Apple SD Gothic Neo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FF00"/>
                </a:solidFill>
                <a:latin typeface="Apple SD Gothic Neo"/>
              </a:rPr>
              <a:t>Q2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Apple SD Gothic Neo"/>
              </a:rPr>
              <a:t>그 </a:t>
            </a:r>
            <a:r>
              <a:rPr sz="3000" b="1" i="0" dirty="0" err="1">
                <a:solidFill>
                  <a:srgbClr val="FFFFFF"/>
                </a:solidFill>
                <a:latin typeface="Apple SD Gothic Neo"/>
              </a:rPr>
              <a:t>종목을</a:t>
            </a:r>
            <a:r>
              <a:rPr sz="3000" b="1" i="0" dirty="0">
                <a:solidFill>
                  <a:srgbClr val="FFFFFF"/>
                </a:solidFill>
                <a:latin typeface="Apple SD Gothic Neo"/>
              </a:rPr>
              <a:t>  '왜'  </a:t>
            </a:r>
            <a:r>
              <a:rPr sz="3000" b="1" i="0" dirty="0" err="1">
                <a:solidFill>
                  <a:srgbClr val="FFFFFF"/>
                </a:solidFill>
                <a:latin typeface="Apple SD Gothic Neo"/>
              </a:rPr>
              <a:t>샀었나요</a:t>
            </a:r>
            <a:r>
              <a:rPr sz="3000" b="1" i="0" dirty="0">
                <a:solidFill>
                  <a:srgbClr val="FFFFFF"/>
                </a:solidFill>
                <a:latin typeface="Apple SD Gothic Neo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FF00"/>
                </a:solidFill>
                <a:latin typeface="Apple SD Gothic Neo"/>
              </a:rPr>
              <a:t>Q3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983480"/>
            <a:ext cx="100584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 dirty="0">
                <a:solidFill>
                  <a:schemeClr val="bg1"/>
                </a:solidFill>
                <a:latin typeface="Apple SD Gothic Neo"/>
              </a:rPr>
              <a:t>그 </a:t>
            </a:r>
            <a:r>
              <a:rPr sz="3000" b="0" i="0" dirty="0" err="1">
                <a:solidFill>
                  <a:schemeClr val="bg1"/>
                </a:solidFill>
                <a:latin typeface="Apple SD Gothic Neo"/>
              </a:rPr>
              <a:t>이유를</a:t>
            </a:r>
            <a:r>
              <a:rPr sz="3000" b="0" i="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sz="3000" b="0" i="0" dirty="0" err="1">
                <a:solidFill>
                  <a:schemeClr val="bg1"/>
                </a:solidFill>
                <a:latin typeface="Apple SD Gothic Neo"/>
              </a:rPr>
              <a:t>지금</a:t>
            </a:r>
            <a:r>
              <a:rPr sz="3000" b="0" i="0" dirty="0">
                <a:solidFill>
                  <a:schemeClr val="bg1"/>
                </a:solidFill>
                <a:latin typeface="Apple SD Gothic Neo"/>
              </a:rPr>
              <a:t> 3가지 </a:t>
            </a:r>
            <a:r>
              <a:rPr sz="3000" b="0" i="0" dirty="0" err="1">
                <a:solidFill>
                  <a:schemeClr val="bg1"/>
                </a:solidFill>
                <a:latin typeface="Apple SD Gothic Neo"/>
              </a:rPr>
              <a:t>이상</a:t>
            </a:r>
            <a:r>
              <a:rPr sz="3000" b="0" i="0" dirty="0">
                <a:solidFill>
                  <a:schemeClr val="bg1"/>
                </a:solidFill>
                <a:latin typeface="Apple SD Gothic Neo"/>
              </a:rPr>
              <a:t> 댈 수 </a:t>
            </a:r>
            <a:r>
              <a:rPr sz="3000" b="0" i="0" dirty="0" err="1">
                <a:solidFill>
                  <a:schemeClr val="bg1"/>
                </a:solidFill>
                <a:latin typeface="Apple SD Gothic Neo"/>
              </a:rPr>
              <a:t>있나요</a:t>
            </a:r>
            <a:r>
              <a:rPr sz="3000" b="0" i="0" dirty="0">
                <a:solidFill>
                  <a:schemeClr val="bg1"/>
                </a:solidFill>
                <a:latin typeface="Apple SD Gothic Neo"/>
              </a:rPr>
              <a:t>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45352" y="0"/>
            <a:ext cx="5943600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118872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45352" y="0"/>
            <a:ext cx="5943600" cy="11887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4FF00"/>
                </a:solidFill>
                <a:latin typeface="Apple SD Gothic Neo"/>
              </a:rPr>
              <a:t>조건으로 산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74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999999"/>
                </a:solidFill>
                <a:latin typeface="Apple SD Gothic Neo"/>
              </a:rPr>
              <a:t>감으로 산 것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188720"/>
            <a:ext cx="5943600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45352" y="1188720"/>
            <a:ext cx="5943600" cy="457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Apple SD Gothic Neo"/>
              </a:rPr>
              <a:t>"이 조건이 충족되면 산다" 가 있었다면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55555"/>
                </a:solidFill>
                <a:latin typeface="Apple SD Gothic Neo"/>
              </a:rPr>
              <a:t>뉴스 · 지인 추천 · 왠지 · 감 · 기분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828800"/>
            <a:ext cx="5486400" cy="10058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82880" y="2807208"/>
            <a:ext cx="5486400" cy="2743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5486400" cy="10058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2807208"/>
            <a:ext cx="5486400" cy="2743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82880" y="3017520"/>
            <a:ext cx="5486400" cy="10058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2880" y="3995928"/>
            <a:ext cx="5486400" cy="2743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3017520"/>
            <a:ext cx="5486400" cy="10058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0" y="3995928"/>
            <a:ext cx="5486400" cy="2743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82880" y="4206240"/>
            <a:ext cx="5486400" cy="10058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2880" y="5184648"/>
            <a:ext cx="5486400" cy="2743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0" y="4206240"/>
            <a:ext cx="5486400" cy="10058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0" y="5184648"/>
            <a:ext cx="5486400" cy="2743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82880" y="5394960"/>
            <a:ext cx="5486400" cy="10058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82880" y="6373368"/>
            <a:ext cx="5486400" cy="2743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5394960"/>
            <a:ext cx="5486400" cy="100584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00800" y="6373368"/>
            <a:ext cx="5486400" cy="27432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43600" y="0"/>
            <a:ext cx="3017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062472" y="0"/>
            <a:ext cx="3657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28800" y="6492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  <a:latin typeface="Apple SD Gothic Neo"/>
              </a:rPr>
              <a:t>← 포스트잇을 칸에 붙여주세요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45352" y="0"/>
            <a:ext cx="5943600" cy="6858000"/>
          </a:xfrm>
          <a:prstGeom prst="rect">
            <a:avLst/>
          </a:prstGeom>
          <a:solidFill>
            <a:srgbClr val="081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457200"/>
            <a:ext cx="5486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999999"/>
                </a:solidFill>
                <a:latin typeface="Apple SD Gothic Neo"/>
              </a:rPr>
              <a:t>‘</a:t>
            </a:r>
            <a:r>
              <a:rPr lang="ko-KR" altLang="en-US" sz="2200" b="1" dirty="0">
                <a:solidFill>
                  <a:srgbClr val="999999"/>
                </a:solidFill>
                <a:latin typeface="Apple SD Gothic Neo"/>
              </a:rPr>
              <a:t>기준</a:t>
            </a:r>
            <a:r>
              <a:rPr lang="en-US" altLang="ko-KR" sz="2200" b="1" dirty="0">
                <a:solidFill>
                  <a:srgbClr val="999999"/>
                </a:solidFill>
                <a:latin typeface="Apple SD Gothic Neo"/>
              </a:rPr>
              <a:t>’</a:t>
            </a:r>
            <a:r>
              <a:rPr sz="2200" b="1" i="0" dirty="0">
                <a:solidFill>
                  <a:srgbClr val="999999"/>
                </a:solidFill>
                <a:latin typeface="Apple SD Gothic Neo"/>
              </a:rPr>
              <a:t> </a:t>
            </a:r>
            <a:r>
              <a:rPr sz="2200" b="1" i="0" dirty="0" err="1">
                <a:solidFill>
                  <a:srgbClr val="999999"/>
                </a:solidFill>
                <a:latin typeface="Apple SD Gothic Neo"/>
              </a:rPr>
              <a:t>없이</a:t>
            </a:r>
            <a:r>
              <a:rPr sz="2200" b="1" i="0" dirty="0">
                <a:solidFill>
                  <a:srgbClr val="999999"/>
                </a:solidFill>
                <a:latin typeface="Apple SD Gothic Neo"/>
              </a:rPr>
              <a:t> 산 </a:t>
            </a:r>
            <a:r>
              <a:rPr sz="2200" b="1" i="0" dirty="0" err="1">
                <a:solidFill>
                  <a:srgbClr val="999999"/>
                </a:solidFill>
                <a:latin typeface="Apple SD Gothic Neo"/>
              </a:rPr>
              <a:t>경우</a:t>
            </a:r>
            <a:endParaRPr sz="2200" b="1" i="0" dirty="0">
              <a:solidFill>
                <a:srgbClr val="999999"/>
              </a:solidFill>
              <a:latin typeface="Apple SD Gothic Ne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0" y="457200"/>
            <a:ext cx="5486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D4FF00"/>
                </a:solidFill>
                <a:latin typeface="Apple SD Gothic Neo"/>
              </a:rPr>
              <a:t>‘</a:t>
            </a:r>
            <a:r>
              <a:rPr lang="ko-KR" altLang="en-US" sz="2200" b="1" dirty="0">
                <a:solidFill>
                  <a:srgbClr val="D4FF00"/>
                </a:solidFill>
                <a:latin typeface="Apple SD Gothic Neo"/>
              </a:rPr>
              <a:t>기준</a:t>
            </a:r>
            <a:r>
              <a:rPr lang="en-US" altLang="ko-KR" sz="2200" b="1" dirty="0">
                <a:solidFill>
                  <a:srgbClr val="D4FF00"/>
                </a:solidFill>
                <a:latin typeface="Apple SD Gothic Neo"/>
              </a:rPr>
              <a:t>’</a:t>
            </a:r>
            <a:r>
              <a:rPr sz="2200" b="1" i="0" dirty="0">
                <a:solidFill>
                  <a:srgbClr val="D4FF00"/>
                </a:solidFill>
                <a:latin typeface="Apple SD Gothic Neo"/>
              </a:rPr>
              <a:t>을 </a:t>
            </a:r>
            <a:r>
              <a:rPr sz="2200" b="1" i="0" dirty="0" err="1">
                <a:solidFill>
                  <a:srgbClr val="D4FF00"/>
                </a:solidFill>
                <a:latin typeface="Apple SD Gothic Neo"/>
              </a:rPr>
              <a:t>갖고</a:t>
            </a:r>
            <a:r>
              <a:rPr sz="2200" b="1" i="0" dirty="0">
                <a:solidFill>
                  <a:srgbClr val="D4FF00"/>
                </a:solidFill>
                <a:latin typeface="Apple SD Gothic Neo"/>
              </a:rPr>
              <a:t> 산 </a:t>
            </a:r>
            <a:r>
              <a:rPr sz="2200" b="1" i="0" dirty="0" err="1">
                <a:solidFill>
                  <a:srgbClr val="D4FF00"/>
                </a:solidFill>
                <a:latin typeface="Apple SD Gothic Neo"/>
              </a:rPr>
              <a:t>경우</a:t>
            </a:r>
            <a:endParaRPr sz="2200" b="1" i="0" dirty="0">
              <a:solidFill>
                <a:srgbClr val="D4FF00"/>
              </a:solidFill>
              <a:latin typeface="Apple SD Gothic Neo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594360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45352" y="1051560"/>
            <a:ext cx="5943600" cy="36576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201168" cy="20116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999999"/>
                </a:solidFill>
                <a:latin typeface="Apple SD Gothic Neo"/>
              </a:rPr>
              <a:t>왜 샀는지 설명하기 어렵다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463040"/>
            <a:ext cx="201168" cy="20116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0" y="137160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pple SD Gothic Neo"/>
              </a:rPr>
              <a:t>왜 샀는지 3가지 이상 말할 수 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60320"/>
            <a:ext cx="201168" cy="20116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999999"/>
                </a:solidFill>
                <a:latin typeface="Apple SD Gothic Neo"/>
              </a:rPr>
              <a:t>손실 나도 왜 잘못됐는지 모른다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560320"/>
            <a:ext cx="201168" cy="20116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0" y="246888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pple SD Gothic Neo"/>
              </a:rPr>
              <a:t>손실 나면 어디서 틀렸는지 안다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657600"/>
            <a:ext cx="201168" cy="20116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5661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999999"/>
                </a:solidFill>
                <a:latin typeface="Apple SD Gothic Neo"/>
              </a:rPr>
              <a:t>다음에 또 같은 실수를 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657600"/>
            <a:ext cx="201168" cy="20116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0" y="356616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pple SD Gothic Neo"/>
              </a:rPr>
              <a:t>같은 실수를 반복하지 않는다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201168" cy="20116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6634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999999"/>
                </a:solidFill>
                <a:latin typeface="Apple SD Gothic Neo"/>
              </a:rPr>
              <a:t>수익이 나도 운인지 실력인지 모른다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754880"/>
            <a:ext cx="201168" cy="20116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0" y="46634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Apple SD Gothic Neo"/>
              </a:rPr>
              <a:t>수익을 실력으로 재현할 수 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0"/>
            <a:ext cx="3017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62472" y="0"/>
            <a:ext cx="36576" cy="685800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0" y="6263640"/>
            <a:ext cx="1218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FF00"/>
                </a:solidFill>
                <a:latin typeface="Apple SD Gothic Neo"/>
              </a:rPr>
              <a:t>이 차이를 만드는 게 뭘까요?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097280"/>
            <a:ext cx="121889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999999"/>
                </a:solidFill>
                <a:latin typeface="Apple SD Gothic Neo"/>
              </a:rPr>
              <a:t>그래서 결국,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92024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Apple SD Gothic Neo"/>
              </a:rPr>
              <a:t>우리에게 필요한 건?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474720"/>
            <a:ext cx="5760720" cy="13716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0" y="3474720"/>
            <a:ext cx="5760720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0" y="3982720"/>
            <a:ext cx="5760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b="0" i="0" dirty="0">
                <a:solidFill>
                  <a:srgbClr val="555555"/>
                </a:solidFill>
                <a:latin typeface="Apple SD Gothic Neo"/>
              </a:rPr>
              <a:t>오늘 내내 얘기했던 키워드</a:t>
            </a:r>
            <a:endParaRPr sz="1600" b="0" i="0" dirty="0">
              <a:solidFill>
                <a:srgbClr val="555555"/>
              </a:solidFill>
              <a:latin typeface="Apple SD Gothic Neo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139446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 dirty="0" err="1">
                <a:solidFill>
                  <a:srgbClr val="999999"/>
                </a:solidFill>
                <a:latin typeface="Apple SD Gothic Neo"/>
              </a:rPr>
              <a:t>맞습니다</a:t>
            </a:r>
            <a:r>
              <a:rPr sz="2400" b="0" i="0" dirty="0">
                <a:solidFill>
                  <a:srgbClr val="999999"/>
                </a:solidFill>
                <a:latin typeface="Apple SD Gothic Neo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125980"/>
            <a:ext cx="121889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0" b="1" i="0">
                <a:solidFill>
                  <a:srgbClr val="D4FF00"/>
                </a:solidFill>
                <a:latin typeface="Apple SD Gothic Neo"/>
              </a:rPr>
              <a:t>"  조  건  "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4594860"/>
            <a:ext cx="850392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4823460"/>
            <a:ext cx="121889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Apple SD Gothic Neo"/>
              </a:rPr>
              <a:t>주식 수익은</a:t>
            </a:r>
            <a:r>
              <a:rPr lang="en-US" altLang="ko-KR" sz="2000" b="1" dirty="0">
                <a:solidFill>
                  <a:schemeClr val="bg1"/>
                </a:solidFill>
                <a:latin typeface="Apple SD Gothic Neo"/>
              </a:rPr>
              <a:t>, </a:t>
            </a:r>
            <a:r>
              <a:rPr lang="ko-KR" altLang="en-US" sz="2000" b="1" dirty="0">
                <a:solidFill>
                  <a:schemeClr val="bg1"/>
                </a:solidFill>
                <a:latin typeface="Apple SD Gothic Neo"/>
              </a:rPr>
              <a:t>감</a:t>
            </a:r>
            <a:r>
              <a:rPr lang="en-US" altLang="ko-KR" sz="2000" b="1" dirty="0">
                <a:solidFill>
                  <a:schemeClr val="bg1"/>
                </a:solidFill>
                <a:latin typeface="Apple SD Gothic Neo"/>
              </a:rPr>
              <a:t>(</a:t>
            </a:r>
            <a:r>
              <a:rPr lang="ko-KR" altLang="en-US" sz="2000" b="1" dirty="0">
                <a:solidFill>
                  <a:schemeClr val="bg1"/>
                </a:solidFill>
                <a:latin typeface="Apple SD Gothic Neo"/>
              </a:rPr>
              <a:t>感</a:t>
            </a:r>
            <a:r>
              <a:rPr lang="en-US" altLang="ko-KR" sz="2000" b="1" dirty="0">
                <a:solidFill>
                  <a:schemeClr val="bg1"/>
                </a:solidFill>
                <a:latin typeface="Apple SD Gothic Neo"/>
              </a:rPr>
              <a:t>)</a:t>
            </a:r>
            <a:r>
              <a:rPr lang="ko-KR" altLang="en-US" sz="2000" b="1" dirty="0">
                <a:solidFill>
                  <a:schemeClr val="bg1"/>
                </a:solidFill>
                <a:latin typeface="Apple SD Gothic Neo"/>
              </a:rPr>
              <a:t>이 아닌
</a:t>
            </a:r>
            <a:r>
              <a:rPr lang="en-US" altLang="ko-KR" sz="2000" b="1" dirty="0">
                <a:solidFill>
                  <a:schemeClr val="bg1"/>
                </a:solidFill>
                <a:latin typeface="Apple SD Gothic Neo"/>
              </a:rPr>
              <a:t>'</a:t>
            </a:r>
            <a:r>
              <a:rPr lang="ko-KR" altLang="en-US" sz="2000" b="1" dirty="0">
                <a:solidFill>
                  <a:schemeClr val="bg1"/>
                </a:solidFill>
                <a:latin typeface="Apple SD Gothic Neo"/>
              </a:rPr>
              <a:t>검증된 조건</a:t>
            </a:r>
            <a:r>
              <a:rPr lang="en-US" altLang="ko-KR" sz="2000" b="1" dirty="0">
                <a:solidFill>
                  <a:schemeClr val="bg1"/>
                </a:solidFill>
                <a:latin typeface="Apple SD Gothic Neo"/>
              </a:rPr>
              <a:t>'</a:t>
            </a:r>
            <a:r>
              <a:rPr lang="ko-KR" altLang="en-US" sz="2000" b="1" dirty="0">
                <a:solidFill>
                  <a:schemeClr val="bg1"/>
                </a:solidFill>
                <a:latin typeface="Apple SD Gothic Neo"/>
              </a:rPr>
              <a:t>을 반복 실행할 수 있을 때 일어난다</a:t>
            </a:r>
            <a:r>
              <a:rPr lang="en-US" altLang="ko-KR" sz="2000" b="1" dirty="0">
                <a:solidFill>
                  <a:schemeClr val="bg1"/>
                </a:solidFill>
                <a:latin typeface="Apple SD Gothic Neo"/>
              </a:rPr>
              <a:t>.</a:t>
            </a:r>
          </a:p>
          <a:p>
            <a:pPr algn="ctr"/>
            <a:endParaRPr sz="2000" b="0" i="0" dirty="0">
              <a:solidFill>
                <a:srgbClr val="FFFFFF"/>
              </a:solidFill>
              <a:latin typeface="Apple SD Gothic Ne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659AE6-B225-97D2-7C64-ACCABDCF2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7482C3F-16E6-924F-1CF4-B9BA99EC0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65" y="1052962"/>
            <a:ext cx="5320318" cy="4546453"/>
          </a:xfrm>
          <a:prstGeom prst="rect">
            <a:avLst/>
          </a:prstGeom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88CD645-FA70-C9FD-DBEA-CD48392B0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875" y="1026326"/>
            <a:ext cx="5041883" cy="4570520"/>
          </a:xfrm>
          <a:prstGeom prst="rect">
            <a:avLst/>
          </a:prstGeom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142B6F-A2EF-D4D9-F951-C5F53E2D70EB}"/>
              </a:ext>
            </a:extLst>
          </p:cNvPr>
          <p:cNvSpPr txBox="1"/>
          <p:nvPr/>
        </p:nvSpPr>
        <p:spPr>
          <a:xfrm>
            <a:off x="793683" y="5783249"/>
            <a:ext cx="5041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SK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하이닉스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rPr>
              <a:t>2023</a:t>
            </a:r>
            <a:r>
              <a:rPr lang="ko-KR" altLang="en-US" sz="1600" b="1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rPr>
              <a:t>년 </a:t>
            </a:r>
            <a:r>
              <a:rPr lang="en-US" altLang="ko-KR" sz="1600" b="1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rPr>
              <a:t>5</a:t>
            </a:r>
            <a:r>
              <a:rPr lang="ko-KR" altLang="en-US" sz="1600" b="1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rPr>
              <a:t>월 </a:t>
            </a:r>
            <a:r>
              <a:rPr lang="en-US" altLang="ko-KR" sz="1600" b="1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rPr>
              <a:t>19</a:t>
            </a:r>
            <a:r>
              <a:rPr lang="ko-KR" altLang="en-US" sz="1600" b="1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rPr>
              <a:t>일 </a:t>
            </a:r>
            <a:r>
              <a:rPr lang="en-US" altLang="ko-KR" sz="1600" b="1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rPr>
              <a:t>97,100</a:t>
            </a:r>
            <a:r>
              <a:rPr lang="ko-KR" altLang="en-US" sz="1600" b="1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rPr>
              <a:t>원 </a:t>
            </a:r>
            <a:r>
              <a:rPr lang="en-US" altLang="ko-KR" sz="1600" b="1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rPr>
              <a:t>(1780%)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3B094D-BF91-7683-A7EB-6E513B16E906}"/>
              </a:ext>
            </a:extLst>
          </p:cNvPr>
          <p:cNvSpPr txBox="1"/>
          <p:nvPr/>
        </p:nvSpPr>
        <p:spPr>
          <a:xfrm>
            <a:off x="654465" y="29718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1" dirty="0">
                <a:solidFill>
                  <a:srgbClr val="D4FF00"/>
                </a:solidFill>
                <a:latin typeface="Apple SD Gothic Neo"/>
              </a:rPr>
              <a:t>‘</a:t>
            </a:r>
            <a:r>
              <a:rPr lang="ko-KR" altLang="en-US" b="1" dirty="0" err="1">
                <a:solidFill>
                  <a:srgbClr val="D4FF00"/>
                </a:solidFill>
                <a:latin typeface="Apple SD Gothic Neo"/>
              </a:rPr>
              <a:t>했제</a:t>
            </a:r>
            <a:r>
              <a:rPr lang="en-US" altLang="ko-KR" b="1" dirty="0">
                <a:solidFill>
                  <a:srgbClr val="D4FF00"/>
                </a:solidFill>
                <a:latin typeface="Apple SD Gothic Neo"/>
              </a:rPr>
              <a:t>’</a:t>
            </a:r>
            <a:r>
              <a:rPr lang="ko-KR" altLang="en-US" b="1" dirty="0">
                <a:solidFill>
                  <a:srgbClr val="D4FF00"/>
                </a:solidFill>
                <a:latin typeface="Apple SD Gothic Neo"/>
              </a:rPr>
              <a:t>만의 조건</a:t>
            </a:r>
            <a:endParaRPr b="1" i="0" dirty="0">
              <a:solidFill>
                <a:srgbClr val="D4FF00"/>
              </a:solidFill>
              <a:latin typeface="Apple SD Gothic Neo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39C271-169F-A473-2912-F4DA206A1664}"/>
              </a:ext>
            </a:extLst>
          </p:cNvPr>
          <p:cNvSpPr/>
          <p:nvPr/>
        </p:nvSpPr>
        <p:spPr>
          <a:xfrm>
            <a:off x="0" y="0"/>
            <a:ext cx="136771" cy="68580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800DF3-0BF3-F93E-29B7-B55FEEDE5140}"/>
              </a:ext>
            </a:extLst>
          </p:cNvPr>
          <p:cNvSpPr txBox="1"/>
          <p:nvPr/>
        </p:nvSpPr>
        <p:spPr>
          <a:xfrm>
            <a:off x="6502875" y="5783249"/>
            <a:ext cx="50418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삼성전자</a:t>
            </a:r>
            <a:endParaRPr kumimoji="0" lang="en-US" altLang="ko-KR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rPr>
              <a:t>2025</a:t>
            </a:r>
            <a:r>
              <a:rPr lang="ko-KR" altLang="en-US" sz="1600" b="1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rPr>
              <a:t>년 </a:t>
            </a:r>
            <a:r>
              <a:rPr lang="en-US" altLang="ko-KR" sz="1600" b="1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rPr>
              <a:t>6</a:t>
            </a:r>
            <a:r>
              <a:rPr lang="ko-KR" altLang="en-US" sz="1600" b="1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rPr>
              <a:t>월 </a:t>
            </a:r>
            <a:r>
              <a:rPr lang="en-US" altLang="ko-KR" sz="1600" b="1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rPr>
              <a:t>25</a:t>
            </a:r>
            <a:r>
              <a:rPr lang="ko-KR" altLang="en-US" sz="1600" b="1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rPr>
              <a:t>일 </a:t>
            </a:r>
            <a:r>
              <a:rPr lang="en-US" altLang="ko-KR" sz="1600" b="1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rPr>
              <a:t>61,500</a:t>
            </a:r>
            <a:r>
              <a:rPr lang="ko-KR" altLang="en-US" sz="1600" b="1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rPr>
              <a:t>원 </a:t>
            </a:r>
            <a:r>
              <a:rPr lang="en-US" altLang="ko-KR" sz="1600" b="1" dirty="0">
                <a:solidFill>
                  <a:srgbClr val="FFFFFF"/>
                </a:solidFill>
                <a:latin typeface="맑은 고딕"/>
                <a:ea typeface="맑은 고딕" panose="020B0503020000020004" pitchFamily="50" charset="-127"/>
              </a:rPr>
              <a:t>(347%)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5795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320040"/>
            <a:ext cx="2194560" cy="41148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339852"/>
            <a:ext cx="2103120" cy="333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TRANSFORMATION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914400" cy="457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5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주 전  vs 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5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주 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지금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965960"/>
            <a:ext cx="50292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4주 후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95728"/>
            <a:ext cx="5029200" cy="603504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245059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종목 추천받아서 산다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24414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C2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395728"/>
            <a:ext cx="5029200" cy="603504"/>
          </a:xfrm>
          <a:prstGeom prst="rect">
            <a:avLst/>
          </a:prstGeom>
          <a:solidFill>
            <a:srgbClr val="0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245059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근거 3가지 대고 산다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72384"/>
            <a:ext cx="5029200" cy="603504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312724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손절 기준 없이 버틴다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311810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C2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3072384"/>
            <a:ext cx="5029200" cy="603504"/>
          </a:xfrm>
          <a:prstGeom prst="rect">
            <a:avLst/>
          </a:prstGeom>
          <a:solidFill>
            <a:srgbClr val="0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83680" y="312724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진입 전 손절가를 먼저 정한다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49040"/>
            <a:ext cx="5029200" cy="603504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" y="3803904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재무제표가 어렵다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3794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C2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749040"/>
            <a:ext cx="5029200" cy="603504"/>
          </a:xfrm>
          <a:prstGeom prst="rect">
            <a:avLst/>
          </a:prstGeom>
          <a:solidFill>
            <a:srgbClr val="0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583680" y="3803904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5분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안에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재무제표 필수영역을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본다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00E596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4425696"/>
            <a:ext cx="5029200" cy="603504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" y="44805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솔직한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돈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얘기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나눌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사람이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없다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15000" y="447141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C2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4425696"/>
            <a:ext cx="5029200" cy="603504"/>
          </a:xfrm>
          <a:prstGeom prst="rect">
            <a:avLst/>
          </a:prstGeom>
          <a:solidFill>
            <a:srgbClr val="0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83680" y="4480560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[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다양한 분야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+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같은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기준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]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의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‘</a:t>
            </a:r>
            <a:r>
              <a:rPr kumimoji="0" lang="ko-KR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내 사람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’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들이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생긴다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00E596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102352"/>
            <a:ext cx="5029200" cy="603504"/>
          </a:xfrm>
          <a:prstGeom prst="rect">
            <a:avLst/>
          </a:prstGeom>
          <a:solidFill>
            <a:srgbClr val="1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0080" y="5157216"/>
            <a:ext cx="4846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수익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나면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운,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손실은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남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514807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>
                <a:ln>
                  <a:noFill/>
                </a:ln>
                <a:solidFill>
                  <a:srgbClr val="FFC2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5102352"/>
            <a:ext cx="5029200" cy="603504"/>
          </a:xfrm>
          <a:prstGeom prst="rect">
            <a:avLst/>
          </a:prstGeom>
          <a:solidFill>
            <a:srgbClr val="0A1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83680" y="5157216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근거가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있어서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복기가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E596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가능하다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00E596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FDB15B-BB95-C291-3806-C5A17BA6F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B6012E-9622-73C4-1782-5CBFCAE43225}"/>
              </a:ext>
            </a:extLst>
          </p:cNvPr>
          <p:cNvSpPr/>
          <p:nvPr/>
        </p:nvSpPr>
        <p:spPr>
          <a:xfrm>
            <a:off x="502920" y="457200"/>
            <a:ext cx="45720" cy="59436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F79BFB-0B72-BEAC-53E1-166D09143F54}"/>
              </a:ext>
            </a:extLst>
          </p:cNvPr>
          <p:cNvSpPr txBox="1"/>
          <p:nvPr/>
        </p:nvSpPr>
        <p:spPr>
          <a:xfrm>
            <a:off x="685800" y="502920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준비사항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E28199-A8EE-FB45-3E09-AF4CE39B0383}"/>
              </a:ext>
            </a:extLst>
          </p:cNvPr>
          <p:cNvSpPr txBox="1"/>
          <p:nvPr/>
        </p:nvSpPr>
        <p:spPr>
          <a:xfrm>
            <a:off x="685800" y="1005840"/>
            <a:ext cx="99441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800" b="1" dirty="0" err="1">
                <a:solidFill>
                  <a:srgbClr val="FFFFFF"/>
                </a:solidFill>
                <a:latin typeface="Apple SD Gothic Neo"/>
                <a:ea typeface="맑은 고딕" panose="020B0503020000020004" pitchFamily="50" charset="-127"/>
              </a:rPr>
              <a:t>트레이딩뷰</a:t>
            </a:r>
            <a:r>
              <a:rPr lang="ko-KR" altLang="en-US" sz="3800" b="1" dirty="0">
                <a:solidFill>
                  <a:srgbClr val="FFFFFF"/>
                </a:solidFill>
                <a:latin typeface="Apple SD Gothic Neo"/>
                <a:ea typeface="맑은 고딕" panose="020B0503020000020004" pitchFamily="50" charset="-127"/>
              </a:rPr>
              <a:t> </a:t>
            </a:r>
            <a:r>
              <a:rPr lang="en-US" altLang="ko-KR" sz="3800" b="1" dirty="0">
                <a:solidFill>
                  <a:srgbClr val="FFFFFF"/>
                </a:solidFill>
                <a:latin typeface="Apple SD Gothic Neo"/>
                <a:ea typeface="맑은 고딕" panose="020B0503020000020004" pitchFamily="50" charset="-127"/>
              </a:rPr>
              <a:t>+ NH</a:t>
            </a:r>
            <a:r>
              <a:rPr lang="ko-KR" altLang="en-US" sz="3800" b="1" dirty="0">
                <a:solidFill>
                  <a:srgbClr val="FFFFFF"/>
                </a:solidFill>
                <a:latin typeface="Apple SD Gothic Neo"/>
                <a:ea typeface="맑은 고딕" panose="020B0503020000020004" pitchFamily="50" charset="-127"/>
              </a:rPr>
              <a:t>투자증권 가입 및 설치</a:t>
            </a:r>
            <a:endParaRPr kumimoji="0" sz="3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F4F3DF-723D-3949-1D77-9D23D99D4E24}"/>
              </a:ext>
            </a:extLst>
          </p:cNvPr>
          <p:cNvSpPr/>
          <p:nvPr/>
        </p:nvSpPr>
        <p:spPr>
          <a:xfrm>
            <a:off x="685800" y="1783080"/>
            <a:ext cx="10515600" cy="2743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그림 5" descr="트레이딩뷰 할인 받는 법 5가지, 무료 사용법!">
            <a:extLst>
              <a:ext uri="{FF2B5EF4-FFF2-40B4-BE49-F238E27FC236}">
                <a16:creationId xmlns:a16="http://schemas.microsoft.com/office/drawing/2014/main" id="{75832C1D-02A7-5C0E-8BD0-12E94A010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860" y="2348895"/>
            <a:ext cx="4244446" cy="22288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437230-6157-C072-429B-3DCE2A41306F}"/>
              </a:ext>
            </a:extLst>
          </p:cNvPr>
          <p:cNvSpPr txBox="1"/>
          <p:nvPr/>
        </p:nvSpPr>
        <p:spPr>
          <a:xfrm>
            <a:off x="1527862" y="4790915"/>
            <a:ext cx="352044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트레이딩뷰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가입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05DE9E-852A-A277-93BD-31B106B2EF02}"/>
              </a:ext>
            </a:extLst>
          </p:cNvPr>
          <p:cNvSpPr txBox="1"/>
          <p:nvPr/>
        </p:nvSpPr>
        <p:spPr>
          <a:xfrm>
            <a:off x="1527861" y="5250306"/>
            <a:ext cx="35204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dirty="0">
                <a:solidFill>
                  <a:srgbClr val="FFFFFF"/>
                </a:solidFill>
                <a:latin typeface="맑은 고딕"/>
              </a:rPr>
              <a:t>※</a:t>
            </a:r>
            <a:r>
              <a:rPr lang="ko-KR" altLang="en-US" sz="1400" b="1" dirty="0">
                <a:solidFill>
                  <a:srgbClr val="FFFFFF"/>
                </a:solidFill>
                <a:latin typeface="맑은 고딕"/>
              </a:rPr>
              <a:t>할인코드 제공 예정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1FE63D8-F011-AE79-8855-DA780E7295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917561"/>
            <a:ext cx="3684547" cy="140184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E48D1EB-CE5A-5A02-2121-B5A1D94989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3342550"/>
            <a:ext cx="5257800" cy="289673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8C8F2A6E-BE04-E5A1-51CA-859EB102C433}"/>
              </a:ext>
            </a:extLst>
          </p:cNvPr>
          <p:cNvSpPr/>
          <p:nvPr/>
        </p:nvSpPr>
        <p:spPr>
          <a:xfrm>
            <a:off x="9109710" y="5669280"/>
            <a:ext cx="777240" cy="1714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5129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1CFE05-24DA-0C07-96D7-5FBCB32F7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17D99D-6A6D-C203-E283-188A1E382B77}"/>
              </a:ext>
            </a:extLst>
          </p:cNvPr>
          <p:cNvSpPr/>
          <p:nvPr/>
        </p:nvSpPr>
        <p:spPr>
          <a:xfrm>
            <a:off x="502920" y="457200"/>
            <a:ext cx="45720" cy="59436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ECF8FC-D521-9C47-A1B5-A07CAA0D5F4D}"/>
              </a:ext>
            </a:extLst>
          </p:cNvPr>
          <p:cNvSpPr txBox="1"/>
          <p:nvPr/>
        </p:nvSpPr>
        <p:spPr>
          <a:xfrm>
            <a:off x="685800" y="502920"/>
            <a:ext cx="3657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준비사항</a:t>
            </a:r>
            <a:endParaRPr kumimoji="0" sz="12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CB7DCF-7E76-4584-754A-905268EF1AB2}"/>
              </a:ext>
            </a:extLst>
          </p:cNvPr>
          <p:cNvSpPr txBox="1"/>
          <p:nvPr/>
        </p:nvSpPr>
        <p:spPr>
          <a:xfrm>
            <a:off x="685800" y="1005840"/>
            <a:ext cx="99441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ple SD Gothic Neo"/>
                <a:ea typeface="맑은 고딕" panose="020B0503020000020004" pitchFamily="50" charset="-127"/>
                <a:cs typeface="+mn-cs"/>
              </a:rPr>
              <a:t>거래 가능한 계좌 개설</a:t>
            </a:r>
            <a:endParaRPr kumimoji="0" sz="3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ple SD Gothic Neo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BD6128-C436-29B9-18BD-8AE84CF37434}"/>
              </a:ext>
            </a:extLst>
          </p:cNvPr>
          <p:cNvSpPr/>
          <p:nvPr/>
        </p:nvSpPr>
        <p:spPr>
          <a:xfrm>
            <a:off x="685800" y="1783080"/>
            <a:ext cx="10515600" cy="2743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6AE9312-0C8C-2E57-88F6-612BB334E9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539" y="2438174"/>
            <a:ext cx="6601746" cy="323895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536BE49A-9FA8-A0AA-0AFF-540F3F789BBE}"/>
              </a:ext>
            </a:extLst>
          </p:cNvPr>
          <p:cNvSpPr/>
          <p:nvPr/>
        </p:nvSpPr>
        <p:spPr>
          <a:xfrm>
            <a:off x="2793539" y="4389120"/>
            <a:ext cx="6601746" cy="845820"/>
          </a:xfrm>
          <a:prstGeom prst="rect">
            <a:avLst/>
          </a:prstGeom>
          <a:solidFill>
            <a:srgbClr val="FF0000">
              <a:alpha val="14000"/>
            </a:srgbClr>
          </a:solidFill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9759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이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모임은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지금도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앞으로도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아무나</a:t>
            </a: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들어올</a:t>
            </a:r>
            <a:r>
              <a: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수 </a:t>
            </a:r>
            <a:r>
              <a:rPr kumimoji="0" sz="4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없습니다</a:t>
            </a:r>
            <a:endParaRPr kumimoji="0" sz="4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169388"/>
            <a:ext cx="96012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✔   </a:t>
            </a:r>
            <a:r>
              <a:rPr kumimoji="0" lang="ko-KR" alt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기수 별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정원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10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명  (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절대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초과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없음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68859"/>
            <a:ext cx="96012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✔  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오늘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참여자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+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기존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멤버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추천자만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모집</a:t>
            </a:r>
            <a:endParaRPr kumimoji="0" sz="1700" b="0" i="0" u="none" strike="noStrike" kern="120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276211"/>
            <a:ext cx="96012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✔  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다음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기수는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이번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기수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수료자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추천으로만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lang="ko-KR" altLang="en-US" sz="17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무료 참여 가능</a:t>
            </a:r>
            <a:endParaRPr kumimoji="0" sz="1700" b="0" i="0" u="none" strike="noStrike" kern="1200" cap="none" spc="0" normalizeH="0" baseline="0" noProof="0" dirty="0">
              <a:ln>
                <a:noFill/>
              </a:ln>
              <a:solidFill>
                <a:srgbClr val="AAAAAA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2960" y="4389120"/>
            <a:ext cx="10058400" cy="36576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5146040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‘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자신만의 조건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’</a:t>
            </a:r>
            <a:r>
              <a:rPr kumimoji="0" lang="ko-KR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을 만들 수 있게 됩니다</a:t>
            </a:r>
            <a:r>
              <a:rPr kumimoji="0" lang="en-US" altLang="ko-KR" sz="22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.</a:t>
            </a:r>
            <a:endParaRPr kumimoji="0" sz="22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A04DCC-54E7-BB28-7BFA-0559BEBBB400}"/>
              </a:ext>
            </a:extLst>
          </p:cNvPr>
          <p:cNvSpPr txBox="1"/>
          <p:nvPr/>
        </p:nvSpPr>
        <p:spPr>
          <a:xfrm>
            <a:off x="914400" y="3873290"/>
            <a:ext cx="96012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✔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  </a:t>
            </a:r>
            <a:r>
              <a:rPr kumimoji="0" lang="ko-KR" altLang="en-US" sz="17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과제를 수행하지 못하면 차주 모임 참여 불가</a:t>
            </a:r>
            <a:endParaRPr kumimoji="0" sz="17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457200"/>
            <a:ext cx="45720" cy="59436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 dirty="0" err="1">
                <a:solidFill>
                  <a:srgbClr val="FFFFFF"/>
                </a:solidFill>
                <a:latin typeface="Apple SD Gothic Neo"/>
              </a:rPr>
              <a:t>다음</a:t>
            </a:r>
            <a:r>
              <a:rPr sz="4000" b="1" i="0" dirty="0">
                <a:solidFill>
                  <a:srgbClr val="FFFFFF"/>
                </a:solidFill>
                <a:latin typeface="Apple SD Gothic Neo"/>
              </a:rPr>
              <a:t> 주 </a:t>
            </a:r>
            <a:r>
              <a:rPr sz="4000" b="1" i="0" dirty="0" err="1">
                <a:solidFill>
                  <a:srgbClr val="FFFFFF"/>
                </a:solidFill>
                <a:latin typeface="Apple SD Gothic Neo"/>
              </a:rPr>
              <a:t>과제</a:t>
            </a:r>
            <a:endParaRPr sz="4000" b="1" i="0" dirty="0">
              <a:solidFill>
                <a:srgbClr val="FFFFFF"/>
              </a:solidFill>
              <a:latin typeface="Apple SD Gothic Neo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1188720"/>
            <a:ext cx="10515600" cy="2743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63040"/>
            <a:ext cx="10515600" cy="2926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63040"/>
            <a:ext cx="45720" cy="292608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92224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FF00"/>
                </a:solidFill>
                <a:latin typeface="Apple SD Gothic Ne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37360"/>
            <a:ext cx="9144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 dirty="0" err="1">
                <a:solidFill>
                  <a:srgbClr val="FFFFFF"/>
                </a:solidFill>
                <a:latin typeface="Apple SD Gothic Neo"/>
              </a:rPr>
              <a:t>이번</a:t>
            </a:r>
            <a:r>
              <a:rPr sz="2100" b="1" i="0" dirty="0">
                <a:solidFill>
                  <a:srgbClr val="FFFFFF"/>
                </a:solidFill>
                <a:latin typeface="Apple SD Gothic Neo"/>
              </a:rPr>
              <a:t> 주 </a:t>
            </a:r>
            <a:r>
              <a:rPr sz="2100" b="1" i="0" dirty="0" err="1">
                <a:solidFill>
                  <a:srgbClr val="FFFFFF"/>
                </a:solidFill>
                <a:latin typeface="Apple SD Gothic Neo"/>
              </a:rPr>
              <a:t>내가</a:t>
            </a:r>
            <a:r>
              <a:rPr sz="2100" b="1" i="0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sz="2100" b="1" i="0" dirty="0" err="1">
                <a:solidFill>
                  <a:srgbClr val="FFFFFF"/>
                </a:solidFill>
                <a:latin typeface="Apple SD Gothic Neo"/>
              </a:rPr>
              <a:t>관심</a:t>
            </a:r>
            <a:r>
              <a:rPr sz="2100" b="1" i="0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sz="2100" b="1" i="0" dirty="0" err="1">
                <a:solidFill>
                  <a:srgbClr val="FFFFFF"/>
                </a:solidFill>
                <a:latin typeface="Apple SD Gothic Neo"/>
              </a:rPr>
              <a:t>있는</a:t>
            </a:r>
            <a:r>
              <a:rPr sz="2100" b="1" i="0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sz="2100" b="1" i="0" dirty="0" err="1">
                <a:solidFill>
                  <a:srgbClr val="FFFFFF"/>
                </a:solidFill>
                <a:latin typeface="Apple SD Gothic Neo"/>
              </a:rPr>
              <a:t>종목</a:t>
            </a:r>
            <a:r>
              <a:rPr sz="2100" b="1" i="0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lang="en-US" sz="2100" b="1" dirty="0">
                <a:solidFill>
                  <a:srgbClr val="FFFFFF"/>
                </a:solidFill>
                <a:latin typeface="Apple SD Gothic Neo"/>
              </a:rPr>
              <a:t>3</a:t>
            </a:r>
            <a:r>
              <a:rPr sz="2100" b="1" i="0" dirty="0">
                <a:solidFill>
                  <a:srgbClr val="FFFFFF"/>
                </a:solidFill>
                <a:latin typeface="Apple SD Gothic Neo"/>
              </a:rPr>
              <a:t>개를 </a:t>
            </a:r>
            <a:r>
              <a:rPr sz="2100" b="1" i="0" dirty="0" err="1">
                <a:solidFill>
                  <a:srgbClr val="FFFFFF"/>
                </a:solidFill>
                <a:latin typeface="Apple SD Gothic Neo"/>
              </a:rPr>
              <a:t>골라오세요</a:t>
            </a:r>
            <a:r>
              <a:rPr sz="2100" b="1" i="0" dirty="0">
                <a:solidFill>
                  <a:srgbClr val="FFFFFF"/>
                </a:solidFill>
                <a:latin typeface="Apple SD Gothic Neo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60904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FF00"/>
                </a:solidFill>
                <a:latin typeface="Apple SD Gothic Ne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060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 dirty="0">
                <a:solidFill>
                  <a:srgbClr val="FFFFFF"/>
                </a:solidFill>
                <a:latin typeface="Apple SD Gothic Neo"/>
              </a:rPr>
              <a:t>왜 그 </a:t>
            </a:r>
            <a:r>
              <a:rPr sz="2100" b="0" i="0" dirty="0" err="1">
                <a:solidFill>
                  <a:srgbClr val="FFFFFF"/>
                </a:solidFill>
                <a:latin typeface="Apple SD Gothic Neo"/>
              </a:rPr>
              <a:t>종목인지</a:t>
            </a:r>
            <a:r>
              <a:rPr sz="2100" b="0" i="0" dirty="0">
                <a:solidFill>
                  <a:srgbClr val="FFFFFF"/>
                </a:solidFill>
                <a:latin typeface="Apple SD Gothic Neo"/>
              </a:rPr>
              <a:t>  —  </a:t>
            </a:r>
            <a:r>
              <a:rPr sz="2100" b="0" i="0" dirty="0" err="1">
                <a:solidFill>
                  <a:srgbClr val="FFFFFF"/>
                </a:solidFill>
                <a:latin typeface="Apple SD Gothic Neo"/>
              </a:rPr>
              <a:t>조건</a:t>
            </a:r>
            <a:r>
              <a:rPr sz="2100" b="0" i="0" dirty="0">
                <a:solidFill>
                  <a:srgbClr val="FFFFFF"/>
                </a:solidFill>
                <a:latin typeface="Apple SD Gothic Neo"/>
              </a:rPr>
              <a:t> 3가지를 </a:t>
            </a:r>
            <a:r>
              <a:rPr sz="2100" b="0" i="0" dirty="0" err="1">
                <a:solidFill>
                  <a:srgbClr val="FFFFFF"/>
                </a:solidFill>
                <a:latin typeface="Apple SD Gothic Neo"/>
              </a:rPr>
              <a:t>직접</a:t>
            </a:r>
            <a:r>
              <a:rPr sz="2100" b="0" i="0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sz="2100" b="0" i="0" dirty="0" err="1">
                <a:solidFill>
                  <a:srgbClr val="FFFFFF"/>
                </a:solidFill>
                <a:latin typeface="Apple SD Gothic Neo"/>
              </a:rPr>
              <a:t>적어오세요</a:t>
            </a:r>
            <a:r>
              <a:rPr sz="2100" b="0" i="0" dirty="0">
                <a:solidFill>
                  <a:srgbClr val="FFFFFF"/>
                </a:solidFill>
                <a:latin typeface="Apple SD Gothic Neo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9584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FF00"/>
                </a:solidFill>
                <a:latin typeface="Apple SD Gothic Neo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474720"/>
            <a:ext cx="9144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2100" dirty="0">
                <a:solidFill>
                  <a:schemeClr val="bg1"/>
                </a:solidFill>
                <a:latin typeface="Apple SD Gothic Neo"/>
              </a:rPr>
              <a:t>작성항목 </a:t>
            </a:r>
            <a:r>
              <a:rPr lang="en-US" altLang="ko-KR" sz="2100" dirty="0">
                <a:solidFill>
                  <a:schemeClr val="bg1"/>
                </a:solidFill>
                <a:latin typeface="Apple SD Gothic Neo"/>
              </a:rPr>
              <a:t>: Pick </a:t>
            </a:r>
            <a:r>
              <a:rPr lang="ko-KR" altLang="en-US" sz="2100" dirty="0">
                <a:solidFill>
                  <a:schemeClr val="bg1"/>
                </a:solidFill>
                <a:latin typeface="Apple SD Gothic Neo"/>
              </a:rPr>
              <a:t>한 날짜 </a:t>
            </a:r>
            <a:r>
              <a:rPr lang="en-US" altLang="ko-KR" sz="2100" dirty="0">
                <a:solidFill>
                  <a:schemeClr val="bg1"/>
                </a:solidFill>
                <a:latin typeface="Apple SD Gothic Neo"/>
              </a:rPr>
              <a:t>+ </a:t>
            </a:r>
            <a:r>
              <a:rPr lang="ko-KR" altLang="en-US" sz="2100" dirty="0" err="1">
                <a:solidFill>
                  <a:schemeClr val="bg1"/>
                </a:solidFill>
                <a:latin typeface="Apple SD Gothic Neo"/>
              </a:rPr>
              <a:t>종목명</a:t>
            </a:r>
            <a:r>
              <a:rPr lang="ko-KR" altLang="en-US" sz="2100" dirty="0">
                <a:solidFill>
                  <a:schemeClr val="bg1"/>
                </a:solidFill>
                <a:latin typeface="Apple SD Gothic Neo"/>
              </a:rPr>
              <a:t> </a:t>
            </a:r>
            <a:r>
              <a:rPr lang="en-US" altLang="ko-KR" sz="2100" dirty="0">
                <a:solidFill>
                  <a:schemeClr val="bg1"/>
                </a:solidFill>
                <a:latin typeface="Apple SD Gothic Neo"/>
              </a:rPr>
              <a:t>+ </a:t>
            </a:r>
            <a:r>
              <a:rPr lang="ko-KR" altLang="en-US" sz="2100" dirty="0">
                <a:solidFill>
                  <a:schemeClr val="bg1"/>
                </a:solidFill>
                <a:latin typeface="Apple SD Gothic Neo"/>
              </a:rPr>
              <a:t>매수할 가격 </a:t>
            </a:r>
            <a:r>
              <a:rPr lang="en-US" altLang="ko-KR" sz="2100" dirty="0">
                <a:solidFill>
                  <a:schemeClr val="bg1"/>
                </a:solidFill>
                <a:latin typeface="Apple SD Gothic Neo"/>
              </a:rPr>
              <a:t>+ </a:t>
            </a:r>
            <a:r>
              <a:rPr lang="ko-KR" altLang="en-US" sz="2100" dirty="0">
                <a:solidFill>
                  <a:schemeClr val="bg1"/>
                </a:solidFill>
                <a:latin typeface="Apple SD Gothic Neo"/>
              </a:rPr>
              <a:t>이유</a:t>
            </a:r>
            <a:r>
              <a:rPr lang="en-US" altLang="ko-KR" sz="2100" dirty="0">
                <a:solidFill>
                  <a:schemeClr val="bg1"/>
                </a:solidFill>
                <a:latin typeface="Apple SD Gothic Neo"/>
              </a:rPr>
              <a:t>3</a:t>
            </a:r>
            <a:r>
              <a:rPr lang="ko-KR" altLang="en-US" sz="2100" dirty="0">
                <a:solidFill>
                  <a:schemeClr val="bg1"/>
                </a:solidFill>
                <a:latin typeface="Apple SD Gothic Neo"/>
              </a:rPr>
              <a:t>가지</a:t>
            </a:r>
            <a:endParaRPr sz="2100" b="0" i="0" dirty="0">
              <a:solidFill>
                <a:schemeClr val="bg1"/>
              </a:solidFill>
              <a:latin typeface="Apple SD Gothic Neo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85800" y="4663440"/>
            <a:ext cx="10515600" cy="36576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064F10-B5EC-CA42-17B5-46C4010FDBE0}"/>
              </a:ext>
            </a:extLst>
          </p:cNvPr>
          <p:cNvSpPr txBox="1"/>
          <p:nvPr/>
        </p:nvSpPr>
        <p:spPr>
          <a:xfrm>
            <a:off x="731520" y="5394960"/>
            <a:ext cx="9601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✔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 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과제를 수행하지 못하면 차주 모임 참여 불가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217513-37E9-5BD7-30DE-F8B342CCE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4023AC6-44D2-E934-8752-F50A91335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810" y="1463040"/>
            <a:ext cx="6260486" cy="434340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2D6E65-1A5C-EF43-DB51-BD3DB3E297DD}"/>
              </a:ext>
            </a:extLst>
          </p:cNvPr>
          <p:cNvSpPr txBox="1"/>
          <p:nvPr/>
        </p:nvSpPr>
        <p:spPr>
          <a:xfrm>
            <a:off x="685800" y="502920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Apple SD Gothic Neo"/>
              </a:rPr>
              <a:t>Present</a:t>
            </a:r>
            <a:endParaRPr sz="4000" b="1" i="0" dirty="0">
              <a:solidFill>
                <a:srgbClr val="FFFFFF"/>
              </a:solidFill>
              <a:latin typeface="Apple SD Gothic Neo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F288169-F586-83F5-0EEB-6253E17C9BB7}"/>
              </a:ext>
            </a:extLst>
          </p:cNvPr>
          <p:cNvSpPr/>
          <p:nvPr/>
        </p:nvSpPr>
        <p:spPr>
          <a:xfrm>
            <a:off x="685800" y="1188720"/>
            <a:ext cx="10515600" cy="27432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5F61096-7D36-1E80-40C9-7F3DFBE1AE77}"/>
              </a:ext>
            </a:extLst>
          </p:cNvPr>
          <p:cNvSpPr/>
          <p:nvPr/>
        </p:nvSpPr>
        <p:spPr>
          <a:xfrm>
            <a:off x="502920" y="457200"/>
            <a:ext cx="45720" cy="59436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1228B41-4AF5-C4B0-2501-028C1D3D23D4}"/>
              </a:ext>
            </a:extLst>
          </p:cNvPr>
          <p:cNvSpPr/>
          <p:nvPr/>
        </p:nvSpPr>
        <p:spPr>
          <a:xfrm>
            <a:off x="788670" y="2263140"/>
            <a:ext cx="4251960" cy="3520440"/>
          </a:xfrm>
          <a:prstGeom prst="rect">
            <a:avLst/>
          </a:prstGeom>
          <a:solidFill>
            <a:srgbClr val="D4FF00">
              <a:alpha val="17000"/>
            </a:srgbClr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2D5E95-FD44-C7AC-42A9-5A9073A04FAA}"/>
              </a:ext>
            </a:extLst>
          </p:cNvPr>
          <p:cNvSpPr txBox="1"/>
          <p:nvPr/>
        </p:nvSpPr>
        <p:spPr>
          <a:xfrm>
            <a:off x="2766060" y="5146060"/>
            <a:ext cx="24917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800" dirty="0">
                <a:solidFill>
                  <a:srgbClr val="FF0000"/>
                </a:solidFill>
                <a:highlight>
                  <a:srgbClr val="000000"/>
                </a:highlight>
                <a:latin typeface="Apple SD Gothic Neo"/>
              </a:rPr>
              <a:t>MVP</a:t>
            </a:r>
            <a:r>
              <a:rPr lang="ko-KR" altLang="en-US" sz="2800" dirty="0">
                <a:solidFill>
                  <a:srgbClr val="FF0000"/>
                </a:solidFill>
                <a:highlight>
                  <a:srgbClr val="000000"/>
                </a:highlight>
                <a:latin typeface="Apple SD Gothic Neo"/>
              </a:rPr>
              <a:t>에게 제공</a:t>
            </a:r>
            <a:endParaRPr sz="2800" b="0" i="0" dirty="0">
              <a:solidFill>
                <a:srgbClr val="FF0000"/>
              </a:solidFill>
              <a:highlight>
                <a:srgbClr val="000000"/>
              </a:highlight>
              <a:latin typeface="Apple SD Gothic Neo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0C34827-A698-BB75-7E03-8AC0EC5460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5587" y="1051560"/>
            <a:ext cx="5320318" cy="4546453"/>
          </a:xfrm>
          <a:prstGeom prst="rect">
            <a:avLst/>
          </a:prstGeom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KakaoTalk_20260614_160659092">
            <a:hlinkClick r:id="" action="ppaction://media"/>
            <a:extLst>
              <a:ext uri="{FF2B5EF4-FFF2-40B4-BE49-F238E27FC236}">
                <a16:creationId xmlns:a16="http://schemas.microsoft.com/office/drawing/2014/main" id="{7978A6A1-3090-746E-036A-43490EE9F9C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257800" y="2110621"/>
            <a:ext cx="6751260" cy="382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87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  <p:bldLst>
      <p:bldP spid="9" grpId="0" animBg="1"/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1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ADF98F-B700-D6C1-4FFC-E705132A9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839F1A-C8CA-ABE1-4D4D-6154DBB3CC5D}"/>
              </a:ext>
            </a:extLst>
          </p:cNvPr>
          <p:cNvSpPr txBox="1"/>
          <p:nvPr/>
        </p:nvSpPr>
        <p:spPr>
          <a:xfrm>
            <a:off x="1522412" y="2358297"/>
            <a:ext cx="9144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궁금한점</a:t>
            </a:r>
            <a:r>
              <a:rPr kumimoji="0" lang="en-US" altLang="ko-KR" sz="5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5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바라는점</a:t>
            </a:r>
            <a:endParaRPr kumimoji="0" sz="5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6E198C-A291-6643-1921-C1B75D7C3EB9}"/>
              </a:ext>
            </a:extLst>
          </p:cNvPr>
          <p:cNvSpPr txBox="1"/>
          <p:nvPr/>
        </p:nvSpPr>
        <p:spPr>
          <a:xfrm>
            <a:off x="1522412" y="3318417"/>
            <a:ext cx="9144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52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자유롭게 얘기해주세요</a:t>
            </a:r>
            <a:endParaRPr kumimoji="0" sz="52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20102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돈복사</a:t>
            </a: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기본 </a:t>
            </a:r>
            <a:r>
              <a:rPr kumimoji="0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자료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0D0D0D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주식 기초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2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완전 정복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77639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캔들차트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 · 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주식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용어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 ·  </a:t>
            </a:r>
            <a:r>
              <a:rPr kumimoji="0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차트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기초 지표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130284" y="2199695"/>
            <a:ext cx="27432" cy="2743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015984" y="2474015"/>
            <a:ext cx="256032" cy="7315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30284" y="3205535"/>
            <a:ext cx="27432" cy="2286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678924" y="1371600"/>
            <a:ext cx="27432" cy="36576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564624" y="1737360"/>
            <a:ext cx="256032" cy="100584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678924" y="2743200"/>
            <a:ext cx="27432" cy="18288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227564" y="2148840"/>
            <a:ext cx="27432" cy="13716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113264" y="2286000"/>
            <a:ext cx="256032" cy="54864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227564" y="2834640"/>
            <a:ext cx="27432" cy="45720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0776204" y="1645920"/>
            <a:ext cx="27432" cy="2743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661904" y="1920240"/>
            <a:ext cx="256032" cy="86868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0776204" y="2788920"/>
            <a:ext cx="27432" cy="2743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1324844" y="1234440"/>
            <a:ext cx="27432" cy="32004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1210544" y="1554480"/>
            <a:ext cx="256032" cy="11887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1324844" y="2743200"/>
            <a:ext cx="27432" cy="2286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65760" y="6510528"/>
            <a:ext cx="2011680" cy="27432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200" y="65105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양봉/음봉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06040" y="6510528"/>
            <a:ext cx="2011680" cy="27432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697480" y="65105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시가·고가·저가·종가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6510528"/>
            <a:ext cx="2011680" cy="27432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937760" y="65105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거래량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86600" y="6510528"/>
            <a:ext cx="2011680" cy="27432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178040" y="65105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이동평균선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6510528"/>
            <a:ext cx="2011680" cy="27432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418320" y="651052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상한가/하한가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01  주식이란 무엇인가?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회사의 조각을 사는 것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돈복사 커뮤니티  ·  1주차 기초 교육자료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97280"/>
            <a:ext cx="11457432" cy="169164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" y="1097280"/>
            <a:ext cx="73152" cy="169164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🍕  피자 비유로 이해하기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72768"/>
            <a:ext cx="1118311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삼성전자라는 피자 한 판이 있다고 생각해봐요.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이 피자를 1억 조각으로 잘랐어요. 그게 바로 "주식"이에요.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내가 그 조각 1개를 사면  →  삼성전자의 아주 작은 주인(주주)이 되는 거예요!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17520"/>
            <a:ext cx="3108960" cy="1554480"/>
          </a:xfrm>
          <a:prstGeom prst="round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" y="33375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회사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(삼성전자)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017520"/>
            <a:ext cx="3108960" cy="155448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63440" y="33375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주식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8404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발행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3017520"/>
            <a:ext cx="3108960" cy="155448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69680" y="33375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나(투자자)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84048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주주!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3657600"/>
            <a:ext cx="914400" cy="9144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863840" y="3657600"/>
            <a:ext cx="914400" cy="9144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65760" y="4846320"/>
            <a:ext cx="11457432" cy="160020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4360" y="4937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핵심 포인트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321808"/>
            <a:ext cx="1118311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① 주식을 사면 그 회사의 주인(주주)이 된다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② 회사가 잘되면 주가가 오르고, 못되면 내린다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③ 주가는 매일 수많은 사람들의 매수/매도로 결정된다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02  캔들차트란?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하루의 주가 움직임을 초 모양으로 표현한 차트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돈복사 커뮤니티  ·  1주차 기초 교육자료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하나의 캔들 = 하루(또는 1시간, 1분 등)의 가격 정보를 담고 있어요.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46604" y="1737360"/>
            <a:ext cx="27432" cy="7315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308860" y="2468880"/>
            <a:ext cx="502920" cy="219456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546604" y="4663440"/>
            <a:ext cx="27432" cy="64008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926080" y="1783080"/>
            <a:ext cx="457200" cy="36576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56432" y="16733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고가  (High)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그날 가장 높았던 가격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514600"/>
            <a:ext cx="457200" cy="36576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56432" y="24048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4444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종가  (Close)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장 마감 때 가격 (양봉)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429000"/>
            <a:ext cx="457200" cy="36576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56432" y="33192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몸통  (Body)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시가와 종가 사이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4617720"/>
            <a:ext cx="457200" cy="36576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56432" y="45079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4444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시가  (Open)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4800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장 시작 때 가격 (양봉)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5257800"/>
            <a:ext cx="457200" cy="36576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456432" y="514807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저가  (Low)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6432" y="5440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그날 가장 낮았던 가격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58684" y="1737360"/>
            <a:ext cx="27432" cy="73152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520940" y="2468880"/>
            <a:ext cx="502920" cy="219456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758684" y="4663440"/>
            <a:ext cx="27432" cy="64008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15684" y="12435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4488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음봉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4488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(</a:t>
            </a: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4488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파란색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4488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8" y="2514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488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↑ 시가 (Open)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4617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488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↑ 종가 (Close)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84737" y="5492051"/>
            <a:ext cx="3657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※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음봉은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시가가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위,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종가가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아래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
   (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종가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&lt;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시가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 → 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가격이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내린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날)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5943600"/>
            <a:ext cx="5486400" cy="530352"/>
          </a:xfrm>
          <a:prstGeom prst="roundRect">
            <a:avLst/>
          </a:prstGeom>
          <a:solidFill>
            <a:srgbClr val="1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4360" y="5989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F4444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🔴 양봉  =  종가 &gt; 시가  →  가격이 올랐다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5943600"/>
            <a:ext cx="5788152" cy="530352"/>
          </a:xfrm>
          <a:prstGeom prst="roundRect">
            <a:avLst/>
          </a:prstGeom>
          <a:solidFill>
            <a:srgbClr val="080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263640" y="5989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4488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🔵 음봉  =  종가 &lt; 시가  →  가격이 내렸다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03  캔들 꼬리가 말하는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꼬리 하나에도 시장의 심리가 담겨 있어요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돈복사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커뮤니티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 ·  1주차 </a:t>
            </a: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기초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교육자료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574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1586484" y="1619618"/>
            <a:ext cx="27432" cy="13716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63040" y="2991218"/>
            <a:ext cx="274320" cy="82296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86484" y="3814178"/>
            <a:ext cx="27432" cy="2286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C3DA93F-BA52-2735-7E40-0E8AB0E6DBC6}"/>
              </a:ext>
            </a:extLst>
          </p:cNvPr>
          <p:cNvGrpSpPr/>
          <p:nvPr/>
        </p:nvGrpSpPr>
        <p:grpSpPr>
          <a:xfrm>
            <a:off x="166956" y="4423637"/>
            <a:ext cx="2743200" cy="1563624"/>
            <a:chOff x="228600" y="4179938"/>
            <a:chExt cx="2743200" cy="1563624"/>
          </a:xfrm>
        </p:grpSpPr>
        <p:sp>
          <p:nvSpPr>
            <p:cNvPr id="11" name="TextBox 10"/>
            <p:cNvSpPr txBox="1"/>
            <p:nvPr/>
          </p:nvSpPr>
          <p:spPr>
            <a:xfrm>
              <a:off x="228600" y="4179938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FFCC00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① 윗꼬리가 길다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28600" y="4609706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>
                  <a:ln>
                    <a:noFill/>
                  </a:ln>
                  <a:solidFill>
                    <a:srgbClr val="999999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높이 올랐다가 다시 내려왔다는 뜻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8600" y="4993754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>
                  <a:ln>
                    <a:noFill/>
                  </a:ln>
                  <a:solidFill>
                    <a:srgbClr val="999999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→ 고점에서 "팔자"가 많았음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8600" y="5377802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>
                  <a:ln>
                    <a:noFill/>
                  </a:ln>
                  <a:solidFill>
                    <a:srgbClr val="999999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→ 상승 힘이 약해지는 신호일 수 있음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4741164" y="1600200"/>
            <a:ext cx="27432" cy="2286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617720" y="1828800"/>
            <a:ext cx="274320" cy="82296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741164" y="2651760"/>
            <a:ext cx="27432" cy="13716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00BADB84-DFC1-19BE-EFE0-7C63D8A4088E}"/>
              </a:ext>
            </a:extLst>
          </p:cNvPr>
          <p:cNvGrpSpPr/>
          <p:nvPr/>
        </p:nvGrpSpPr>
        <p:grpSpPr>
          <a:xfrm>
            <a:off x="3321636" y="4423637"/>
            <a:ext cx="2743200" cy="1563624"/>
            <a:chOff x="3383280" y="4160520"/>
            <a:chExt cx="2743200" cy="1563624"/>
          </a:xfrm>
        </p:grpSpPr>
        <p:sp>
          <p:nvSpPr>
            <p:cNvPr id="18" name="TextBox 17"/>
            <p:cNvSpPr txBox="1"/>
            <p:nvPr/>
          </p:nvSpPr>
          <p:spPr>
            <a:xfrm>
              <a:off x="3383280" y="4160520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00CC66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② 아랫꼬리가 길다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3383280" y="4590288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>
                  <a:ln>
                    <a:noFill/>
                  </a:ln>
                  <a:solidFill>
                    <a:srgbClr val="999999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많이 내려갔다가 다시 올라왔다는 뜻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383280" y="4974336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>
                  <a:ln>
                    <a:noFill/>
                  </a:ln>
                  <a:solidFill>
                    <a:srgbClr val="999999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→ 저점에서 "사자"가 강하게 들어옴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383280" y="5358384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>
                  <a:ln>
                    <a:noFill/>
                  </a:ln>
                  <a:solidFill>
                    <a:srgbClr val="999999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→ 하락이 약해지는 신호일 수 있음</a:t>
              </a:r>
            </a:p>
          </p:txBody>
        </p:sp>
      </p:grpSp>
      <p:sp>
        <p:nvSpPr>
          <p:cNvPr id="22" name="Rectangle 21"/>
          <p:cNvSpPr/>
          <p:nvPr/>
        </p:nvSpPr>
        <p:spPr>
          <a:xfrm>
            <a:off x="7968996" y="2120895"/>
            <a:ext cx="274320" cy="13716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D7FAD6A6-D5C1-E0E0-1221-2C2A62767AA9}"/>
              </a:ext>
            </a:extLst>
          </p:cNvPr>
          <p:cNvGrpSpPr/>
          <p:nvPr/>
        </p:nvGrpSpPr>
        <p:grpSpPr>
          <a:xfrm>
            <a:off x="6672912" y="4423637"/>
            <a:ext cx="2743200" cy="1563624"/>
            <a:chOff x="6734556" y="4133088"/>
            <a:chExt cx="2743200" cy="1563624"/>
          </a:xfrm>
        </p:grpSpPr>
        <p:sp>
          <p:nvSpPr>
            <p:cNvPr id="23" name="TextBox 22"/>
            <p:cNvSpPr txBox="1"/>
            <p:nvPr/>
          </p:nvSpPr>
          <p:spPr>
            <a:xfrm>
              <a:off x="6734556" y="4133088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D4FF00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③ 꼬리가 없는 캔들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734556" y="4562856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>
                  <a:ln>
                    <a:noFill/>
                  </a:ln>
                  <a:solidFill>
                    <a:srgbClr val="999999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시가=저가, 종가=고가인 경우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734556" y="4946904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>
                  <a:ln>
                    <a:noFill/>
                  </a:ln>
                  <a:solidFill>
                    <a:srgbClr val="999999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→ 하루 종일 한 방향으로만 움직임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734556" y="5330952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>
                  <a:ln>
                    <a:noFill/>
                  </a:ln>
                  <a:solidFill>
                    <a:srgbClr val="999999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→ 매우 강한 추세 신호</a:t>
              </a:r>
            </a:p>
          </p:txBody>
        </p:sp>
      </p:grpSp>
      <p:sp>
        <p:nvSpPr>
          <p:cNvPr id="27" name="Rectangle 26"/>
          <p:cNvSpPr/>
          <p:nvPr/>
        </p:nvSpPr>
        <p:spPr>
          <a:xfrm>
            <a:off x="10959084" y="1728216"/>
            <a:ext cx="27432" cy="91440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0835640" y="2642616"/>
            <a:ext cx="274320" cy="45720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0959084" y="3099816"/>
            <a:ext cx="27432" cy="91440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873670D-E0E8-451A-B1BC-24A6630A22FA}"/>
              </a:ext>
            </a:extLst>
          </p:cNvPr>
          <p:cNvGrpSpPr/>
          <p:nvPr/>
        </p:nvGrpSpPr>
        <p:grpSpPr>
          <a:xfrm>
            <a:off x="9539556" y="4423637"/>
            <a:ext cx="2743200" cy="1563624"/>
            <a:chOff x="9601200" y="4151376"/>
            <a:chExt cx="2743200" cy="1563624"/>
          </a:xfrm>
        </p:grpSpPr>
        <p:sp>
          <p:nvSpPr>
            <p:cNvPr id="30" name="TextBox 29"/>
            <p:cNvSpPr txBox="1"/>
            <p:nvPr/>
          </p:nvSpPr>
          <p:spPr>
            <a:xfrm>
              <a:off x="9601200" y="4151376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1" i="0" u="none" strike="noStrike" kern="1200" cap="none" spc="0" normalizeH="0" baseline="0" noProof="0">
                  <a:ln>
                    <a:noFill/>
                  </a:ln>
                  <a:solidFill>
                    <a:srgbClr val="FF8800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④ 위아래 꼬리 모두 길다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601200" y="4581144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>
                  <a:ln>
                    <a:noFill/>
                  </a:ln>
                  <a:solidFill>
                    <a:srgbClr val="999999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위아래로 많이 흔들렸다는 뜻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601200" y="4965192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>
                  <a:ln>
                    <a:noFill/>
                  </a:ln>
                  <a:solidFill>
                    <a:srgbClr val="999999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→ 매수/매도 힘겨루기가 치열함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9601200" y="5349240"/>
              <a:ext cx="2743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000" b="0" i="0" u="none" strike="noStrike" kern="1200" cap="none" spc="0" normalizeH="0" baseline="0" noProof="0">
                  <a:ln>
                    <a:noFill/>
                  </a:ln>
                  <a:solidFill>
                    <a:srgbClr val="999999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→ 방향성이 불분명한 혼조 상태</a:t>
              </a:r>
            </a:p>
          </p:txBody>
        </p:sp>
      </p:grpSp>
      <p:sp>
        <p:nvSpPr>
          <p:cNvPr id="34" name="Rectangle 33"/>
          <p:cNvSpPr/>
          <p:nvPr/>
        </p:nvSpPr>
        <p:spPr>
          <a:xfrm>
            <a:off x="3200400" y="1005840"/>
            <a:ext cx="18288" cy="56692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400800" y="1005840"/>
            <a:ext cx="18288" cy="56692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601200" y="1005840"/>
            <a:ext cx="18288" cy="5669280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04  핵심 용어 ①  —  가격 관련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시가·고가·저가·종가 완벽 이해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돈복사 커뮤니티  ·  1주차 기초 교육자료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669280" cy="246888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111556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4444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시가 (Open)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장이 오전 9시에 열릴 때 첫 번째로 거래된 가격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비유: 마라톤의 출발선 가격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07792"/>
            <a:ext cx="530352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2953513"/>
            <a:ext cx="5120640" cy="31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예)  삼성전자 오늘 시가  70,000원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005840"/>
            <a:ext cx="5669280" cy="246888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37960" y="111556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4444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종가 (Close)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6459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장이 오후 3시 30분에 닫힐 때 마지막으로 거래된 가격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1488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비유: 마라톤의 결승선 가격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907792"/>
            <a:ext cx="530352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75120" y="2953513"/>
            <a:ext cx="5120640" cy="31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예)  삼성전자 오늘 종가  72,000원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703320"/>
            <a:ext cx="5669280" cy="246888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4360" y="381304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고가 (High)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3434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그날 하루 중 가장 높았던 가격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8006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잠깐이라도 그 가격에 거래됐으면 고가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605272"/>
            <a:ext cx="530352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31520" y="5650993"/>
            <a:ext cx="5120640" cy="31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예) 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오늘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고가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 74,500원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703320"/>
            <a:ext cx="5669280" cy="246888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37960" y="381304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4488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저가 (Low)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3434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그날 하루 중 가장 낮았던 가격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8006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잠깐이라도 그 가격에 거래됐으면 저가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5605272"/>
            <a:ext cx="530352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75120" y="5650993"/>
            <a:ext cx="5120640" cy="313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예)  오늘 저가  69,800원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400800"/>
            <a:ext cx="11457432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0080" y="642823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공식:  양봉 = 종가 &gt; 시가    /    음봉 = 종가 &lt; 시가    /    고가 ≥ 종가,시가 ≥ 저가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05  핵심 용어 ②  —  매매 &amp; 거래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매수·매도·거래량·시가총액·상한가·하한가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돈복사 커뮤니티  ·  1주차 기초 교육자료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57432" y="6510528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05840"/>
            <a:ext cx="5669280" cy="246888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111556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00CC66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매수 (BUY)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주식을 돈을 주고 사는 행위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031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비유: 편의점에서 물건을 집어드는 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07792"/>
            <a:ext cx="530352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3015157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예)  10주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매수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 →  내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계좌에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주식이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들어온다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309360" y="1005840"/>
            <a:ext cx="5669280" cy="246888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37960" y="111556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88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매도 (SELL)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6459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갖고 있던 주식을 파는 행위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1031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비유: 편의점에 물건을 판매하는 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907792"/>
            <a:ext cx="530352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75120" y="3004883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예)  10주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매도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 → 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계좌에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현금이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들어온다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5760" y="3703320"/>
            <a:ext cx="5669280" cy="246888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4360" y="381304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거래량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3434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그날 사고 판 주식 수의 총합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8006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거래량이 많을수록 시장의 관심이 높다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605272"/>
            <a:ext cx="530352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31520" y="5733185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예) 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오늘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거래량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1,200만 주  → 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관심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많은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종목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999999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309360" y="3703320"/>
            <a:ext cx="5669280" cy="2468880"/>
          </a:xfrm>
          <a:prstGeom prst="round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537960" y="381304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CC00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시가총액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3434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주가 × 발행 주식 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80060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회사 전체가 얼마짜리인지 알 수 있음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5605272"/>
            <a:ext cx="5303520" cy="4572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675120" y="5722911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예) 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주가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 70,000원 × 59억 주  =  약 418조 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400800"/>
            <a:ext cx="11457432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0080" y="6428232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999999"/>
                </a:solidFill>
                <a:effectLst/>
                <a:uLnTx/>
                <a:uFillTx/>
                <a:latin typeface="맑은 고딕"/>
                <a:ea typeface="+mn-ea"/>
                <a:cs typeface="+mn-cs"/>
              </a:rPr>
              <a:t>상한가 +30%  :  하루에 오를 수 있는 최대폭    |    하한가 -30%  :  하루에 내릴 수 있는 최대폭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이동평균선 (Moving Average)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일정 기간 종가의 평균을 이어 추세 방향을 파악하는 지표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257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📌 개념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· 일정 기간(n일) 종가 평균값을 연결한 선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· 단기 노이즈를 제거하고 추세를 부드럽게 표시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· 기간이 길수록 느리게, 짧을수록 빠르게 반응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246120"/>
            <a:ext cx="5257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📊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주요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기간선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  5일선  ── 1주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평균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(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초단기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 20일선  ── 1달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평균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(</a:t>
            </a:r>
            <a:r>
              <a:rPr kumimoji="0" lang="ko-KR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맑은 고딕" panose="020B0503020000020004" pitchFamily="50" charset="-127"/>
                <a:cs typeface="+mn-cs"/>
              </a:rPr>
              <a:t>단기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 60일선  ── 3달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평균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(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중기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120일선  ── 6달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평균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(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장기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240일선  ── 1년 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평균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(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초장기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217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이동평균선 — 크로스 신호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단기선이 장기선을 돌파하는 순간 매매 신호 발생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257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골든크로스 (매수 신호)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단기선이 장기선을 아래 -&gt; 위로 돌파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상승 모멘텀이 장기 평균을 넘어선 신호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108960"/>
            <a:ext cx="5257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4444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데드크로스 (매도 신호)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FF4444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단기선이 장기선을 위 -&gt; 아래로 돌파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하락 모멘텀이 장기 평균 아래로 내려간 신호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074920"/>
            <a:ext cx="5257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주의사항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· 후행성 지표 — 신호는 항상 약간 늦게 나온다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· 횡보장에서는 크로스가 잦아 신뢰도 하락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· 단독보다 다른 지표와 병행 권장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217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이동평균선 — 정배열과 역배열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이동평균선 순서로 시장 전체 분위기를 파악한다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정배열: 주가 &gt; 5일 &gt; 20일 &gt; 60일  -&gt;  강한 상승 추세  -&gt;  눌림목 매수 유효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4444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역배열: 60일 &gt; 20일 &gt; 5일 &gt; 주가  -&gt;  강한 하락 추세  -&gt;  반등 매도 / 단기 주의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83080"/>
            <a:ext cx="116128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볼린저밴드 (Bollinger Bands)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이동평균선 ± 표준편차(2σ) 3선 구조 — 변동성과 가격 위치 동시 파악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257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📌 개념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존 볼린저(John Bollinger) 1980년대 개발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이동평균 기준 통계적 변동 범위를 시각화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가격의 약 95%가 밴드 안에 존재 (통계적)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383280"/>
            <a:ext cx="5257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구성 공식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중간밴드 = MA20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4444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상단밴드 = MA20 + 2 x 표준편차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488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하단밴드 = MA20 - 2 x 표준편차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4488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상단 터치 = 과매수 / 하단 터치 = 과매도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217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볼린저밴드 — 수축(Squeeze)과 팽창(Expansion)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밴드 폭의 변화가 변동성과 방향성을 예고한다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96012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수축(Squeeze): 밴드 폭 좁아짐 = 변동성 감소 -&gt; 큰 움직임 임박 (방향 미확인)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4444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팽창(Expansion): 밴드 폭 넓어짐 = 변동성 증가 -&gt; 추세 형성 중 (방향 확인 후 대응)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83080"/>
            <a:ext cx="1161288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일목균형표 (Ichimoku Cloud)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5선+구름대로 추세·지지·저항·모멘텀을 동시 표시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417320" cy="59436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118872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전환선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(9일 최고+최저) / 2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64792"/>
            <a:ext cx="1417320" cy="59436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" y="1856232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기준선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85623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(26일 최고+최저) /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432304"/>
            <a:ext cx="1417320" cy="59436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040" y="2523744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선행스팬1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523744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(전환선+기준선) / 2  -&gt;  26일 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99816"/>
            <a:ext cx="1417320" cy="594360"/>
          </a:xfrm>
          <a:prstGeom prst="rect">
            <a:avLst/>
          </a:prstGeom>
          <a:solidFill>
            <a:srgbClr val="00C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0040" y="3191256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선행스팬2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191256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(52일 최고+최저) / 2  -&gt;  26일 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767328"/>
            <a:ext cx="1417320" cy="59436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0040" y="3858768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후행스팬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85876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당일 종가를 26일 전에 표시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663440"/>
            <a:ext cx="5257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구름대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00CC66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스팬1 &gt; 스팬2 = 양운(지지) / 가격 위 = 상승 추세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4444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스팬2 &gt; 스팬1 = 음운(저항) / 가격 아래 = 하락 추세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구름 돌파 = 강한 추세 전환 신호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217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일목균형표 — 구름대(雲) 해석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선행스팬1과 2 사이 구역 = 미래의 지지·저항대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257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구름대란?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선행스팬1과 2 사이 영역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현재보다 26일 앞에 그려짐 -&gt; 미래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926080"/>
            <a:ext cx="5257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0CC66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양운 (상승 구름)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스팬1 &gt; 스팬2 / 가격이 구름 위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-&gt; 상승 추세 / 구름 = 지지대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526280"/>
            <a:ext cx="5257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4444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음운 (하락 구름)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스팬2 &gt; 스팬1 / 가격이 구름 아래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-&gt; 하락 추세 / 구름 = 저항대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172200"/>
            <a:ext cx="5257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구름 두꺼울수록 지지·저항 강함  /  구름 돌파 = 추세 전환 신호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217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1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엔벨로프선 (Envelope)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이동평균에서 고정 비율(%)로 평행 이동 — 횡보장 과매수·과매도 파악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257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📌 개념 및 구성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500" b="1" i="0" u="none" strike="noStrike" kern="1200" cap="none" spc="0" normalizeH="0" baseline="0" noProof="0">
              <a:ln>
                <a:noFill/>
              </a:ln>
              <a:solidFill>
                <a:srgbClr val="D4FF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F4444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상단선 = MA x (1 + n%)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중간선 = MA (이동평균)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4488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하단선 = MA x (1 - n%)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777777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n%: 종목 변동성에 맞게 설정 (보통 5~15%)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749039"/>
            <a:ext cx="5257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볼린저밴드와의 차이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1" i="0" u="none" strike="noStrike" kern="1200" cap="none" spc="0" normalizeH="0" baseline="0" noProof="0">
              <a:ln>
                <a:noFill/>
              </a:ln>
              <a:solidFill>
                <a:srgbClr val="FFAA00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엔벨로프   -&gt; 고정 비율 / 밴드 폭 일정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볼린저밴드 -&gt; 표준편차  / 밴드 폭 변동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577840"/>
            <a:ext cx="5257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활용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상단 터치 -&gt; 과매수 -&gt; 차익 매도 검토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하단 터치 -&gt; 과매도 -&gt; 분할 매수 검토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 횡보(박스권)장에서 특히 유효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621792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4가지 지표 비교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40312" cy="4572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지표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6040" y="10515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구성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0515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주요 용도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0515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특이점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11640312" cy="1216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91440" cy="1216152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4048" y="1618488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4444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이동평균선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4328" y="1618488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n일 종가 평균선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161848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추세 방향
지지·저항 파악
크로스 신호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96528" y="1618488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후행성 지표
단순·직관적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770632"/>
            <a:ext cx="11640312" cy="121615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4320" y="2770632"/>
            <a:ext cx="91440" cy="1216152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84048" y="288036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4488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볼린저밴드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4328" y="288036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MA ± 2σ
3선 구조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28803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변동성 분석
과매수·과매도
수축·팽창 패턴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6528" y="288036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변동성 반영
밴드 폭 변동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032504"/>
            <a:ext cx="11640312" cy="121615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4320" y="4032504"/>
            <a:ext cx="91440" cy="1216152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84048" y="4142232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일목균형표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24328" y="4142232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5선 + 구름대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4142232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추세·지지·저항
모멘텀 동시
미래 예고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96528" y="4142232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가장 복잡
선행 정보 포함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294376"/>
            <a:ext cx="11640312" cy="1216152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74320" y="5294376"/>
            <a:ext cx="91440" cy="1216152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4048" y="5404104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엔벨로프선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24328" y="5404104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MA ± 고정%
3선 구조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0368" y="5404104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과매수·과매도
횡보장 매매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96528" y="5404104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고정 비율
설정 단순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실전 흐름: 이동평균선으로 추세 확인  -&gt;  볼린저밴드·엔벨로프로 진입 타이밍  -&gt;  일목균형표로 지지·저항 검증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핵심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 </a:t>
            </a:r>
            <a:r>
              <a:rPr kumimoji="0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요약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5669280" cy="2468880"/>
          </a:xfrm>
          <a:prstGeom prst="rect">
            <a:avLst/>
          </a:prstGeom>
          <a:solidFill>
            <a:srgbClr val="222222"/>
          </a:solidFill>
          <a:ln w="19050"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1051560"/>
            <a:ext cx="128016" cy="246888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4444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이동평균선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추세의 방향을 확인한다.
골든·데드크로스로 전환 포착.
정배열=상승 / 역배열=하락.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051560"/>
            <a:ext cx="5669280" cy="2468880"/>
          </a:xfrm>
          <a:prstGeom prst="rect">
            <a:avLst/>
          </a:prstGeom>
          <a:solidFill>
            <a:srgbClr val="222222"/>
          </a:solidFill>
          <a:ln w="19050">
            <a:solidFill>
              <a:srgbClr val="448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63640" y="1051560"/>
            <a:ext cx="128016" cy="2468880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37960" y="121615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4488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볼린저밴드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73736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변동성을 눈으로 본다.
수축 후 팽창 = 큰 움직임 예고.
상단=과매수 / 하단=과매도.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03320"/>
            <a:ext cx="5669280" cy="2468880"/>
          </a:xfrm>
          <a:prstGeom prst="rect">
            <a:avLst/>
          </a:prstGeom>
          <a:solidFill>
            <a:srgbClr val="222222"/>
          </a:solidFill>
          <a:ln w="19050">
            <a:solidFill>
              <a:srgbClr val="D4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4320" y="3703320"/>
            <a:ext cx="128016" cy="246888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386791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일목균형표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하나로 모든 걸 담는다.
구름 위=상승 / 아래=하락.
구름 돌파 = 강한 추세 전환.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703320"/>
            <a:ext cx="5669280" cy="2468880"/>
          </a:xfrm>
          <a:prstGeom prst="rect">
            <a:avLst/>
          </a:prstGeom>
          <a:solidFill>
            <a:srgbClr val="222222"/>
          </a:solidFill>
          <a:ln w="19050">
            <a:solidFill>
              <a:srgbClr val="FFA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128016" cy="2468880"/>
          </a:xfrm>
          <a:prstGeom prst="rect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37960" y="386791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>
                <a:ln>
                  <a:noFill/>
                </a:ln>
                <a:solidFill>
                  <a:srgbClr val="FFAA00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엔벨로프선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3891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/>
                <a:ea typeface="+mn-ea"/>
                <a:cs typeface="+mn-cs"/>
              </a:rPr>
              <a:t>정상 범위를 설정한다.
상단=과매수 / 하단=과매도.
횡보장에서 특히 효과적.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EA6DA2-F8BA-ADA1-5F08-2CE7F41F0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827C62-37D6-EA4F-284F-9E39AC26236C}"/>
              </a:ext>
            </a:extLst>
          </p:cNvPr>
          <p:cNvSpPr/>
          <p:nvPr/>
        </p:nvSpPr>
        <p:spPr>
          <a:xfrm>
            <a:off x="502920" y="457200"/>
            <a:ext cx="45720" cy="5943600"/>
          </a:xfrm>
          <a:prstGeom prst="rect">
            <a:avLst/>
          </a:prstGeom>
          <a:solidFill>
            <a:srgbClr val="D4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D0C170-6C82-7D77-F85C-77A04A219273}"/>
              </a:ext>
            </a:extLst>
          </p:cNvPr>
          <p:cNvSpPr txBox="1"/>
          <p:nvPr/>
        </p:nvSpPr>
        <p:spPr>
          <a:xfrm>
            <a:off x="685800" y="502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D4FF00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WEEK 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9D91FD-7C36-1494-68B8-205B4323DD4A}"/>
              </a:ext>
            </a:extLst>
          </p:cNvPr>
          <p:cNvSpPr txBox="1"/>
          <p:nvPr/>
        </p:nvSpPr>
        <p:spPr>
          <a:xfrm>
            <a:off x="685800" y="6016526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rgbClr val="D4FF00"/>
                </a:solidFill>
                <a:latin typeface="Apple SD Gothic Neo"/>
              </a:rPr>
              <a:t>오늘 오셔서 감사합니다</a:t>
            </a:r>
            <a:r>
              <a:rPr lang="en-US" altLang="ko-KR" sz="1600" dirty="0">
                <a:solidFill>
                  <a:srgbClr val="D4FF00"/>
                </a:solidFill>
                <a:latin typeface="Apple SD Gothic Neo"/>
              </a:rPr>
              <a:t>.  </a:t>
            </a:r>
            <a:r>
              <a:rPr lang="ko-KR" altLang="en-US" sz="1600" dirty="0">
                <a:solidFill>
                  <a:srgbClr val="D4FF00"/>
                </a:solidFill>
                <a:latin typeface="Apple SD Gothic Neo"/>
              </a:rPr>
              <a:t>편하게 가세요</a:t>
            </a:r>
            <a:r>
              <a:rPr lang="en-US" altLang="ko-KR" sz="1600" dirty="0">
                <a:solidFill>
                  <a:srgbClr val="D4FF00"/>
                </a:solidFill>
                <a:latin typeface="Apple SD Gothic Neo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172167-78CE-EC10-CBF8-71AECB9FA222}"/>
              </a:ext>
            </a:extLst>
          </p:cNvPr>
          <p:cNvSpPr/>
          <p:nvPr/>
        </p:nvSpPr>
        <p:spPr>
          <a:xfrm>
            <a:off x="685800" y="3931920"/>
            <a:ext cx="1051560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75C514-8A7A-1E24-1137-BE35161CA2C1}"/>
              </a:ext>
            </a:extLst>
          </p:cNvPr>
          <p:cNvSpPr txBox="1"/>
          <p:nvPr/>
        </p:nvSpPr>
        <p:spPr>
          <a:xfrm>
            <a:off x="685800" y="5134904"/>
            <a:ext cx="8229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주식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 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수익은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, 감(感)이 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아닌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
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'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검증된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 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조건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'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을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 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반복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 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실행할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 수 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있을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 때 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일어난다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7270CA-5A1A-8287-451C-B5D5A6C556EE}"/>
              </a:ext>
            </a:extLst>
          </p:cNvPr>
          <p:cNvSpPr txBox="1"/>
          <p:nvPr/>
        </p:nvSpPr>
        <p:spPr>
          <a:xfrm>
            <a:off x="9601200" y="50292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Apple SD Gothic Neo"/>
                <a:ea typeface="+mn-ea"/>
                <a:cs typeface="+mn-cs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797203-4C7B-B3E9-ABAD-E364C510C301}"/>
              </a:ext>
            </a:extLst>
          </p:cNvPr>
          <p:cNvSpPr txBox="1"/>
          <p:nvPr/>
        </p:nvSpPr>
        <p:spPr>
          <a:xfrm>
            <a:off x="685800" y="1097280"/>
            <a:ext cx="822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 dirty="0" err="1">
                <a:solidFill>
                  <a:srgbClr val="FFFFFF"/>
                </a:solidFill>
                <a:latin typeface="Apple SD Gothic Neo"/>
              </a:rPr>
              <a:t>돈복사</a:t>
            </a:r>
            <a:r>
              <a:rPr lang="en-US" sz="7200" b="1" i="0" dirty="0">
                <a:solidFill>
                  <a:srgbClr val="FFFFFF"/>
                </a:solidFill>
                <a:latin typeface="Apple SD Gothic Neo"/>
              </a:rPr>
              <a:t> </a:t>
            </a:r>
            <a:r>
              <a:rPr lang="en-US" sz="2000" b="1" i="0" dirty="0">
                <a:solidFill>
                  <a:srgbClr val="FFFFFF"/>
                </a:solidFill>
                <a:latin typeface="Apple SD Gothic Neo"/>
              </a:rPr>
              <a:t>MONEY COPY</a:t>
            </a:r>
            <a:endParaRPr sz="7200" b="1" i="0" dirty="0">
              <a:solidFill>
                <a:srgbClr val="FFFFFF"/>
              </a:solidFill>
              <a:latin typeface="Apple SD Gothic Neo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80F647-50F9-5496-4ADE-AFB5C25AF4C5}"/>
              </a:ext>
            </a:extLst>
          </p:cNvPr>
          <p:cNvSpPr txBox="1"/>
          <p:nvPr/>
        </p:nvSpPr>
        <p:spPr>
          <a:xfrm>
            <a:off x="685800" y="280564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 err="1">
                <a:solidFill>
                  <a:srgbClr val="999999"/>
                </a:solidFill>
                <a:latin typeface="Apple SD Gothic Neo"/>
              </a:rPr>
              <a:t>오늘</a:t>
            </a:r>
            <a:r>
              <a:rPr sz="1800" b="0" i="0" dirty="0">
                <a:solidFill>
                  <a:srgbClr val="999999"/>
                </a:solidFill>
                <a:latin typeface="Apple SD Gothic Neo"/>
              </a:rPr>
              <a:t> </a:t>
            </a:r>
            <a:r>
              <a:rPr sz="1800" b="0" i="0" dirty="0" err="1">
                <a:solidFill>
                  <a:srgbClr val="999999"/>
                </a:solidFill>
                <a:latin typeface="Apple SD Gothic Neo"/>
              </a:rPr>
              <a:t>우리가</a:t>
            </a:r>
            <a:r>
              <a:rPr sz="1800" b="0" i="0" dirty="0">
                <a:solidFill>
                  <a:srgbClr val="999999"/>
                </a:solidFill>
                <a:latin typeface="Apple SD Gothic Neo"/>
              </a:rPr>
              <a:t> 한 것,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FA6BBD-EEF8-3095-E21B-0685EB52268C}"/>
              </a:ext>
            </a:extLst>
          </p:cNvPr>
          <p:cNvSpPr txBox="1"/>
          <p:nvPr/>
        </p:nvSpPr>
        <p:spPr>
          <a:xfrm>
            <a:off x="685800" y="3246120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 err="1">
                <a:solidFill>
                  <a:srgbClr val="D4FF00"/>
                </a:solidFill>
                <a:latin typeface="Apple SD Gothic Neo"/>
              </a:rPr>
              <a:t>내가</a:t>
            </a:r>
            <a:r>
              <a:rPr sz="2200" b="0" i="0" dirty="0">
                <a:solidFill>
                  <a:srgbClr val="D4FF00"/>
                </a:solidFill>
                <a:latin typeface="Apple SD Gothic Neo"/>
              </a:rPr>
              <a:t> </a:t>
            </a:r>
            <a:r>
              <a:rPr sz="2200" b="0" i="0" dirty="0" err="1">
                <a:solidFill>
                  <a:srgbClr val="D4FF00"/>
                </a:solidFill>
                <a:latin typeface="Apple SD Gothic Neo"/>
              </a:rPr>
              <a:t>감으로</a:t>
            </a:r>
            <a:r>
              <a:rPr sz="2200" b="0" i="0" dirty="0">
                <a:solidFill>
                  <a:srgbClr val="D4FF00"/>
                </a:solidFill>
                <a:latin typeface="Apple SD Gothic Neo"/>
              </a:rPr>
              <a:t> </a:t>
            </a:r>
            <a:r>
              <a:rPr sz="2200" b="0" i="0" dirty="0" err="1">
                <a:solidFill>
                  <a:srgbClr val="D4FF00"/>
                </a:solidFill>
                <a:latin typeface="Apple SD Gothic Neo"/>
              </a:rPr>
              <a:t>샀다는</a:t>
            </a:r>
            <a:r>
              <a:rPr sz="2200" b="0" i="0" dirty="0">
                <a:solidFill>
                  <a:srgbClr val="D4FF00"/>
                </a:solidFill>
                <a:latin typeface="Apple SD Gothic Neo"/>
              </a:rPr>
              <a:t> 걸 </a:t>
            </a:r>
            <a:r>
              <a:rPr sz="2200" b="0" i="0" dirty="0" err="1">
                <a:solidFill>
                  <a:srgbClr val="D4FF00"/>
                </a:solidFill>
                <a:latin typeface="Apple SD Gothic Neo"/>
              </a:rPr>
              <a:t>인정</a:t>
            </a:r>
            <a:r>
              <a:rPr lang="ko-KR" altLang="en-US" sz="2200" b="0" i="0" dirty="0">
                <a:solidFill>
                  <a:srgbClr val="D4FF00"/>
                </a:solidFill>
                <a:latin typeface="Apple SD Gothic Neo"/>
              </a:rPr>
              <a:t>하게 된 것</a:t>
            </a:r>
            <a:r>
              <a:rPr lang="en-US" altLang="ko-KR" sz="2200" b="0" i="0" dirty="0">
                <a:solidFill>
                  <a:srgbClr val="D4FF00"/>
                </a:solidFill>
                <a:latin typeface="Apple SD Gothic Neo"/>
              </a:rPr>
              <a:t>.</a:t>
            </a:r>
            <a:endParaRPr sz="2200" b="0" i="0" dirty="0">
              <a:solidFill>
                <a:srgbClr val="D4FF00"/>
              </a:solidFill>
              <a:latin typeface="Apple SD Gothic Neo"/>
            </a:endParaRPr>
          </a:p>
        </p:txBody>
      </p:sp>
    </p:spTree>
    <p:extLst>
      <p:ext uri="{BB962C8B-B14F-4D97-AF65-F5344CB8AC3E}">
        <p14:creationId xmlns:p14="http://schemas.microsoft.com/office/powerpoint/2010/main" val="1178797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3561</Words>
  <Application>Microsoft Office PowerPoint</Application>
  <PresentationFormat>사용자 지정</PresentationFormat>
  <Paragraphs>555</Paragraphs>
  <Slides>45</Slides>
  <Notes>16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1" baseType="lpstr">
      <vt:lpstr>Apple SD Gothic Neo</vt:lpstr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은수 김</cp:lastModifiedBy>
  <cp:revision>6</cp:revision>
  <dcterms:created xsi:type="dcterms:W3CDTF">2013-01-27T09:14:16Z</dcterms:created>
  <dcterms:modified xsi:type="dcterms:W3CDTF">2026-07-03T06:20:52Z</dcterms:modified>
  <cp:category/>
</cp:coreProperties>
</file>