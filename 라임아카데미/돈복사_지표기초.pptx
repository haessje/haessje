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46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Malgun Gothic"/>
              </a:rPr>
              <a:t>차트 지표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D4FF00"/>
                </a:solidFill>
                <a:latin typeface="Malgun Gothic"/>
              </a:rPr>
              <a:t>이동평균선  ·  볼린저밴드  ·  일목균형표  ·  엔벨로프선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77777"/>
                </a:solidFill>
                <a:latin typeface="Malgun Gothic"/>
              </a:rPr>
              <a:t>주요 기술적 지표 4가지를 한 번에 이해하는 차트 분석 입문 자료입니다.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44805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algun Gothic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2423160"/>
          </a:xfrm>
          <a:prstGeom prst="rect">
            <a:avLst/>
          </a:prstGeom>
          <a:solidFill>
            <a:srgbClr val="222222"/>
          </a:solidFill>
          <a:ln w="1016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09728" cy="24231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2344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4444"/>
                </a:solidFill>
                <a:latin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이동평균선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77777"/>
                </a:solidFill>
                <a:latin typeface="Malgun Gothic"/>
              </a:rPr>
              <a:t>Moving Average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031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Malgun Gothic"/>
              </a:rPr>
              <a:t>일정 기간 종가 평균선
추세·지지·저항 파악의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486400" cy="2423160"/>
          </a:xfrm>
          <a:prstGeom prst="rect">
            <a:avLst/>
          </a:prstGeom>
          <a:solidFill>
            <a:srgbClr val="222222"/>
          </a:solidFill>
          <a:ln w="1016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109728" cy="242316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2344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488FF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볼린저밴드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77777"/>
                </a:solidFill>
                <a:latin typeface="Malgun Gothic"/>
              </a:rPr>
              <a:t>Bollinger Bands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031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Malgun Gothic"/>
              </a:rPr>
              <a:t>MA ± 2σ 3선 구조
변동성과 가격 위치 동시 파악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40"/>
            <a:ext cx="5486400" cy="2423160"/>
          </a:xfrm>
          <a:prstGeom prst="rect">
            <a:avLst/>
          </a:prstGeom>
          <a:solidFill>
            <a:srgbClr val="222222"/>
          </a:solidFill>
          <a:ln w="10160">
            <a:solidFill>
              <a:srgbClr val="D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749040"/>
            <a:ext cx="109728" cy="242316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8862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FF00"/>
                </a:solidFill>
                <a:latin typeface="Malgun Gothi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일목균형표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77777"/>
                </a:solidFill>
                <a:latin typeface="Malgun Gothic"/>
              </a:rPr>
              <a:t>Ichimoku 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7548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Malgun Gothic"/>
              </a:rPr>
              <a:t>5선+구름대 종합 지표
추세·지지·저항·모멘텀 한눈에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49040"/>
            <a:ext cx="5486400" cy="2423160"/>
          </a:xfrm>
          <a:prstGeom prst="rect">
            <a:avLst/>
          </a:prstGeom>
          <a:solidFill>
            <a:srgbClr val="222222"/>
          </a:solidFill>
          <a:ln w="1016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749040"/>
            <a:ext cx="109728" cy="242316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38862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AA00"/>
                </a:solidFill>
                <a:latin typeface="Malgun Gothi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엔벨로프선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77777"/>
                </a:solidFill>
                <a:latin typeface="Malgun Gothic"/>
              </a:rPr>
              <a:t>Envelope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7548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Malgun Gothic"/>
              </a:rPr>
              <a:t>MA ± 고정% 3선 구조
횡보장 과매수·과매도 파악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Malgun Gothic"/>
              </a:rPr>
              <a:t>이동평균선 (Moving Average)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Malgun Gothic"/>
              </a:rPr>
              <a:t>일정 기간 종가의 평균을 이어 추세 방향을 파악하는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257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 b="1">
                <a:solidFill>
                  <a:srgbClr val="D4FF00"/>
                </a:solidFill>
                <a:latin typeface="Malgun Gothic"/>
              </a:rPr>
              <a:t>📌 개념</a:t>
            </a:r>
          </a:p>
          <a:p>
            <a:pPr>
              <a:spcBef>
                <a:spcPts val="300"/>
              </a:spcBef>
            </a:pPr>
            <a:endParaRPr sz="1500" b="1">
              <a:solidFill>
                <a:srgbClr val="D4FF00"/>
              </a:solidFill>
              <a:latin typeface="Malgun Gothic"/>
            </a:endParaRP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  · 일정 기간(n일) 종가 평균값을 연결한 선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  · 단기 노이즈를 제거하고 추세를 부드럽게 표시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  · 기간이 길수록 느리게, 짧을수록 빠르게 반응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246120"/>
            <a:ext cx="5257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 b="1" dirty="0">
                <a:solidFill>
                  <a:srgbClr val="D4FF00"/>
                </a:solidFill>
                <a:latin typeface="Malgun Gothic"/>
              </a:rPr>
              <a:t>📊 </a:t>
            </a:r>
            <a:r>
              <a:rPr sz="1500" b="1" dirty="0" err="1">
                <a:solidFill>
                  <a:srgbClr val="D4FF00"/>
                </a:solidFill>
                <a:latin typeface="Malgun Gothic"/>
              </a:rPr>
              <a:t>주요</a:t>
            </a:r>
            <a:r>
              <a:rPr sz="1500" b="1" dirty="0">
                <a:solidFill>
                  <a:srgbClr val="D4FF00"/>
                </a:solidFill>
                <a:latin typeface="Malgun Gothic"/>
              </a:rPr>
              <a:t> </a:t>
            </a:r>
            <a:r>
              <a:rPr sz="1500" b="1" dirty="0" err="1">
                <a:solidFill>
                  <a:srgbClr val="D4FF00"/>
                </a:solidFill>
                <a:latin typeface="Malgun Gothic"/>
              </a:rPr>
              <a:t>기간선</a:t>
            </a:r>
            <a:endParaRPr sz="1500" b="1" dirty="0">
              <a:solidFill>
                <a:srgbClr val="D4FF00"/>
              </a:solidFill>
              <a:latin typeface="Malgun Gothic"/>
            </a:endParaRPr>
          </a:p>
          <a:p>
            <a:pPr>
              <a:spcBef>
                <a:spcPts val="300"/>
              </a:spcBef>
            </a:pPr>
            <a:endParaRPr sz="1500" b="1" dirty="0">
              <a:solidFill>
                <a:srgbClr val="D4FF00"/>
              </a:solidFill>
              <a:latin typeface="Malgun Gothic"/>
            </a:endParaRPr>
          </a:p>
          <a:p>
            <a:pPr>
              <a:spcBef>
                <a:spcPts val="300"/>
              </a:spcBef>
            </a:pPr>
            <a:r>
              <a:rPr sz="1500" b="0" dirty="0">
                <a:solidFill>
                  <a:srgbClr val="FFFFFF"/>
                </a:solidFill>
                <a:latin typeface="Malgun Gothic"/>
              </a:rPr>
              <a:t>    5일선  ── 1주 </a:t>
            </a:r>
            <a:r>
              <a:rPr sz="1500" b="0" dirty="0" err="1">
                <a:solidFill>
                  <a:srgbClr val="FFFFFF"/>
                </a:solidFill>
                <a:latin typeface="Malgun Gothic"/>
              </a:rPr>
              <a:t>평균</a:t>
            </a:r>
            <a:r>
              <a:rPr sz="1500" b="0" dirty="0">
                <a:solidFill>
                  <a:srgbClr val="FFFFFF"/>
                </a:solidFill>
                <a:latin typeface="Malgun Gothic"/>
              </a:rPr>
              <a:t>  (</a:t>
            </a:r>
            <a:r>
              <a:rPr sz="1500" b="0" dirty="0" err="1">
                <a:solidFill>
                  <a:srgbClr val="FFFFFF"/>
                </a:solidFill>
                <a:latin typeface="Malgun Gothic"/>
              </a:rPr>
              <a:t>초단기</a:t>
            </a:r>
            <a:r>
              <a:rPr sz="1500" b="0" dirty="0">
                <a:solidFill>
                  <a:srgbClr val="FFFFFF"/>
                </a:solidFill>
                <a:latin typeface="Malgun Gothic"/>
              </a:rPr>
              <a:t>)</a:t>
            </a:r>
          </a:p>
          <a:p>
            <a:pPr>
              <a:spcBef>
                <a:spcPts val="300"/>
              </a:spcBef>
            </a:pPr>
            <a:r>
              <a:rPr sz="1500" b="0" dirty="0">
                <a:solidFill>
                  <a:srgbClr val="FFFFFF"/>
                </a:solidFill>
                <a:latin typeface="Malgun Gothic"/>
              </a:rPr>
              <a:t>   </a:t>
            </a:r>
            <a:r>
              <a:rPr sz="1500" b="0" dirty="0">
                <a:solidFill>
                  <a:srgbClr val="FF0000"/>
                </a:solidFill>
                <a:latin typeface="Malgun Gothic"/>
              </a:rPr>
              <a:t>20일선  ── 1달 </a:t>
            </a:r>
            <a:r>
              <a:rPr sz="1500" b="0" dirty="0" err="1">
                <a:solidFill>
                  <a:srgbClr val="FF0000"/>
                </a:solidFill>
                <a:latin typeface="Malgun Gothic"/>
              </a:rPr>
              <a:t>평균</a:t>
            </a:r>
            <a:r>
              <a:rPr sz="1500" b="0" dirty="0">
                <a:solidFill>
                  <a:srgbClr val="FF0000"/>
                </a:solidFill>
                <a:latin typeface="Malgun Gothic"/>
              </a:rPr>
              <a:t>  (</a:t>
            </a:r>
            <a:r>
              <a:rPr lang="ko-KR" altLang="en-US" sz="1500" b="0" dirty="0">
                <a:solidFill>
                  <a:srgbClr val="FF0000"/>
                </a:solidFill>
                <a:latin typeface="Malgun Gothic"/>
              </a:rPr>
              <a:t>단기</a:t>
            </a:r>
            <a:r>
              <a:rPr lang="en-US" altLang="ko-KR" sz="1500" b="0" dirty="0">
                <a:solidFill>
                  <a:srgbClr val="FF0000"/>
                </a:solidFill>
                <a:latin typeface="Malgun Gothic"/>
              </a:rPr>
              <a:t>)</a:t>
            </a:r>
            <a:endParaRPr sz="1500" b="0" dirty="0">
              <a:solidFill>
                <a:srgbClr val="FF0000"/>
              </a:solidFill>
              <a:latin typeface="Malgun Gothic"/>
            </a:endParaRPr>
          </a:p>
          <a:p>
            <a:pPr>
              <a:spcBef>
                <a:spcPts val="300"/>
              </a:spcBef>
            </a:pPr>
            <a:r>
              <a:rPr sz="1500" b="0" dirty="0">
                <a:solidFill>
                  <a:srgbClr val="FF0000"/>
                </a:solidFill>
                <a:latin typeface="Malgun Gothic"/>
              </a:rPr>
              <a:t>   60일선  ── 3달 </a:t>
            </a:r>
            <a:r>
              <a:rPr sz="1500" b="0" dirty="0" err="1">
                <a:solidFill>
                  <a:srgbClr val="FF0000"/>
                </a:solidFill>
                <a:latin typeface="Malgun Gothic"/>
              </a:rPr>
              <a:t>평균</a:t>
            </a:r>
            <a:r>
              <a:rPr sz="1500" b="0" dirty="0">
                <a:solidFill>
                  <a:srgbClr val="FF0000"/>
                </a:solidFill>
                <a:latin typeface="Malgun Gothic"/>
              </a:rPr>
              <a:t>  (</a:t>
            </a:r>
            <a:r>
              <a:rPr sz="1500" b="0" dirty="0" err="1">
                <a:solidFill>
                  <a:srgbClr val="FF0000"/>
                </a:solidFill>
                <a:latin typeface="Malgun Gothic"/>
              </a:rPr>
              <a:t>중기</a:t>
            </a:r>
            <a:r>
              <a:rPr sz="1500" b="0" dirty="0">
                <a:solidFill>
                  <a:srgbClr val="FF0000"/>
                </a:solidFill>
                <a:latin typeface="Malgun Gothic"/>
              </a:rPr>
              <a:t>)</a:t>
            </a:r>
          </a:p>
          <a:p>
            <a:pPr>
              <a:spcBef>
                <a:spcPts val="300"/>
              </a:spcBef>
            </a:pPr>
            <a:r>
              <a:rPr sz="1500" b="0" dirty="0">
                <a:solidFill>
                  <a:srgbClr val="FF0000"/>
                </a:solidFill>
                <a:latin typeface="Malgun Gothic"/>
              </a:rPr>
              <a:t>  120일선  ── 6달 </a:t>
            </a:r>
            <a:r>
              <a:rPr sz="1500" b="0" dirty="0" err="1">
                <a:solidFill>
                  <a:srgbClr val="FF0000"/>
                </a:solidFill>
                <a:latin typeface="Malgun Gothic"/>
              </a:rPr>
              <a:t>평균</a:t>
            </a:r>
            <a:r>
              <a:rPr sz="1500" b="0" dirty="0">
                <a:solidFill>
                  <a:srgbClr val="FF0000"/>
                </a:solidFill>
                <a:latin typeface="Malgun Gothic"/>
              </a:rPr>
              <a:t>  (</a:t>
            </a:r>
            <a:r>
              <a:rPr sz="1500" b="0" dirty="0" err="1">
                <a:solidFill>
                  <a:srgbClr val="FF0000"/>
                </a:solidFill>
                <a:latin typeface="Malgun Gothic"/>
              </a:rPr>
              <a:t>장기</a:t>
            </a:r>
            <a:r>
              <a:rPr sz="1500" b="0" dirty="0">
                <a:solidFill>
                  <a:srgbClr val="FF0000"/>
                </a:solidFill>
                <a:latin typeface="Malgun Gothic"/>
              </a:rPr>
              <a:t>)</a:t>
            </a:r>
          </a:p>
          <a:p>
            <a:pPr>
              <a:spcBef>
                <a:spcPts val="300"/>
              </a:spcBef>
            </a:pPr>
            <a:r>
              <a:rPr sz="1500" b="0" dirty="0">
                <a:solidFill>
                  <a:srgbClr val="FFFFFF"/>
                </a:solidFill>
                <a:latin typeface="Malgun Gothic"/>
              </a:rPr>
              <a:t>  240일선  ── 1년 </a:t>
            </a:r>
            <a:r>
              <a:rPr sz="1500" b="0" dirty="0" err="1">
                <a:solidFill>
                  <a:srgbClr val="FFFFFF"/>
                </a:solidFill>
                <a:latin typeface="Malgun Gothic"/>
              </a:rPr>
              <a:t>평균</a:t>
            </a:r>
            <a:r>
              <a:rPr sz="1500" b="0" dirty="0">
                <a:solidFill>
                  <a:srgbClr val="FFFFFF"/>
                </a:solidFill>
                <a:latin typeface="Malgun Gothic"/>
              </a:rPr>
              <a:t>  (</a:t>
            </a:r>
            <a:r>
              <a:rPr sz="1500" b="0" dirty="0" err="1">
                <a:solidFill>
                  <a:srgbClr val="FFFFFF"/>
                </a:solidFill>
                <a:latin typeface="Malgun Gothic"/>
              </a:rPr>
              <a:t>초장기</a:t>
            </a:r>
            <a:r>
              <a:rPr sz="1500" b="0" dirty="0">
                <a:solidFill>
                  <a:srgbClr val="FFFFFF"/>
                </a:solidFill>
                <a:latin typeface="Malgun Gothic"/>
              </a:rPr>
              <a:t>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Malgun Gothic"/>
              </a:rPr>
              <a:t>이동평균선 — 크로스 신호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Malgun Gothic"/>
              </a:rPr>
              <a:t>단기선이 장기선을 돌파하는 순간 매매 신호 발생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257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 b="1">
                <a:solidFill>
                  <a:srgbClr val="D4FF00"/>
                </a:solidFill>
                <a:latin typeface="Malgun Gothic"/>
              </a:rPr>
              <a:t>골든크로스 (매수 신호)</a:t>
            </a:r>
          </a:p>
          <a:p>
            <a:pPr>
              <a:spcBef>
                <a:spcPts val="300"/>
              </a:spcBef>
            </a:pPr>
            <a:endParaRPr sz="1500" b="1">
              <a:solidFill>
                <a:srgbClr val="D4FF00"/>
              </a:solidFill>
              <a:latin typeface="Malgun Gothic"/>
            </a:endParaRP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  단기선이 장기선을 아래 -&gt; 위로 돌파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  상승 모멘텀이 장기 평균을 넘어선 신호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108960"/>
            <a:ext cx="5257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 b="1">
                <a:solidFill>
                  <a:srgbClr val="FF4444"/>
                </a:solidFill>
                <a:latin typeface="Malgun Gothic"/>
              </a:rPr>
              <a:t>데드크로스 (매도 신호)</a:t>
            </a:r>
          </a:p>
          <a:p>
            <a:pPr>
              <a:spcBef>
                <a:spcPts val="300"/>
              </a:spcBef>
            </a:pPr>
            <a:endParaRPr sz="1500" b="1">
              <a:solidFill>
                <a:srgbClr val="FF4444"/>
              </a:solidFill>
              <a:latin typeface="Malgun Gothic"/>
            </a:endParaRP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  단기선이 장기선을 위 -&gt; 아래로 돌파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  하락 모멘텀이 장기 평균 아래로 내려간 신호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074920"/>
            <a:ext cx="5257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 b="1">
                <a:solidFill>
                  <a:srgbClr val="FFAA00"/>
                </a:solidFill>
                <a:latin typeface="Malgun Gothic"/>
              </a:rPr>
              <a:t>주의사항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  · 후행성 지표 — 신호는 항상 약간 늦게 나온다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  · 횡보장에서는 크로스가 잦아 신뢰도 하락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  · 단독보다 다른 지표와 병행 권장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Malgun Gothic"/>
              </a:rPr>
              <a:t>이동평균선 — 정배열과 역배열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Malgun Gothic"/>
              </a:rPr>
              <a:t>이동평균선 순서로 시장 전체 분위기를 파악한다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1">
                <a:solidFill>
                  <a:srgbClr val="D4FF00"/>
                </a:solidFill>
                <a:latin typeface="Malgun Gothic"/>
              </a:rPr>
              <a:t>  정배열: 주가 &gt; 5일 &gt; 20일 &gt; 60일  -&gt;  강한 상승 추세  -&gt;  눌림목 매수 유효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FF4444"/>
                </a:solidFill>
                <a:latin typeface="Malgun Gothic"/>
              </a:rPr>
              <a:t>  역배열: 60일 &gt; 20일 &gt; 5일 &gt; 주가  -&gt;  강한 하락 추세  -&gt;  반등 매도 / 단기 주의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83080"/>
            <a:ext cx="116128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Malgun Gothic"/>
              </a:rPr>
              <a:t>볼린저밴드 (Bollinger Bands)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Malgun Gothic"/>
              </a:rPr>
              <a:t>이동평균선 ± 표준편차(2σ) 3선 구조 — 변동성과 가격 위치 동시 파악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257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 b="1">
                <a:solidFill>
                  <a:srgbClr val="D4FF00"/>
                </a:solidFill>
                <a:latin typeface="Malgun Gothic"/>
              </a:rPr>
              <a:t>📌 개념</a:t>
            </a:r>
          </a:p>
          <a:p>
            <a:pPr>
              <a:spcBef>
                <a:spcPts val="300"/>
              </a:spcBef>
            </a:pPr>
            <a:endParaRPr sz="1500" b="1">
              <a:solidFill>
                <a:srgbClr val="D4FF00"/>
              </a:solidFill>
              <a:latin typeface="Malgun Gothic"/>
            </a:endParaRP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  존 볼린저(John Bollinger) 1980년대 개발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  이동평균 기준 통계적 변동 범위를 시각화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777777"/>
                </a:solidFill>
                <a:latin typeface="Malgun Gothic"/>
              </a:rPr>
              <a:t>  가격의 약 95%가 밴드 안에 존재 (통계적)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0"/>
            <a:ext cx="5257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 b="1">
                <a:solidFill>
                  <a:srgbClr val="D4FF00"/>
                </a:solidFill>
                <a:latin typeface="Malgun Gothic"/>
              </a:rPr>
              <a:t>구성 공식</a:t>
            </a:r>
          </a:p>
          <a:p>
            <a:pPr>
              <a:spcBef>
                <a:spcPts val="300"/>
              </a:spcBef>
            </a:pPr>
            <a:endParaRPr sz="1500" b="1">
              <a:solidFill>
                <a:srgbClr val="D4FF00"/>
              </a:solidFill>
              <a:latin typeface="Malgun Gothic"/>
            </a:endParaRP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D4FF00"/>
                </a:solidFill>
                <a:latin typeface="Malgun Gothic"/>
              </a:rPr>
              <a:t>  중간밴드 = MA20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FF4444"/>
                </a:solidFill>
                <a:latin typeface="Malgun Gothic"/>
              </a:rPr>
              <a:t>  상단밴드 = MA20 + 2 x 표준편차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4488FF"/>
                </a:solidFill>
                <a:latin typeface="Malgun Gothic"/>
              </a:rPr>
              <a:t>  하단밴드 = MA20 - 2 x 표준편차</a:t>
            </a:r>
          </a:p>
          <a:p>
            <a:pPr>
              <a:spcBef>
                <a:spcPts val="300"/>
              </a:spcBef>
            </a:pPr>
            <a:endParaRPr sz="1500" b="1">
              <a:solidFill>
                <a:srgbClr val="4488FF"/>
              </a:solidFill>
              <a:latin typeface="Malgun Gothic"/>
            </a:endParaRP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777777"/>
                </a:solidFill>
                <a:latin typeface="Malgun Gothic"/>
              </a:rPr>
              <a:t>  상단 터치 = 과매수 / 하단 터치 = 과매도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Malgun Gothic"/>
              </a:rPr>
              <a:t>볼린저밴드 — 수축(Squeeze)과 팽창(Expansion)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Malgun Gothic"/>
              </a:rPr>
              <a:t>밴드 폭의 변화가 변동성과 방향성을 예고한다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1">
                <a:solidFill>
                  <a:srgbClr val="D4FF00"/>
                </a:solidFill>
                <a:latin typeface="Malgun Gothic"/>
              </a:rPr>
              <a:t>  수축(Squeeze): 밴드 폭 좁아짐 = 변동성 감소 -&gt; 큰 움직임 임박 (방향 미확인)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FF4444"/>
                </a:solidFill>
                <a:latin typeface="Malgun Gothic"/>
              </a:rPr>
              <a:t>  팽창(Expansion): 밴드 폭 넓어짐 = 변동성 증가 -&gt; 추세 형성 중 (방향 확인 후 대응)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83080"/>
            <a:ext cx="116128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Malgun Gothic"/>
              </a:rPr>
              <a:t>일목균형표 (Ichimoku Cloud)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Malgun Gothic"/>
              </a:rPr>
              <a:t>5선+구름대로 추세·지지·저항·모멘텀을 동시 표시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417320" cy="5943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0D"/>
                </a:solidFill>
                <a:latin typeface="Malgun Gothic"/>
              </a:rPr>
              <a:t>전환선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(9일 최고+최저) / 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64792"/>
            <a:ext cx="1417320" cy="59436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85623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0D"/>
                </a:solidFill>
                <a:latin typeface="Malgun Gothic"/>
              </a:rPr>
              <a:t>기준선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5623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(26일 최고+최저) /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32304"/>
            <a:ext cx="1417320" cy="59436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252374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0D"/>
                </a:solidFill>
                <a:latin typeface="Malgun Gothic"/>
              </a:rPr>
              <a:t>선행스팬1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523744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(전환선+기준선) / 2  -&gt;  26일 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99816"/>
            <a:ext cx="1417320" cy="59436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3191256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0D"/>
                </a:solidFill>
                <a:latin typeface="Malgun Gothic"/>
              </a:rPr>
              <a:t>선행스팬2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19125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(52일 최고+최저) / 2  -&gt;  26일 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67328"/>
            <a:ext cx="1417320" cy="59436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385876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0D"/>
                </a:solidFill>
                <a:latin typeface="Malgun Gothic"/>
              </a:rPr>
              <a:t>후행스팬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85876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당일 종가를 26일 전에 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663440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1">
                <a:solidFill>
                  <a:srgbClr val="D4FF00"/>
                </a:solidFill>
                <a:latin typeface="Malgun Gothic"/>
              </a:rPr>
              <a:t>구름대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00CC66"/>
                </a:solidFill>
                <a:latin typeface="Malgun Gothic"/>
              </a:rPr>
              <a:t>  스팬1 &gt; 스팬2 = 양운(지지) / 가격 위 = 상승 추세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4444"/>
                </a:solidFill>
                <a:latin typeface="Malgun Gothic"/>
              </a:rPr>
              <a:t>  스팬2 &gt; 스팬1 = 음운(저항) / 가격 아래 = 하락 추세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D4FF00"/>
                </a:solidFill>
                <a:latin typeface="Malgun Gothic"/>
              </a:rPr>
              <a:t>  구름 돌파 = 강한 추세 전환 신호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Malgun Gothic"/>
              </a:rPr>
              <a:t>일목균형표 — 구름대(雲)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Malgun Gothic"/>
              </a:rPr>
              <a:t>선행스팬1과 2 사이 구역 = 미래의 지지·저항대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257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 b="1">
                <a:solidFill>
                  <a:srgbClr val="D4FF00"/>
                </a:solidFill>
                <a:latin typeface="Malgun Gothic"/>
              </a:rPr>
              <a:t>구름대란?</a:t>
            </a:r>
          </a:p>
          <a:p>
            <a:pPr>
              <a:spcBef>
                <a:spcPts val="300"/>
              </a:spcBef>
            </a:pPr>
            <a:endParaRPr sz="1500" b="1">
              <a:solidFill>
                <a:srgbClr val="D4FF00"/>
              </a:solidFill>
              <a:latin typeface="Malgun Gothic"/>
            </a:endParaRP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  선행스팬1과 2 사이 영역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  현재보다 26일 앞에 그려짐 -&gt; 미래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926080"/>
            <a:ext cx="5257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1">
                <a:solidFill>
                  <a:srgbClr val="00CC66"/>
                </a:solidFill>
                <a:latin typeface="Malgun Gothic"/>
              </a:rPr>
              <a:t>양운 (상승 구름)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  <a:latin typeface="Malgun Gothic"/>
              </a:rPr>
              <a:t>  스팬1 &gt; 스팬2 / 가격이 구름 위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  <a:latin typeface="Malgun Gothic"/>
              </a:rPr>
              <a:t>  -&gt; 상승 추세 / 구름 = 지지대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26280"/>
            <a:ext cx="5257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1">
                <a:solidFill>
                  <a:srgbClr val="FF4444"/>
                </a:solidFill>
                <a:latin typeface="Malgun Gothic"/>
              </a:rPr>
              <a:t>음운 (하락 구름)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  <a:latin typeface="Malgun Gothic"/>
              </a:rPr>
              <a:t>  스팬2 &gt; 스팬1 / 가격이 구름 아래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  <a:latin typeface="Malgun Gothic"/>
              </a:rPr>
              <a:t>  -&gt; 하락 추세 / 구름 = 저항대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17220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FF00"/>
                </a:solidFill>
                <a:latin typeface="Malgun Gothic"/>
              </a:rPr>
              <a:t>구름 두꺼울수록 지지·저항 강함  /  구름 돌파 = 추세 전환 신호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Malgun Gothic"/>
              </a:rPr>
              <a:t>엔벨로프선 (Envelope)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Malgun Gothic"/>
              </a:rPr>
              <a:t>이동평균에서 고정 비율(%)로 평행 이동 — 횡보장 과매수·과매도 파악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257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 b="1">
                <a:solidFill>
                  <a:srgbClr val="D4FF00"/>
                </a:solidFill>
                <a:latin typeface="Malgun Gothic"/>
              </a:rPr>
              <a:t>📌 개념 및 구성</a:t>
            </a:r>
          </a:p>
          <a:p>
            <a:pPr>
              <a:spcBef>
                <a:spcPts val="300"/>
              </a:spcBef>
            </a:pPr>
            <a:endParaRPr sz="1500" b="1">
              <a:solidFill>
                <a:srgbClr val="D4FF00"/>
              </a:solidFill>
              <a:latin typeface="Malgun Gothic"/>
            </a:endParaRP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FF4444"/>
                </a:solidFill>
                <a:latin typeface="Malgun Gothic"/>
              </a:rPr>
              <a:t>  상단선 = MA x (1 + n%)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D4FF00"/>
                </a:solidFill>
                <a:latin typeface="Malgun Gothic"/>
              </a:rPr>
              <a:t>  중간선 = MA (이동평균)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4488FF"/>
                </a:solidFill>
                <a:latin typeface="Malgun Gothic"/>
              </a:rPr>
              <a:t>  하단선 = MA x (1 - n%)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777777"/>
                </a:solidFill>
                <a:latin typeface="Malgun Gothic"/>
              </a:rPr>
              <a:t>  n%: 종목 변동성에 맞게 설정 (보통 5~15%)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749039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1">
                <a:solidFill>
                  <a:srgbClr val="FFAA00"/>
                </a:solidFill>
                <a:latin typeface="Malgun Gothic"/>
              </a:rPr>
              <a:t>볼린저밴드와의 차이</a:t>
            </a:r>
          </a:p>
          <a:p>
            <a:pPr>
              <a:spcBef>
                <a:spcPts val="300"/>
              </a:spcBef>
            </a:pPr>
            <a:endParaRPr sz="1400" b="1">
              <a:solidFill>
                <a:srgbClr val="FFAA00"/>
              </a:solidFill>
              <a:latin typeface="Malgun Gothic"/>
            </a:endParaRP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  <a:latin typeface="Malgun Gothic"/>
              </a:rPr>
              <a:t>  엔벨로프   -&gt; 고정 비율 / 밴드 폭 일정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  <a:latin typeface="Malgun Gothic"/>
              </a:rPr>
              <a:t>  볼린저밴드 -&gt; 표준편차  / 밴드 폭 변동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577840"/>
            <a:ext cx="5257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1">
                <a:solidFill>
                  <a:srgbClr val="D4FF00"/>
                </a:solidFill>
                <a:latin typeface="Malgun Gothic"/>
              </a:rPr>
              <a:t>활용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  <a:latin typeface="Malgun Gothic"/>
              </a:rPr>
              <a:t>  상단 터치 -&gt; 과매수 -&gt; 차익 매도 검토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  <a:latin typeface="Malgun Gothic"/>
              </a:rPr>
              <a:t>  하단 터치 -&gt; 과매도 -&gt; 분할 매수 검토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  <a:latin typeface="Malgun Gothic"/>
              </a:rPr>
              <a:t>  횡보(박스권)장에서 특히 유효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4가지 지표 비교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40312" cy="4572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  <a:latin typeface="Malgun Gothic"/>
              </a:rPr>
              <a:t>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0515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  <a:latin typeface="Malgun Gothic"/>
              </a:rPr>
              <a:t>구성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0515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  <a:latin typeface="Malgun Gothic"/>
              </a:rPr>
              <a:t>주요 용도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0515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  <a:latin typeface="Malgun Gothic"/>
              </a:rPr>
              <a:t>특이점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11640312" cy="1216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91440" cy="1216152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618488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444"/>
                </a:solidFill>
                <a:latin typeface="Malgun Gothic"/>
              </a:rPr>
              <a:t>이동평균선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161848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n일 종가 평균선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161848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추세 방향
지지·저항 파악
크로스 신호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1618488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후행성 지표
단순·직관적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70632"/>
            <a:ext cx="11640312" cy="121615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770632"/>
            <a:ext cx="91440" cy="1216152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28803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488FF"/>
                </a:solidFill>
                <a:latin typeface="Malgun Gothic"/>
              </a:rPr>
              <a:t>볼린저밴드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4328" y="28803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MA ± 2σ
3선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880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변동성 분석
과매수·과매도
수축·팽창 패턴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28803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변동성 반영
밴드 폭 변동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32504"/>
            <a:ext cx="11640312" cy="1216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4032504"/>
            <a:ext cx="91440" cy="1216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4142232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FF00"/>
                </a:solidFill>
                <a:latin typeface="Malgun Gothic"/>
              </a:rPr>
              <a:t>일목균형표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4328" y="4142232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5선 + 구름대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414223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추세·지지·저항
모멘텀 동시
미래 예고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4142232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가장 복잡
선행 정보 포함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294376"/>
            <a:ext cx="11640312" cy="121615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5294376"/>
            <a:ext cx="91440" cy="1216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" y="5404104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A00"/>
                </a:solidFill>
                <a:latin typeface="Malgun Gothic"/>
              </a:rPr>
              <a:t>엔벨로프선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24328" y="5404104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MA ± 고정%
3선 구조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5404104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과매수·과매도
횡보장 매매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96528" y="5404104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고정 비율
설정 단순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FF00"/>
                </a:solidFill>
                <a:latin typeface="Malgun Gothic"/>
              </a:rPr>
              <a:t>실전 흐름: 이동평균선으로 추세 확인  -&gt;  볼린저밴드·엔벨로프로 진입 타이밍  -&gt;  일목균형표로 지지·저항 검증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오늘의 핵심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5669280" cy="2468880"/>
          </a:xfrm>
          <a:prstGeom prst="rect">
            <a:avLst/>
          </a:prstGeom>
          <a:solidFill>
            <a:srgbClr val="222222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28016" cy="24688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4444"/>
                </a:solidFill>
                <a:latin typeface="Malgun Gothic"/>
              </a:rPr>
              <a:t>이동평균선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추세의 방향을 확인한다.
골든·데드크로스로 전환 포착.
정배열=상승 / 역배열=하락.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051560"/>
            <a:ext cx="5669280" cy="2468880"/>
          </a:xfrm>
          <a:prstGeom prst="rect">
            <a:avLst/>
          </a:prstGeom>
          <a:solidFill>
            <a:srgbClr val="222222"/>
          </a:solidFill>
          <a:ln w="1905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051560"/>
            <a:ext cx="128016" cy="246888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21615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88FF"/>
                </a:solidFill>
                <a:latin typeface="Malgun Gothic"/>
              </a:rPr>
              <a:t>볼린저밴드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73736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변동성을 눈으로 본다.
수축 후 팽창 = 큰 움직임 예고.
상단=과매수 / 하단=과매도.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03320"/>
            <a:ext cx="5669280" cy="2468880"/>
          </a:xfrm>
          <a:prstGeom prst="rect">
            <a:avLst/>
          </a:prstGeom>
          <a:solidFill>
            <a:srgbClr val="222222"/>
          </a:solidFill>
          <a:ln w="19050">
            <a:solidFill>
              <a:srgbClr val="D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3703320"/>
            <a:ext cx="128016" cy="246888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86791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FF00"/>
                </a:solidFill>
                <a:latin typeface="Malgun Gothic"/>
              </a:rPr>
              <a:t>일목균형표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하나로 모든 걸 담는다.
구름 위=상승 / 아래=하락.
구름 돌파 = 강한 추세 전환.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703320"/>
            <a:ext cx="5669280" cy="2468880"/>
          </a:xfrm>
          <a:prstGeom prst="rect">
            <a:avLst/>
          </a:prstGeom>
          <a:solidFill>
            <a:srgbClr val="222222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128016" cy="246888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86791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AA00"/>
                </a:solidFill>
                <a:latin typeface="Malgun Gothic"/>
              </a:rPr>
              <a:t>엔벨로프선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3891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정상 범위를 설정한다.
상단=과매수 / 하단=과매도.
횡보장에서 특히 효과적.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981</Words>
  <Application>Microsoft Office PowerPoint</Application>
  <PresentationFormat>사용자 지정</PresentationFormat>
  <Paragraphs>146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은수 김</cp:lastModifiedBy>
  <cp:revision>2</cp:revision>
  <dcterms:created xsi:type="dcterms:W3CDTF">2013-01-27T09:14:16Z</dcterms:created>
  <dcterms:modified xsi:type="dcterms:W3CDTF">2026-06-30T07:45:07Z</dcterms:modified>
  <cp:category/>
</cp:coreProperties>
</file>