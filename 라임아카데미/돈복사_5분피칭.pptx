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82" r:id="rId3"/>
    <p:sldId id="280" r:id="rId4"/>
    <p:sldId id="257" r:id="rId5"/>
    <p:sldId id="275" r:id="rId6"/>
    <p:sldId id="259" r:id="rId7"/>
    <p:sldId id="262" r:id="rId8"/>
    <p:sldId id="277" r:id="rId9"/>
    <p:sldId id="28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9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0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4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0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4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2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2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9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3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6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8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BE44D-102C-DDBD-8811-009ADA66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D6E70D-A5F0-552B-90FB-A626DCA35565}"/>
              </a:ext>
            </a:extLst>
          </p:cNvPr>
          <p:cNvSpPr txBox="1"/>
          <p:nvPr/>
        </p:nvSpPr>
        <p:spPr>
          <a:xfrm>
            <a:off x="1981199" y="408912"/>
            <a:ext cx="8229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 latinLnBrk="0"/>
            <a:r>
              <a:rPr lang="ko-KR" altLang="ko-KR" sz="6600" dirty="0">
                <a:solidFill>
                  <a:schemeClr val="bg1"/>
                </a:solidFill>
              </a:rPr>
              <a:t>衣食住</a:t>
            </a:r>
            <a:endParaRPr kumimoji="0" sz="4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64ED85-A830-4EF9-1C75-6B6CB1C3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98" y="1751457"/>
            <a:ext cx="9516803" cy="4115374"/>
          </a:xfrm>
          <a:prstGeom prst="rect">
            <a:avLst/>
          </a:prstGeom>
          <a:ln w="12700">
            <a:solidFill>
              <a:srgbClr val="D4FF00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C131E39-A3D0-ADA0-623E-E5638E9B43CF}"/>
              </a:ext>
            </a:extLst>
          </p:cNvPr>
          <p:cNvSpPr/>
          <p:nvPr/>
        </p:nvSpPr>
        <p:spPr>
          <a:xfrm>
            <a:off x="6188466" y="4238233"/>
            <a:ext cx="962348" cy="231025"/>
          </a:xfrm>
          <a:prstGeom prst="rect">
            <a:avLst/>
          </a:prstGeom>
          <a:noFill/>
          <a:ln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501D8E-6849-B259-AC39-6E247FAF653E}"/>
              </a:ext>
            </a:extLst>
          </p:cNvPr>
          <p:cNvSpPr/>
          <p:nvPr/>
        </p:nvSpPr>
        <p:spPr>
          <a:xfrm>
            <a:off x="8231310" y="5048180"/>
            <a:ext cx="635288" cy="222464"/>
          </a:xfrm>
          <a:prstGeom prst="rect">
            <a:avLst/>
          </a:prstGeom>
          <a:noFill/>
          <a:ln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65AB82-90F9-8487-CE9E-7B69C6B6588C}"/>
              </a:ext>
            </a:extLst>
          </p:cNvPr>
          <p:cNvSpPr/>
          <p:nvPr/>
        </p:nvSpPr>
        <p:spPr>
          <a:xfrm>
            <a:off x="6690187" y="5634093"/>
            <a:ext cx="1190091" cy="231024"/>
          </a:xfrm>
          <a:prstGeom prst="rect">
            <a:avLst/>
          </a:prstGeom>
          <a:noFill/>
          <a:ln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97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4BC56-72A6-D6D6-B386-DA2C046F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98991-1E87-32CB-756A-C2DCA54D36F2}"/>
              </a:ext>
            </a:extLst>
          </p:cNvPr>
          <p:cNvSpPr txBox="1"/>
          <p:nvPr/>
        </p:nvSpPr>
        <p:spPr>
          <a:xfrm>
            <a:off x="1133582" y="2628781"/>
            <a:ext cx="9144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의식주를 구하려면 </a:t>
            </a:r>
            <a:r>
              <a:rPr lang="en-US" altLang="ko-KR" sz="4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= </a:t>
            </a:r>
            <a:endParaRPr kumimoji="0" sz="4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D5B21-C0A9-D9A3-85E1-B9649BA6D3BB}"/>
              </a:ext>
            </a:extLst>
          </p:cNvPr>
          <p:cNvSpPr txBox="1"/>
          <p:nvPr/>
        </p:nvSpPr>
        <p:spPr>
          <a:xfrm>
            <a:off x="8500153" y="2367170"/>
            <a:ext cx="14657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💸</a:t>
            </a:r>
            <a:endParaRPr kumimoji="0" sz="8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40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C1493-17C0-6B6B-F4B3-A9AC2C68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CD1AF-8C16-6608-8021-CAE8DE7B0ED1}"/>
              </a:ext>
            </a:extLst>
          </p:cNvPr>
          <p:cNvSpPr txBox="1"/>
          <p:nvPr/>
        </p:nvSpPr>
        <p:spPr>
          <a:xfrm>
            <a:off x="1524000" y="2605583"/>
            <a:ext cx="9144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600" b="1" dirty="0">
                <a:solidFill>
                  <a:srgbClr val="FFFFFF"/>
                </a:solidFill>
                <a:latin typeface="맑은 고딕"/>
              </a:rPr>
              <a:t>돈으로 해결되지 않는다면</a:t>
            </a:r>
            <a:endParaRPr kumimoji="0" sz="4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D4A09-8AC2-F628-5C1F-751A692CB730}"/>
              </a:ext>
            </a:extLst>
          </p:cNvPr>
          <p:cNvSpPr txBox="1"/>
          <p:nvPr/>
        </p:nvSpPr>
        <p:spPr>
          <a:xfrm>
            <a:off x="1524000" y="3565703"/>
            <a:ext cx="9144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돈이 </a:t>
            </a:r>
            <a:r>
              <a:rPr kumimoji="0" lang="ko-KR" alt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부족한게</a:t>
            </a:r>
            <a:r>
              <a:rPr kumimoji="0" lang="ko-KR" alt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아닌지 생각해보자</a:t>
            </a:r>
            <a:endParaRPr kumimoji="0" sz="46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74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4508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388" y="1097281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sz="7200" b="1" dirty="0" err="1">
                <a:solidFill>
                  <a:srgbClr val="FFFFFF"/>
                </a:solidFill>
                <a:latin typeface="Apple SD Gothic Neo"/>
              </a:rPr>
              <a:t>돈복사</a:t>
            </a:r>
            <a:r>
              <a:rPr lang="en-US" sz="7200" b="1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Apple SD Gothic Neo"/>
              </a:rPr>
              <a:t>MONEY COPY</a:t>
            </a:r>
            <a:endParaRPr sz="7200" b="1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7388" y="2329934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lang="en-US" altLang="ko-KR" sz="1600" dirty="0">
                <a:solidFill>
                  <a:srgbClr val="D4FF00"/>
                </a:solidFill>
                <a:latin typeface="Apple SD Gothic Neo"/>
                <a:ea typeface="맑은 고딕" panose="020B0503020000020004" pitchFamily="50" charset="-127"/>
              </a:rPr>
              <a:t>※ </a:t>
            </a:r>
            <a:r>
              <a:rPr lang="ko-KR" altLang="en-US" sz="1600" dirty="0">
                <a:solidFill>
                  <a:srgbClr val="D4FF00"/>
                </a:solidFill>
                <a:latin typeface="Apple SD Gothic Neo"/>
                <a:ea typeface="맑은 고딕" panose="020B0503020000020004" pitchFamily="50" charset="-127"/>
              </a:rPr>
              <a:t>조폐공사 모임 아님</a:t>
            </a:r>
            <a:r>
              <a:rPr lang="en-US" altLang="ko-KR" sz="1600" dirty="0">
                <a:solidFill>
                  <a:srgbClr val="D4FF00"/>
                </a:solidFill>
                <a:latin typeface="Apple SD Gothic Neo"/>
                <a:ea typeface="맑은 고딕" panose="020B0503020000020004" pitchFamily="50" charset="-127"/>
              </a:rPr>
              <a:t>. </a:t>
            </a:r>
            <a:r>
              <a:rPr lang="ko-KR" altLang="en-US" sz="1600" dirty="0">
                <a:solidFill>
                  <a:srgbClr val="D4FF00"/>
                </a:solidFill>
                <a:latin typeface="Apple SD Gothic Neo"/>
                <a:ea typeface="맑은 고딕" panose="020B0503020000020004" pitchFamily="50" charset="-127"/>
              </a:rPr>
              <a:t>주식투자 공부 모임임</a:t>
            </a:r>
            <a:r>
              <a:rPr lang="en-US" altLang="ko-KR" sz="1600" dirty="0">
                <a:solidFill>
                  <a:srgbClr val="D4FF00"/>
                </a:solidFill>
                <a:latin typeface="Apple SD Gothic Neo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388" y="3931920"/>
            <a:ext cx="105156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7388" y="45720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주식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수익은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, 감(感)이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아닌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
</a:t>
            </a:r>
            <a:r>
              <a:rPr lang="en-US" sz="2000" b="1" dirty="0">
                <a:solidFill>
                  <a:schemeClr val="bg1"/>
                </a:solidFill>
                <a:latin typeface="Apple SD Gothic Neo"/>
              </a:rPr>
              <a:t>'</a:t>
            </a:r>
            <a:r>
              <a:rPr sz="2000" b="1" dirty="0" err="1">
                <a:solidFill>
                  <a:schemeClr val="bg1"/>
                </a:solidFill>
                <a:latin typeface="Apple SD Gothic Neo"/>
              </a:rPr>
              <a:t>검증된</a:t>
            </a:r>
            <a:r>
              <a:rPr sz="2000" b="1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chemeClr val="bg1"/>
                </a:solidFill>
                <a:latin typeface="Apple SD Gothic Neo"/>
              </a:rPr>
              <a:t>조건</a:t>
            </a:r>
            <a:r>
              <a:rPr lang="en-US" sz="2000" b="1" dirty="0" err="1">
                <a:solidFill>
                  <a:schemeClr val="bg1"/>
                </a:solidFill>
                <a:latin typeface="Apple SD Gothic Neo"/>
              </a:rPr>
              <a:t>'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을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반복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실행할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수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있을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때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일어난다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426DE-6E9F-27D1-73E2-610B608C303F}"/>
              </a:ext>
            </a:extLst>
          </p:cNvPr>
          <p:cNvSpPr txBox="1"/>
          <p:nvPr/>
        </p:nvSpPr>
        <p:spPr>
          <a:xfrm>
            <a:off x="687388" y="45720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주식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수익은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, 감(感)이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아닌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
</a:t>
            </a:r>
            <a:r>
              <a:rPr lang="en-US" sz="2000" b="1" dirty="0">
                <a:solidFill>
                  <a:srgbClr val="D4FF00"/>
                </a:solidFill>
                <a:latin typeface="Apple SD Gothic Neo"/>
              </a:rPr>
              <a:t>'</a:t>
            </a:r>
            <a:r>
              <a:rPr sz="2000" b="1" dirty="0" err="1">
                <a:solidFill>
                  <a:srgbClr val="D4FF00"/>
                </a:solidFill>
                <a:latin typeface="Apple SD Gothic Neo"/>
              </a:rPr>
              <a:t>검증된</a:t>
            </a:r>
            <a:r>
              <a:rPr sz="2000" b="1" dirty="0">
                <a:solidFill>
                  <a:srgbClr val="D4FF00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srgbClr val="D4FF00"/>
                </a:solidFill>
                <a:latin typeface="Apple SD Gothic Neo"/>
              </a:rPr>
              <a:t>조건</a:t>
            </a:r>
            <a:r>
              <a:rPr lang="en-US" sz="2000" b="1" dirty="0" err="1">
                <a:solidFill>
                  <a:srgbClr val="D4FF00"/>
                </a:solidFill>
                <a:latin typeface="Apple SD Gothic Neo"/>
              </a:rPr>
              <a:t>'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을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반복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실행할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수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있을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 때 </a:t>
            </a:r>
            <a:r>
              <a:rPr sz="2000" b="1" dirty="0" err="1">
                <a:solidFill>
                  <a:prstClr val="white"/>
                </a:solidFill>
                <a:latin typeface="Apple SD Gothic Neo"/>
              </a:rPr>
              <a:t>일어난다</a:t>
            </a:r>
            <a:r>
              <a:rPr sz="2000" b="1" dirty="0">
                <a:solidFill>
                  <a:prstClr val="white"/>
                </a:solidFill>
                <a:latin typeface="Apple SD Gothic Neo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31553-FD7A-A29C-3D36-867325A2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0BDFFC-7FDD-E81F-0320-5755EB658956}"/>
              </a:ext>
            </a:extLst>
          </p:cNvPr>
          <p:cNvSpPr/>
          <p:nvPr/>
        </p:nvSpPr>
        <p:spPr>
          <a:xfrm>
            <a:off x="550228" y="320040"/>
            <a:ext cx="2194560" cy="4114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D3A72-3DC4-CE08-BF0D-45D2DFEA7E05}"/>
              </a:ext>
            </a:extLst>
          </p:cNvPr>
          <p:cNvSpPr txBox="1"/>
          <p:nvPr/>
        </p:nvSpPr>
        <p:spPr>
          <a:xfrm>
            <a:off x="595948" y="301753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sz="1200" b="1">
                <a:solidFill>
                  <a:srgbClr val="0D0D0D"/>
                </a:solidFill>
                <a:latin typeface="맑은 고딕"/>
              </a:rPr>
              <a:t>WHY INVEST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0006C-547E-31A4-A0A6-86745E22F171}"/>
              </a:ext>
            </a:extLst>
          </p:cNvPr>
          <p:cNvSpPr/>
          <p:nvPr/>
        </p:nvSpPr>
        <p:spPr>
          <a:xfrm>
            <a:off x="550228" y="1097280"/>
            <a:ext cx="91440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95535-DEB8-258B-3AE0-1469348C03DA}"/>
              </a:ext>
            </a:extLst>
          </p:cNvPr>
          <p:cNvSpPr txBox="1"/>
          <p:nvPr/>
        </p:nvSpPr>
        <p:spPr>
          <a:xfrm>
            <a:off x="550228" y="118872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자산 관리 두가지</a:t>
            </a:r>
            <a:endParaRPr sz="34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AFAAF-36F0-6D87-40AF-A2946EE3661F}"/>
              </a:ext>
            </a:extLst>
          </p:cNvPr>
          <p:cNvSpPr/>
          <p:nvPr/>
        </p:nvSpPr>
        <p:spPr>
          <a:xfrm>
            <a:off x="733108" y="2103120"/>
            <a:ext cx="4572000" cy="2377440"/>
          </a:xfrm>
          <a:prstGeom prst="rect">
            <a:avLst/>
          </a:prstGeom>
          <a:solidFill>
            <a:srgbClr val="181828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0A9B4D-1615-492E-D9BE-3E1C2BF646BC}"/>
              </a:ext>
            </a:extLst>
          </p:cNvPr>
          <p:cNvSpPr txBox="1"/>
          <p:nvPr/>
        </p:nvSpPr>
        <p:spPr>
          <a:xfrm>
            <a:off x="733108" y="21945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sz="1600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사업소득</a:t>
            </a:r>
            <a:r>
              <a:rPr lang="en-US" altLang="ko-KR" sz="1600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근로소득</a:t>
            </a:r>
            <a:endParaRPr sz="1600" dirty="0">
              <a:solidFill>
                <a:srgbClr val="AAAAAA"/>
              </a:solidFill>
              <a:latin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F5E09-22E3-3FA9-7E16-DFB331EFAAF8}"/>
              </a:ext>
            </a:extLst>
          </p:cNvPr>
          <p:cNvSpPr txBox="1"/>
          <p:nvPr/>
        </p:nvSpPr>
        <p:spPr>
          <a:xfrm>
            <a:off x="733108" y="2882926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sz="4400" b="1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돈을 가져온다</a:t>
            </a:r>
            <a:endParaRPr sz="4400" b="1" dirty="0">
              <a:solidFill>
                <a:srgbClr val="AAAAAA"/>
              </a:solidFill>
              <a:latin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8C0E3-BC42-85F4-AFF3-6534FE622818}"/>
              </a:ext>
            </a:extLst>
          </p:cNvPr>
          <p:cNvSpPr txBox="1"/>
          <p:nvPr/>
        </p:nvSpPr>
        <p:spPr>
          <a:xfrm>
            <a:off x="5396548" y="2834640"/>
            <a:ext cx="1280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sz="4000" b="1" dirty="0">
                <a:solidFill>
                  <a:srgbClr val="D4FF00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41881-269C-612B-6228-F9C1AF633365}"/>
              </a:ext>
            </a:extLst>
          </p:cNvPr>
          <p:cNvSpPr/>
          <p:nvPr/>
        </p:nvSpPr>
        <p:spPr>
          <a:xfrm>
            <a:off x="6859588" y="2103120"/>
            <a:ext cx="4572000" cy="2377440"/>
          </a:xfrm>
          <a:prstGeom prst="rect">
            <a:avLst/>
          </a:prstGeom>
          <a:solidFill>
            <a:srgbClr val="0A2015"/>
          </a:solidFill>
          <a:ln w="1905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BC71BF-53FF-0ECE-DD33-8C6ECD16ACAB}"/>
              </a:ext>
            </a:extLst>
          </p:cNvPr>
          <p:cNvSpPr txBox="1"/>
          <p:nvPr/>
        </p:nvSpPr>
        <p:spPr>
          <a:xfrm>
            <a:off x="6859588" y="21945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sz="1600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투자소득</a:t>
            </a:r>
            <a:endParaRPr sz="1600" dirty="0">
              <a:solidFill>
                <a:srgbClr val="AAAAAA"/>
              </a:solidFill>
              <a:latin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F87B8-B3C4-B12F-0A43-65725B56E54D}"/>
              </a:ext>
            </a:extLst>
          </p:cNvPr>
          <p:cNvSpPr txBox="1"/>
          <p:nvPr/>
        </p:nvSpPr>
        <p:spPr>
          <a:xfrm>
            <a:off x="6859588" y="2852148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sz="4800" b="1" dirty="0">
                <a:solidFill>
                  <a:srgbClr val="00E596"/>
                </a:solidFill>
                <a:latin typeface="맑은 고딕"/>
                <a:ea typeface="맑은 고딕" panose="020B0503020000020004" pitchFamily="50" charset="-127"/>
              </a:rPr>
              <a:t>돈을 불린다</a:t>
            </a:r>
            <a:endParaRPr sz="4800" b="1" dirty="0">
              <a:solidFill>
                <a:srgbClr val="00E596"/>
              </a:solidFill>
              <a:latin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70E75-AEE3-EDD6-32D2-9A9441737516}"/>
              </a:ext>
            </a:extLst>
          </p:cNvPr>
          <p:cNvSpPr txBox="1"/>
          <p:nvPr/>
        </p:nvSpPr>
        <p:spPr>
          <a:xfrm>
            <a:off x="6859588" y="365760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en-US" sz="1400" dirty="0">
                <a:solidFill>
                  <a:srgbClr val="AAAAAA"/>
                </a:solidFill>
                <a:latin typeface="맑은 고딕"/>
              </a:rPr>
              <a:t>(</a:t>
            </a:r>
            <a:r>
              <a:rPr lang="ko-KR" altLang="en-US" sz="1400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근데 얜 알아서 함</a:t>
            </a:r>
            <a:r>
              <a:rPr lang="en-US" altLang="ko-KR" sz="1400" dirty="0">
                <a:solidFill>
                  <a:srgbClr val="AAAAAA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sz="1400" dirty="0">
              <a:solidFill>
                <a:srgbClr val="AAAAAA"/>
              </a:solidFill>
              <a:latin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D39328-B274-3348-B926-0E5C618FC8AE}"/>
              </a:ext>
            </a:extLst>
          </p:cNvPr>
          <p:cNvSpPr/>
          <p:nvPr/>
        </p:nvSpPr>
        <p:spPr>
          <a:xfrm>
            <a:off x="2301240" y="5053728"/>
            <a:ext cx="7589520" cy="685800"/>
          </a:xfrm>
          <a:prstGeom prst="rect">
            <a:avLst/>
          </a:prstGeom>
          <a:solidFill>
            <a:srgbClr val="1A1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9AA87-AA2C-6453-0D8C-FFEAF1E228E5}"/>
              </a:ext>
            </a:extLst>
          </p:cNvPr>
          <p:cNvSpPr txBox="1"/>
          <p:nvPr/>
        </p:nvSpPr>
        <p:spPr>
          <a:xfrm>
            <a:off x="2301240" y="5202189"/>
            <a:ext cx="75895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sz="1900" b="1" dirty="0">
                <a:solidFill>
                  <a:srgbClr val="D4FF00"/>
                </a:solidFill>
                <a:latin typeface="맑은 고딕"/>
                <a:ea typeface="맑은 고딕" panose="020B0503020000020004" pitchFamily="50" charset="-127"/>
              </a:rPr>
              <a:t>하나만 할 필요가 있나요</a:t>
            </a:r>
            <a:r>
              <a:rPr lang="en-US" altLang="ko-KR" sz="1900" b="1" dirty="0">
                <a:solidFill>
                  <a:srgbClr val="D4FF00"/>
                </a:solidFill>
                <a:latin typeface="맑은 고딕"/>
                <a:ea typeface="맑은 고딕" panose="020B0503020000020004" pitchFamily="50" charset="-127"/>
              </a:rPr>
              <a:t>?</a:t>
            </a:r>
            <a:endParaRPr sz="1900" b="1" dirty="0">
              <a:solidFill>
                <a:srgbClr val="D4FF0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5287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0228" y="320040"/>
            <a:ext cx="2194560" cy="4114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>
              <a:solidFill>
                <a:srgbClr val="D4FF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5948" y="301753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/>
            <a:r>
              <a:rPr sz="1200" b="1">
                <a:solidFill>
                  <a:srgbClr val="0D0D0D"/>
                </a:solidFill>
                <a:latin typeface="맑은 고딕"/>
              </a:rPr>
              <a:t>WHY INVEST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50228" y="1097280"/>
            <a:ext cx="91440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>
              <a:solidFill>
                <a:srgbClr val="D4FF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0228" y="118872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sz="3600" b="1" dirty="0" err="1">
                <a:solidFill>
                  <a:srgbClr val="FFFFFF"/>
                </a:solidFill>
                <a:latin typeface="맑은 고딕"/>
              </a:rPr>
              <a:t>은행에</a:t>
            </a:r>
            <a:r>
              <a:rPr sz="3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맑은 고딕"/>
              </a:rPr>
              <a:t>넣으면</a:t>
            </a:r>
            <a:r>
              <a:rPr sz="3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맑은 고딕"/>
              </a:rPr>
              <a:t>안전할까요</a:t>
            </a:r>
            <a:r>
              <a:rPr sz="3600" b="1" dirty="0">
                <a:solidFill>
                  <a:srgbClr val="FFFFFF"/>
                </a:solidFill>
                <a:latin typeface="맑은 고딕"/>
              </a:rPr>
              <a:t>?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AD7050A-C304-2F4A-1403-9137DEFE0FB3}"/>
              </a:ext>
            </a:extLst>
          </p:cNvPr>
          <p:cNvGrpSpPr/>
          <p:nvPr/>
        </p:nvGrpSpPr>
        <p:grpSpPr>
          <a:xfrm>
            <a:off x="1295400" y="2423160"/>
            <a:ext cx="4114800" cy="2011680"/>
            <a:chOff x="915988" y="2194560"/>
            <a:chExt cx="4114800" cy="2011680"/>
          </a:xfrm>
        </p:grpSpPr>
        <p:sp>
          <p:nvSpPr>
            <p:cNvPr id="6" name="Rectangle 5"/>
            <p:cNvSpPr/>
            <p:nvPr/>
          </p:nvSpPr>
          <p:spPr>
            <a:xfrm>
              <a:off x="915988" y="2194560"/>
              <a:ext cx="4114800" cy="2011680"/>
            </a:xfrm>
            <a:prstGeom prst="rect">
              <a:avLst/>
            </a:prstGeom>
            <a:solidFill>
              <a:srgbClr val="1A1A2E"/>
            </a:solidFill>
            <a:ln w="19050">
              <a:solidFill>
                <a:srgbClr val="3333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5988" y="2286000"/>
              <a:ext cx="4114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>
                  <a:solidFill>
                    <a:srgbClr val="AAAAAA"/>
                  </a:solidFill>
                  <a:latin typeface="맑은 고딕"/>
                </a:rPr>
                <a:t>예금금리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5988" y="2743200"/>
              <a:ext cx="411480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6400" b="1" dirty="0">
                  <a:solidFill>
                    <a:srgbClr val="00D4FF"/>
                  </a:solidFill>
                  <a:latin typeface="맑은 고딕"/>
                </a:rPr>
                <a:t>3%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638800" y="3126938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/>
            <a:r>
              <a:rPr sz="2400" b="1" dirty="0">
                <a:solidFill>
                  <a:srgbClr val="AAAAAA"/>
                </a:solidFill>
                <a:latin typeface="맑은 고딕"/>
              </a:rPr>
              <a:t>VS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AB565A2-7E21-A4D3-B2F7-A0492DB54AAE}"/>
              </a:ext>
            </a:extLst>
          </p:cNvPr>
          <p:cNvGrpSpPr/>
          <p:nvPr/>
        </p:nvGrpSpPr>
        <p:grpSpPr>
          <a:xfrm>
            <a:off x="6781800" y="2423160"/>
            <a:ext cx="4114800" cy="2011680"/>
            <a:chOff x="6402388" y="2194560"/>
            <a:chExt cx="4114800" cy="2011680"/>
          </a:xfrm>
        </p:grpSpPr>
        <p:sp>
          <p:nvSpPr>
            <p:cNvPr id="10" name="Rectangle 9"/>
            <p:cNvSpPr/>
            <p:nvPr/>
          </p:nvSpPr>
          <p:spPr>
            <a:xfrm>
              <a:off x="6402388" y="2194560"/>
              <a:ext cx="4114800" cy="2011680"/>
            </a:xfrm>
            <a:prstGeom prst="rect">
              <a:avLst/>
            </a:prstGeom>
            <a:solidFill>
              <a:srgbClr val="2A1010"/>
            </a:solidFill>
            <a:ln w="19050">
              <a:solidFill>
                <a:srgbClr val="5522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2388" y="2286000"/>
              <a:ext cx="4114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>
                  <a:solidFill>
                    <a:srgbClr val="AAAAAA"/>
                  </a:solidFill>
                  <a:latin typeface="맑은 고딕"/>
                </a:rPr>
                <a:t>물가상승률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02388" y="2743200"/>
              <a:ext cx="411480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6400" b="1">
                  <a:solidFill>
                    <a:srgbClr val="FF4C4C"/>
                  </a:solidFill>
                  <a:latin typeface="맑은 고딕"/>
                </a:rPr>
                <a:t>3~4%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EAD2E3-7D86-070F-8F6A-C1E6C3099CAC}"/>
              </a:ext>
            </a:extLst>
          </p:cNvPr>
          <p:cNvGrpSpPr/>
          <p:nvPr/>
        </p:nvGrpSpPr>
        <p:grpSpPr>
          <a:xfrm>
            <a:off x="1386840" y="5322013"/>
            <a:ext cx="9418320" cy="777240"/>
            <a:chOff x="1373188" y="4572000"/>
            <a:chExt cx="9418320" cy="777240"/>
          </a:xfrm>
        </p:grpSpPr>
        <p:sp>
          <p:nvSpPr>
            <p:cNvPr id="13" name="Rectangle 12"/>
            <p:cNvSpPr/>
            <p:nvPr/>
          </p:nvSpPr>
          <p:spPr>
            <a:xfrm>
              <a:off x="1373188" y="4572000"/>
              <a:ext cx="9418320" cy="7772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73188" y="4745632"/>
              <a:ext cx="9418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2000" b="1" dirty="0" err="1">
                  <a:solidFill>
                    <a:schemeClr val="bg1"/>
                  </a:solidFill>
                  <a:latin typeface="맑은 고딕"/>
                </a:rPr>
                <a:t>저축은</a:t>
              </a:r>
              <a:r>
                <a:rPr sz="2000" b="1" dirty="0">
                  <a:solidFill>
                    <a:schemeClr val="bg1"/>
                  </a:solidFill>
                  <a:latin typeface="맑은 고딕"/>
                </a:rPr>
                <a:t> </a:t>
              </a:r>
              <a:r>
                <a:rPr sz="2000" b="1" dirty="0" err="1">
                  <a:solidFill>
                    <a:schemeClr val="bg1"/>
                  </a:solidFill>
                  <a:latin typeface="맑은 고딕"/>
                </a:rPr>
                <a:t>안전한</a:t>
              </a:r>
              <a:r>
                <a:rPr sz="2000" b="1" dirty="0">
                  <a:solidFill>
                    <a:schemeClr val="bg1"/>
                  </a:solidFill>
                  <a:latin typeface="맑은 고딕"/>
                </a:rPr>
                <a:t> 게 </a:t>
              </a:r>
              <a:r>
                <a:rPr sz="2000" b="1" dirty="0" err="1">
                  <a:solidFill>
                    <a:schemeClr val="bg1"/>
                  </a:solidFill>
                  <a:latin typeface="맑은 고딕"/>
                </a:rPr>
                <a:t>아니라</a:t>
              </a:r>
              <a:r>
                <a:rPr sz="2000" b="1" dirty="0">
                  <a:solidFill>
                    <a:srgbClr val="D4FF00"/>
                  </a:solidFill>
                  <a:latin typeface="맑은 고딕"/>
                </a:rPr>
                <a:t>  '</a:t>
              </a:r>
              <a:r>
                <a:rPr sz="2000" b="1" dirty="0" err="1">
                  <a:solidFill>
                    <a:srgbClr val="D4FF00"/>
                  </a:solidFill>
                  <a:latin typeface="맑은 고딕"/>
                </a:rPr>
                <a:t>느리게</a:t>
              </a:r>
              <a:r>
                <a:rPr sz="2000" b="1" dirty="0">
                  <a:solidFill>
                    <a:srgbClr val="D4FF00"/>
                  </a:solidFill>
                  <a:latin typeface="맑은 고딕"/>
                </a:rPr>
                <a:t> </a:t>
              </a:r>
              <a:r>
                <a:rPr sz="2000" b="1" dirty="0" err="1">
                  <a:solidFill>
                    <a:srgbClr val="D4FF00"/>
                  </a:solidFill>
                  <a:latin typeface="맑은 고딕"/>
                </a:rPr>
                <a:t>잃는</a:t>
              </a:r>
              <a:r>
                <a:rPr sz="2000" b="1" dirty="0">
                  <a:solidFill>
                    <a:srgbClr val="D4FF00"/>
                  </a:solidFill>
                  <a:latin typeface="맑은 고딕"/>
                </a:rPr>
                <a:t> 것' </a:t>
              </a:r>
              <a:r>
                <a:rPr sz="2000" b="1" dirty="0" err="1">
                  <a:solidFill>
                    <a:schemeClr val="bg1"/>
                  </a:solidFill>
                  <a:latin typeface="맑은 고딕"/>
                </a:rPr>
                <a:t>입니다</a:t>
              </a:r>
              <a:endParaRPr sz="2000" b="1" dirty="0">
                <a:solidFill>
                  <a:schemeClr val="bg1"/>
                </a:solidFill>
                <a:latin typeface="맑은 고딕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137A631-693A-D8C6-1764-E9D10BB36E8C}"/>
              </a:ext>
            </a:extLst>
          </p:cNvPr>
          <p:cNvGrpSpPr/>
          <p:nvPr/>
        </p:nvGrpSpPr>
        <p:grpSpPr>
          <a:xfrm>
            <a:off x="1524000" y="1773377"/>
            <a:ext cx="9144000" cy="3311247"/>
            <a:chOff x="1373188" y="1188721"/>
            <a:chExt cx="9144000" cy="3311247"/>
          </a:xfrm>
        </p:grpSpPr>
        <p:sp>
          <p:nvSpPr>
            <p:cNvPr id="2" name="TextBox 1"/>
            <p:cNvSpPr txBox="1"/>
            <p:nvPr/>
          </p:nvSpPr>
          <p:spPr>
            <a:xfrm>
              <a:off x="1373188" y="1188721"/>
              <a:ext cx="9144000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4600" b="1">
                  <a:solidFill>
                    <a:srgbClr val="FFFFFF"/>
                  </a:solidFill>
                  <a:latin typeface="맑은 고딕"/>
                </a:rPr>
                <a:t>투자를 안 하는 것도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373188" y="2148841"/>
              <a:ext cx="9144000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4600" b="1" dirty="0" err="1">
                  <a:solidFill>
                    <a:srgbClr val="D4FF00"/>
                  </a:solidFill>
                  <a:latin typeface="맑은 고딕"/>
                </a:rPr>
                <a:t>선택입니다</a:t>
              </a:r>
              <a:endParaRPr sz="4600" b="1" dirty="0">
                <a:solidFill>
                  <a:srgbClr val="D4FF00"/>
                </a:solidFill>
                <a:latin typeface="맑은 고딕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522028" y="3291840"/>
              <a:ext cx="4846320" cy="36576"/>
            </a:xfrm>
            <a:prstGeom prst="rect">
              <a:avLst/>
            </a:prstGeom>
            <a:solidFill>
              <a:srgbClr val="3333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73188" y="3474721"/>
              <a:ext cx="9144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2200">
                  <a:solidFill>
                    <a:srgbClr val="AAAAAA"/>
                  </a:solidFill>
                  <a:latin typeface="맑은 고딕"/>
                </a:rPr>
                <a:t>다만 그 선택의 결과는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73188" y="4069081"/>
              <a:ext cx="9144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latinLnBrk="0"/>
              <a:r>
                <a:rPr sz="2200">
                  <a:solidFill>
                    <a:srgbClr val="AAAAAA"/>
                  </a:solidFill>
                  <a:latin typeface="맑은 고딕"/>
                </a:rPr>
                <a:t>20년 뒤에 나타납니다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38383-79AE-713E-55C3-226C706D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ACE0E2D-3157-B69E-433F-C2467556B9D5}"/>
              </a:ext>
            </a:extLst>
          </p:cNvPr>
          <p:cNvGrpSpPr/>
          <p:nvPr/>
        </p:nvGrpSpPr>
        <p:grpSpPr>
          <a:xfrm>
            <a:off x="1524000" y="1773377"/>
            <a:ext cx="9144000" cy="3311247"/>
            <a:chOff x="1373188" y="1188721"/>
            <a:chExt cx="9144000" cy="331124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FD1D402-339F-92E9-672D-AC82545AE810}"/>
                </a:ext>
              </a:extLst>
            </p:cNvPr>
            <p:cNvSpPr txBox="1"/>
            <p:nvPr/>
          </p:nvSpPr>
          <p:spPr>
            <a:xfrm>
              <a:off x="1373188" y="1188721"/>
              <a:ext cx="9144000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다시 한번 말씀드립니다</a:t>
              </a:r>
              <a:endParaRPr kumimoji="0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58C5B0-BE5F-1209-AA43-B25684E615F9}"/>
                </a:ext>
              </a:extLst>
            </p:cNvPr>
            <p:cNvSpPr txBox="1"/>
            <p:nvPr/>
          </p:nvSpPr>
          <p:spPr>
            <a:xfrm>
              <a:off x="1373188" y="2148841"/>
              <a:ext cx="9144000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600" b="1" i="0" u="none" strike="noStrike" kern="1200" cap="none" spc="0" normalizeH="0" baseline="0" noProof="0" dirty="0">
                  <a:ln>
                    <a:noFill/>
                  </a:ln>
                  <a:solidFill>
                    <a:srgbClr val="D4FF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강의가 아닙니다</a:t>
              </a:r>
              <a:endParaRPr kumimoji="0" sz="46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5703E-FCBF-A9DD-6B5F-48225449D54C}"/>
                </a:ext>
              </a:extLst>
            </p:cNvPr>
            <p:cNvSpPr/>
            <p:nvPr/>
          </p:nvSpPr>
          <p:spPr>
            <a:xfrm>
              <a:off x="3522028" y="3291840"/>
              <a:ext cx="4846320" cy="36576"/>
            </a:xfrm>
            <a:prstGeom prst="rect">
              <a:avLst/>
            </a:prstGeom>
            <a:solidFill>
              <a:srgbClr val="3333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665428-E16A-65F5-4F83-FCC90C26C713}"/>
                </a:ext>
              </a:extLst>
            </p:cNvPr>
            <p:cNvSpPr txBox="1"/>
            <p:nvPr/>
          </p:nvSpPr>
          <p:spPr>
            <a:xfrm>
              <a:off x="1373188" y="3474721"/>
              <a:ext cx="9144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나만의 조건을 찾는 방법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,</a:t>
              </a:r>
              <a:endPara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D3CA2C-7ED7-2CF1-0051-C96F0CB43CCA}"/>
                </a:ext>
              </a:extLst>
            </p:cNvPr>
            <p:cNvSpPr txBox="1"/>
            <p:nvPr/>
          </p:nvSpPr>
          <p:spPr>
            <a:xfrm>
              <a:off x="1373188" y="4069081"/>
              <a:ext cx="9144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그 과정을 함께하실 분만 와주세요 </a:t>
              </a:r>
              <a:endPara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937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3E4FF-2DCC-AA33-A6CE-567FB152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블라인드 | 주식·투자: 귀여운 주식짤 공유하자">
            <a:extLst>
              <a:ext uri="{FF2B5EF4-FFF2-40B4-BE49-F238E27FC236}">
                <a16:creationId xmlns:a16="http://schemas.microsoft.com/office/drawing/2014/main" id="{0442C7A9-AECA-AAC4-D643-C167B5D3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77" y="599513"/>
            <a:ext cx="3563046" cy="3563046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F61CC0-C208-E297-496C-34620390DC1B}"/>
              </a:ext>
            </a:extLst>
          </p:cNvPr>
          <p:cNvSpPr txBox="1"/>
          <p:nvPr/>
        </p:nvSpPr>
        <p:spPr>
          <a:xfrm>
            <a:off x="1524000" y="5004086"/>
            <a:ext cx="9144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Thank you for watching</a:t>
            </a:r>
            <a:endParaRPr kumimoji="0" sz="46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74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148</Words>
  <Application>Microsoft Office PowerPoint</Application>
  <PresentationFormat>와이드스크린</PresentationFormat>
  <Paragraphs>35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Apple SD Gothic Neo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은수 김</dc:creator>
  <cp:lastModifiedBy>은수 김</cp:lastModifiedBy>
  <cp:revision>2</cp:revision>
  <dcterms:created xsi:type="dcterms:W3CDTF">2026-06-17T09:01:27Z</dcterms:created>
  <dcterms:modified xsi:type="dcterms:W3CDTF">2026-06-17T10:13:11Z</dcterms:modified>
</cp:coreProperties>
</file>