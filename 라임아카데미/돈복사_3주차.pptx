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3" r:id="rId3"/>
    <p:sldId id="280" r:id="rId4"/>
    <p:sldId id="312" r:id="rId5"/>
    <p:sldId id="324" r:id="rId6"/>
    <p:sldId id="271" r:id="rId7"/>
    <p:sldId id="325" r:id="rId8"/>
    <p:sldId id="326" r:id="rId9"/>
    <p:sldId id="327" r:id="rId10"/>
    <p:sldId id="313" r:id="rId11"/>
    <p:sldId id="272" r:id="rId12"/>
    <p:sldId id="273" r:id="rId13"/>
    <p:sldId id="274" r:id="rId14"/>
    <p:sldId id="308" r:id="rId15"/>
    <p:sldId id="276" r:id="rId16"/>
    <p:sldId id="275" r:id="rId17"/>
    <p:sldId id="310" r:id="rId18"/>
    <p:sldId id="311" r:id="rId19"/>
    <p:sldId id="278" r:id="rId20"/>
    <p:sldId id="279" r:id="rId21"/>
    <p:sldId id="277" r:id="rId22"/>
    <p:sldId id="304" r:id="rId23"/>
    <p:sldId id="307" r:id="rId24"/>
    <p:sldId id="306" r:id="rId25"/>
    <p:sldId id="309" r:id="rId26"/>
    <p:sldId id="282" r:id="rId27"/>
    <p:sldId id="287" r:id="rId28"/>
    <p:sldId id="288" r:id="rId29"/>
    <p:sldId id="328" r:id="rId30"/>
    <p:sldId id="267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4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7F550-A063-46B0-8651-3B0FB0CC781E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93B3F-B7A7-41F6-9AF5-43F9EF137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58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틀려도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찾는 과정이 중요합니다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집에 가시면서 한 번만 생각해보세요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FFFFFF"/>
                </a:solidFill>
                <a:latin typeface="Apple SD Gothic Neo"/>
              </a:rPr>
              <a:t>나는 몇 번이나 같은 이유로 같은 실수를 반복했을까</a:t>
            </a:r>
            <a:r>
              <a:rPr lang="en-US" altLang="ko-KR" sz="1200" b="0" i="0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지금 대답 안 하셔도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그냥 가지고 가세요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i="0" dirty="0">
              <a:solidFill>
                <a:srgbClr val="D4FF00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232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이 단어는 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피스메이커가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먼저 말하지 않습니다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
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피스메이트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입에서 먼저 나오는 순간이 오늘 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1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회차의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정점입니다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54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7B5E-EC34-8637-8FDD-F9BB2AFF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F95109-8A3A-B76D-1651-59F3DED1C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C8A61A-651A-AD8F-294C-6113F4867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저도 한때 감으로 샀다가 크게 잃은 적 있어요</a:t>
            </a:r>
            <a:r>
              <a:rPr lang="en-US" altLang="ko-KR" sz="1200" b="1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 뒤로 조건을 찾기 시작했고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,</a:t>
            </a: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 과정이 너무 힘들어서 도구를 직접 만들었습니다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endParaRPr lang="en-US" altLang="ko-KR" sz="1050" b="0" dirty="0">
              <a:solidFill>
                <a:srgbClr val="999999"/>
              </a:solidFill>
              <a:latin typeface="Apple SD Gothic Neo"/>
            </a:endParaRP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오늘 제 도구를 팔려는 게 아닙니다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5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주차에 보여드릴 건데 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—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그때 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'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아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이게 왜 필요한지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'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느끼실 거예요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endParaRPr lang="en-US" altLang="ko-KR" sz="1050" b="0" dirty="0">
              <a:solidFill>
                <a:srgbClr val="999999"/>
              </a:solidFill>
              <a:latin typeface="Apple SD Gothic Neo"/>
            </a:endParaRPr>
          </a:p>
          <a:p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오늘은 우리가 왜 돈을 못 </a:t>
            </a:r>
            <a:r>
              <a:rPr lang="ko-KR" altLang="en-US" sz="1200" b="1" dirty="0" err="1">
                <a:solidFill>
                  <a:srgbClr val="FFFFFF"/>
                </a:solidFill>
                <a:latin typeface="Apple SD Gothic Neo"/>
              </a:rPr>
              <a:t>벌었는지부터</a:t>
            </a:r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 솔직하게 얘기해봅시다</a:t>
            </a:r>
            <a:r>
              <a:rPr lang="en-US" altLang="ko-KR" sz="1200" b="1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A4F281-F90A-8232-2426-E7C5841C6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39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FF00"/>
                </a:solidFill>
                <a:latin typeface="Malgun Gothic"/>
              </a:rPr>
              <a:t>3주차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algun Gothic"/>
              </a:rPr>
              <a:t>좋은 타점을
어떻게 잡는가?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88"/>
                </a:solidFill>
                <a:latin typeface="Malgun Gothic"/>
              </a:rPr>
              <a:t>이동평균선 + 볼린저밴드 — 타점의 신뢰도를 높이는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888888"/>
                </a:solidFill>
                <a:latin typeface="Malgun Gothic"/>
              </a:rPr>
              <a:t>돈복사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과제 확인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10515600" cy="46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45720" cy="46432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32B6385-C794-5347-EE4C-1C9DA25FA3CD}"/>
              </a:ext>
            </a:extLst>
          </p:cNvPr>
          <p:cNvGrpSpPr/>
          <p:nvPr/>
        </p:nvGrpSpPr>
        <p:grpSpPr>
          <a:xfrm>
            <a:off x="914400" y="1737360"/>
            <a:ext cx="9875520" cy="466344"/>
            <a:chOff x="914400" y="1737360"/>
            <a:chExt cx="9875520" cy="466344"/>
          </a:xfrm>
        </p:grpSpPr>
        <p:sp>
          <p:nvSpPr>
            <p:cNvPr id="7" name="TextBox 6"/>
            <p:cNvSpPr txBox="1"/>
            <p:nvPr/>
          </p:nvSpPr>
          <p:spPr>
            <a:xfrm>
              <a:off x="914400" y="1792224"/>
              <a:ext cx="6400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00" b="1" i="0" u="none" strike="noStrike" kern="1200" cap="none" spc="0" normalizeH="0" baseline="0" noProof="0">
                  <a:ln>
                    <a:noFill/>
                  </a:ln>
                  <a:solidFill>
                    <a:srgbClr val="D4FF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45920" y="1737360"/>
              <a:ext cx="9144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Team game </a:t>
              </a:r>
              <a:r>
                <a:rPr kumimoji="0" lang="ko-KR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참여 종목 최소 </a:t>
              </a:r>
              <a:r>
                <a:rPr kumimoji="0" lang="en-US" altLang="ko-KR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0" lang="ko-KR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개를 고르기</a:t>
              </a:r>
              <a:endPara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661CC9A-A057-2798-C146-C00FB7808C8D}"/>
              </a:ext>
            </a:extLst>
          </p:cNvPr>
          <p:cNvGrpSpPr/>
          <p:nvPr/>
        </p:nvGrpSpPr>
        <p:grpSpPr>
          <a:xfrm>
            <a:off x="914400" y="3462285"/>
            <a:ext cx="9875520" cy="466344"/>
            <a:chOff x="987425" y="3688628"/>
            <a:chExt cx="9875520" cy="466344"/>
          </a:xfrm>
        </p:grpSpPr>
        <p:sp>
          <p:nvSpPr>
            <p:cNvPr id="9" name="TextBox 8"/>
            <p:cNvSpPr txBox="1"/>
            <p:nvPr/>
          </p:nvSpPr>
          <p:spPr>
            <a:xfrm>
              <a:off x="987425" y="3743492"/>
              <a:ext cx="6400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00" b="1" i="0" u="none" strike="noStrike" kern="1200" cap="none" spc="0" normalizeH="0" baseline="0" noProof="0">
                  <a:ln>
                    <a:noFill/>
                  </a:ln>
                  <a:solidFill>
                    <a:srgbClr val="D4FF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8945" y="3688628"/>
              <a:ext cx="9144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왜 그 종목인지  </a:t>
              </a:r>
              <a:r>
                <a:rPr kumimoji="0" lang="en-US" altLang="ko-KR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—  </a:t>
              </a:r>
              <a:r>
                <a:rPr kumimoji="0" lang="ko-KR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조건 </a:t>
              </a:r>
              <a:r>
                <a:rPr kumimoji="0" lang="en-US" altLang="ko-KR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3</a:t>
              </a:r>
              <a:r>
                <a:rPr kumimoji="0" lang="ko-KR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가지를 직접 작성하기</a:t>
              </a:r>
              <a:r>
                <a:rPr kumimoji="0" lang="en-US" altLang="ko-KR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.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842804F-EAAE-FE3C-6AF5-8F3EB4E7E868}"/>
              </a:ext>
            </a:extLst>
          </p:cNvPr>
          <p:cNvGrpSpPr/>
          <p:nvPr/>
        </p:nvGrpSpPr>
        <p:grpSpPr>
          <a:xfrm>
            <a:off x="914400" y="5187211"/>
            <a:ext cx="9875520" cy="466344"/>
            <a:chOff x="987425" y="5187211"/>
            <a:chExt cx="9875520" cy="466344"/>
          </a:xfrm>
        </p:grpSpPr>
        <p:sp>
          <p:nvSpPr>
            <p:cNvPr id="11" name="TextBox 10"/>
            <p:cNvSpPr txBox="1"/>
            <p:nvPr/>
          </p:nvSpPr>
          <p:spPr>
            <a:xfrm>
              <a:off x="987425" y="5242075"/>
              <a:ext cx="6400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00" b="1" i="0" u="none" strike="noStrike" kern="1200" cap="none" spc="0" normalizeH="0" baseline="0" noProof="0">
                  <a:ln>
                    <a:noFill/>
                  </a:ln>
                  <a:solidFill>
                    <a:srgbClr val="D4FF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8945" y="5187211"/>
              <a:ext cx="9144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직접 매수를 해도 좋고</a:t>
              </a:r>
              <a:r>
                <a:rPr kumimoji="0" lang="en-US" altLang="ko-KR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시뮬레이션을 해도 좋으니 수익률 체크하기</a:t>
              </a:r>
              <a:r>
                <a:rPr kumimoji="0" lang="en-US" altLang="ko-KR" sz="2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.</a:t>
              </a:r>
              <a:endPara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18012" y="873760"/>
            <a:ext cx="335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🔒</a:t>
            </a:r>
            <a:endParaRPr kumimoji="0" sz="60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125980"/>
            <a:ext cx="12188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"  </a:t>
            </a: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Secret Recipe</a:t>
            </a: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594860"/>
            <a:ext cx="850392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82346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오늘</a:t>
            </a:r>
            <a:r>
              <a:rPr lang="en-US" altLang="ko-KR" sz="20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공개 하겠습니다 </a:t>
            </a:r>
            <a:r>
              <a:rPr lang="en-US" altLang="ko-KR" sz="12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(</a:t>
            </a:r>
            <a:r>
              <a:rPr lang="ko-KR" altLang="en-US" sz="1200" b="1" dirty="0" err="1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짜잔</a:t>
            </a:r>
            <a:r>
              <a:rPr lang="en-US" altLang="ko-KR" sz="1200" b="1" dirty="0">
                <a:solidFill>
                  <a:prstClr val="white"/>
                </a:solidFill>
                <a:latin typeface="Apple SD Gothic Neo"/>
                <a:ea typeface="맑은 고딕" panose="020B0503020000020004" pitchFamily="50" charset="-127"/>
              </a:rPr>
              <a:t>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8DC9C-6387-8B2A-0468-284DABD3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944D58-EB3C-46E0-3F50-885F9F468E8F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DDAF9-6C29-59EE-08B3-4E93C601D1D8}"/>
              </a:ext>
            </a:extLst>
          </p:cNvPr>
          <p:cNvSpPr txBox="1"/>
          <p:nvPr/>
        </p:nvSpPr>
        <p:spPr>
          <a:xfrm>
            <a:off x="685800" y="50292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Recipe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BD782-1017-5ECF-CF14-5633F274ECB9}"/>
              </a:ext>
            </a:extLst>
          </p:cNvPr>
          <p:cNvSpPr txBox="1"/>
          <p:nvPr/>
        </p:nvSpPr>
        <p:spPr>
          <a:xfrm>
            <a:off x="685800" y="1005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300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개 기법을 거쳐 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Top4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3AE46A-618F-9D10-8C29-4EBD4CD7F181}"/>
              </a:ext>
            </a:extLst>
          </p:cNvPr>
          <p:cNvSpPr/>
          <p:nvPr/>
        </p:nvSpPr>
        <p:spPr>
          <a:xfrm>
            <a:off x="685800" y="178308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5F2FE5-9AAF-B30E-847D-18427F62A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335" y="2408013"/>
            <a:ext cx="2362530" cy="3210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AAEA1B-B144-6B15-FC96-0B06D1383705}"/>
              </a:ext>
            </a:extLst>
          </p:cNvPr>
          <p:cNvSpPr txBox="1"/>
          <p:nvPr/>
        </p:nvSpPr>
        <p:spPr>
          <a:xfrm>
            <a:off x="4518659" y="2679408"/>
            <a:ext cx="767016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 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주일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10%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45%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90%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200%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진짜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안나옴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</a:t>
            </a:r>
            <a:endParaRPr kumimoji="0" lang="en-US" altLang="ko-KR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8DCE3-3434-C77C-7543-8EDA858EC19D}"/>
              </a:ext>
            </a:extLst>
          </p:cNvPr>
          <p:cNvSpPr txBox="1"/>
          <p:nvPr/>
        </p:nvSpPr>
        <p:spPr>
          <a:xfrm>
            <a:off x="4523564" y="2675038"/>
            <a:ext cx="767016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 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주일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10%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45%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90%</a:t>
            </a:r>
          </a:p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단기스윙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최대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달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 : 200%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진짜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안나옴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)</a:t>
            </a:r>
            <a:endParaRPr kumimoji="0" lang="en-US" altLang="ko-KR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B5873B-67D8-1EA8-499B-8F394D2EB708}"/>
              </a:ext>
            </a:extLst>
          </p:cNvPr>
          <p:cNvSpPr/>
          <p:nvPr/>
        </p:nvSpPr>
        <p:spPr>
          <a:xfrm>
            <a:off x="4523564" y="2679408"/>
            <a:ext cx="6053449" cy="585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AE88F3-FE15-491D-4C69-F6CA9808A992}"/>
              </a:ext>
            </a:extLst>
          </p:cNvPr>
          <p:cNvSpPr/>
          <p:nvPr/>
        </p:nvSpPr>
        <p:spPr>
          <a:xfrm>
            <a:off x="4513290" y="3890755"/>
            <a:ext cx="6053449" cy="585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48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AA71D-75A5-2943-05DB-82A9F778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59794-92E2-C17A-EB46-0861CEDFABB1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D4312-C0C2-5A96-56A3-CF9D88F03AEC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H-signal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536D7A-D2D8-65DB-394E-E82C639F4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19" y="409591"/>
            <a:ext cx="6538502" cy="57211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97AA44F8-36C1-6AC5-D77C-191BFFB17C7B}"/>
              </a:ext>
            </a:extLst>
          </p:cNvPr>
          <p:cNvSpPr/>
          <p:nvPr/>
        </p:nvSpPr>
        <p:spPr>
          <a:xfrm>
            <a:off x="5567860" y="4394342"/>
            <a:ext cx="656210" cy="615554"/>
          </a:xfrm>
          <a:prstGeom prst="ellipse">
            <a:avLst/>
          </a:prstGeom>
          <a:noFill/>
          <a:ln w="3810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73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3BC1D-69BE-77E6-0289-0FEC831E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9F88D-30F0-E260-814E-E2FB8CFB5C36}"/>
              </a:ext>
            </a:extLst>
          </p:cNvPr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진입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타점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잡기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| </a:t>
            </a: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차트세팅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검색기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5D912-D84A-7011-8C89-764ABE8F8066}"/>
              </a:ext>
            </a:extLst>
          </p:cNvPr>
          <p:cNvSpPr txBox="1"/>
          <p:nvPr/>
        </p:nvSpPr>
        <p:spPr>
          <a:xfrm>
            <a:off x="457199" y="873680"/>
            <a:ext cx="6118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카톡에 전달받은 파일을 C:\WMV\QV\chartinfo 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덮어쓰기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9BAE3A-88AE-CE06-8404-142B52C87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96" y="1395342"/>
            <a:ext cx="5496692" cy="528711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1C4701-61C7-68EB-AE44-44C697C15C65}"/>
              </a:ext>
            </a:extLst>
          </p:cNvPr>
          <p:cNvSpPr/>
          <p:nvPr/>
        </p:nvSpPr>
        <p:spPr>
          <a:xfrm>
            <a:off x="6496716" y="2849665"/>
            <a:ext cx="2381786" cy="3534310"/>
          </a:xfrm>
          <a:prstGeom prst="rect">
            <a:avLst/>
          </a:prstGeom>
          <a:solidFill>
            <a:schemeClr val="tx1">
              <a:alpha val="8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8DB641-4139-8DD8-CE3D-6B13318E3181}"/>
              </a:ext>
            </a:extLst>
          </p:cNvPr>
          <p:cNvSpPr/>
          <p:nvPr/>
        </p:nvSpPr>
        <p:spPr>
          <a:xfrm>
            <a:off x="7015796" y="2339425"/>
            <a:ext cx="651510" cy="322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0DE3113-5096-2169-891A-603814EE09D5}"/>
              </a:ext>
            </a:extLst>
          </p:cNvPr>
          <p:cNvSpPr/>
          <p:nvPr/>
        </p:nvSpPr>
        <p:spPr>
          <a:xfrm>
            <a:off x="9438162" y="2662178"/>
            <a:ext cx="1029494" cy="2141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0FC0FA-E227-BDDD-0B3D-FC451FE5DC24}"/>
              </a:ext>
            </a:extLst>
          </p:cNvPr>
          <p:cNvSpPr/>
          <p:nvPr/>
        </p:nvSpPr>
        <p:spPr>
          <a:xfrm>
            <a:off x="8950422" y="4254758"/>
            <a:ext cx="487740" cy="462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F408A0-1B10-CFE5-42C3-7384996EA2F5}"/>
              </a:ext>
            </a:extLst>
          </p:cNvPr>
          <p:cNvSpPr/>
          <p:nvPr/>
        </p:nvSpPr>
        <p:spPr>
          <a:xfrm>
            <a:off x="6387146" y="1375634"/>
            <a:ext cx="1040130" cy="1979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B190E4F-8818-901E-D3B2-708D5F4FD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66" y="1586845"/>
            <a:ext cx="3962953" cy="75258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FDF7C0-F033-4DCE-AE90-DAC97D544F34}"/>
              </a:ext>
            </a:extLst>
          </p:cNvPr>
          <p:cNvSpPr txBox="1"/>
          <p:nvPr/>
        </p:nvSpPr>
        <p:spPr>
          <a:xfrm>
            <a:off x="457199" y="3624727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① 메뉴에서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1950(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조건검색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검색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② 공유함 선택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③ </a:t>
            </a: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공유받은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전략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④ 받은 전략 </a:t>
            </a: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선택후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전략등록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048452-B94F-3E1A-1D64-9B434FC29458}"/>
              </a:ext>
            </a:extLst>
          </p:cNvPr>
          <p:cNvSpPr txBox="1"/>
          <p:nvPr/>
        </p:nvSpPr>
        <p:spPr>
          <a:xfrm>
            <a:off x="1053422" y="1328874"/>
            <a:ext cx="590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①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ADE939-4EE4-CA40-B503-18A2B804C8E4}"/>
              </a:ext>
            </a:extLst>
          </p:cNvPr>
          <p:cNvSpPr txBox="1"/>
          <p:nvPr/>
        </p:nvSpPr>
        <p:spPr>
          <a:xfrm>
            <a:off x="6496716" y="1869046"/>
            <a:ext cx="590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②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571F8-F67F-A750-F76D-C9E07F2FFA75}"/>
              </a:ext>
            </a:extLst>
          </p:cNvPr>
          <p:cNvSpPr txBox="1"/>
          <p:nvPr/>
        </p:nvSpPr>
        <p:spPr>
          <a:xfrm>
            <a:off x="9052482" y="2116113"/>
            <a:ext cx="590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③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B25E5-B0F9-93BE-D2AF-A922660D0103}"/>
              </a:ext>
            </a:extLst>
          </p:cNvPr>
          <p:cNvSpPr txBox="1"/>
          <p:nvPr/>
        </p:nvSpPr>
        <p:spPr>
          <a:xfrm>
            <a:off x="9343712" y="3801019"/>
            <a:ext cx="590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④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7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DC97C-D651-D832-138A-16C0024B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A6F9F-6CFE-E2D0-7CAA-0764541581E9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BC154-C6B8-FFC3-B2DE-15BC9E3BE57F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25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137DB-74C2-23AA-9B4B-C02DCD18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F12BF8-D1C2-CCD7-269F-544F0B9E478E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EAD38-4638-5034-23A9-DE0D8082D692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78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5A1A8-4C0C-4C98-F3CB-459B4FE6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2B3CE3-0F32-F1A2-A916-285DF5E48690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66E13-F80E-1060-50A0-F9250D152D4D}"/>
              </a:ext>
            </a:extLst>
          </p:cNvPr>
          <p:cNvSpPr txBox="1"/>
          <p:nvPr/>
        </p:nvSpPr>
        <p:spPr>
          <a:xfrm>
            <a:off x="457200" y="173951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타점 잡기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53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2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49CB4-5CA0-9535-6346-3D4C2BE05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8E92D6-0F26-46C8-A254-48733B301B5E}"/>
              </a:ext>
            </a:extLst>
          </p:cNvPr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현재 차트 세팅 화면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DD418-9D86-9270-69DE-DDF909B2F35A}"/>
              </a:ext>
            </a:extLst>
          </p:cNvPr>
          <p:cNvSpPr txBox="1"/>
          <p:nvPr/>
        </p:nvSpPr>
        <p:spPr>
          <a:xfrm>
            <a:off x="203200" y="2256783"/>
            <a:ext cx="33401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노란선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이평선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</a:b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빨간 꺾은선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(P1)</a:t>
            </a: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하얀 점선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엔벨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구름대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CE37AC-C75A-E162-E34B-2EE8538A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08" y="1130968"/>
            <a:ext cx="8644750" cy="534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42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A3947-7960-4F63-EC05-4C65475D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F68C9-950B-BEA2-DFF6-469044AA1519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언제살까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1D7FFA55-7B6D-F3DC-E294-2BF8C0EC7ABA}"/>
              </a:ext>
            </a:extLst>
          </p:cNvPr>
          <p:cNvSpPr/>
          <p:nvPr/>
        </p:nvSpPr>
        <p:spPr>
          <a:xfrm>
            <a:off x="749808" y="1268550"/>
            <a:ext cx="27432" cy="7315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841B86FD-5A00-2D6F-9C63-5119CE1EF0C8}"/>
              </a:ext>
            </a:extLst>
          </p:cNvPr>
          <p:cNvSpPr/>
          <p:nvPr/>
        </p:nvSpPr>
        <p:spPr>
          <a:xfrm>
            <a:off x="512064" y="2000070"/>
            <a:ext cx="502920" cy="21945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82B02BC2-0B90-CA91-740B-F843237CF198}"/>
              </a:ext>
            </a:extLst>
          </p:cNvPr>
          <p:cNvSpPr/>
          <p:nvPr/>
        </p:nvSpPr>
        <p:spPr>
          <a:xfrm>
            <a:off x="749808" y="4194630"/>
            <a:ext cx="27432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645F3159-2A9A-0F0A-D254-EF2BD3C875EB}"/>
              </a:ext>
            </a:extLst>
          </p:cNvPr>
          <p:cNvSpPr/>
          <p:nvPr/>
        </p:nvSpPr>
        <p:spPr>
          <a:xfrm>
            <a:off x="1129284" y="131427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F7E024-77FA-FFEA-E54B-C229A6000F15}"/>
              </a:ext>
            </a:extLst>
          </p:cNvPr>
          <p:cNvSpPr txBox="1"/>
          <p:nvPr/>
        </p:nvSpPr>
        <p:spPr>
          <a:xfrm>
            <a:off x="1659636" y="120454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고가  (High)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6B2D0A-9B54-3D93-3F52-7615D8D964AE}"/>
              </a:ext>
            </a:extLst>
          </p:cNvPr>
          <p:cNvSpPr txBox="1"/>
          <p:nvPr/>
        </p:nvSpPr>
        <p:spPr>
          <a:xfrm>
            <a:off x="1659636" y="149715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가장 높았던 가격</a:t>
            </a: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FE06DFC7-F778-6E6E-8EFC-C54979C303AE}"/>
              </a:ext>
            </a:extLst>
          </p:cNvPr>
          <p:cNvSpPr/>
          <p:nvPr/>
        </p:nvSpPr>
        <p:spPr>
          <a:xfrm>
            <a:off x="1129284" y="204579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9CD1CE-610C-E548-712D-B33681BA3926}"/>
              </a:ext>
            </a:extLst>
          </p:cNvPr>
          <p:cNvSpPr txBox="1"/>
          <p:nvPr/>
        </p:nvSpPr>
        <p:spPr>
          <a:xfrm>
            <a:off x="1659636" y="193606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종가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(Close)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5DD79D-3F18-FBD8-9DFB-61FBE4FCA70E}"/>
              </a:ext>
            </a:extLst>
          </p:cNvPr>
          <p:cNvSpPr txBox="1"/>
          <p:nvPr/>
        </p:nvSpPr>
        <p:spPr>
          <a:xfrm>
            <a:off x="1659636" y="222867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장 마감 때 가격 (양봉)</a:t>
            </a: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41D4CA37-4B33-F57B-F6D3-ACB1B6121F33}"/>
              </a:ext>
            </a:extLst>
          </p:cNvPr>
          <p:cNvSpPr/>
          <p:nvPr/>
        </p:nvSpPr>
        <p:spPr>
          <a:xfrm>
            <a:off x="1129284" y="296019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379177-C23A-B157-253B-459E603E9546}"/>
              </a:ext>
            </a:extLst>
          </p:cNvPr>
          <p:cNvSpPr txBox="1"/>
          <p:nvPr/>
        </p:nvSpPr>
        <p:spPr>
          <a:xfrm>
            <a:off x="1659636" y="285046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몸통  (Body)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891041-3E54-CE8E-CE3E-E7ACF8615211}"/>
              </a:ext>
            </a:extLst>
          </p:cNvPr>
          <p:cNvSpPr txBox="1"/>
          <p:nvPr/>
        </p:nvSpPr>
        <p:spPr>
          <a:xfrm>
            <a:off x="1659636" y="314307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시가와 종가 사이</a:t>
            </a: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A01A7F38-F401-95F0-FAE9-DAA123FCBACF}"/>
              </a:ext>
            </a:extLst>
          </p:cNvPr>
          <p:cNvSpPr/>
          <p:nvPr/>
        </p:nvSpPr>
        <p:spPr>
          <a:xfrm>
            <a:off x="1129284" y="414891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9E4A88-7DB1-A2D6-E6A7-668CDB5D4A06}"/>
              </a:ext>
            </a:extLst>
          </p:cNvPr>
          <p:cNvSpPr txBox="1"/>
          <p:nvPr/>
        </p:nvSpPr>
        <p:spPr>
          <a:xfrm>
            <a:off x="1659636" y="403918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  (Open)</a:t>
            </a:r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B8606F4A-5756-8CFB-0485-7E3860A16E73}"/>
              </a:ext>
            </a:extLst>
          </p:cNvPr>
          <p:cNvSpPr/>
          <p:nvPr/>
        </p:nvSpPr>
        <p:spPr>
          <a:xfrm>
            <a:off x="1129284" y="478899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B74253E-26E5-7648-7298-CE1B02B32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016" y="604377"/>
            <a:ext cx="8764304" cy="51322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5F1199D-5B10-9781-D50F-9FA20365A049}"/>
              </a:ext>
            </a:extLst>
          </p:cNvPr>
          <p:cNvSpPr txBox="1"/>
          <p:nvPr/>
        </p:nvSpPr>
        <p:spPr>
          <a:xfrm>
            <a:off x="1659636" y="467926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저가  (Low)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F783C1-AD4E-5D0F-96E2-790D9FB60444}"/>
              </a:ext>
            </a:extLst>
          </p:cNvPr>
          <p:cNvSpPr txBox="1"/>
          <p:nvPr/>
        </p:nvSpPr>
        <p:spPr>
          <a:xfrm>
            <a:off x="1659636" y="497187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가장 낮았던 가격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AE5B88E-72D7-C061-B24F-4AFB5F729956}"/>
              </a:ext>
            </a:extLst>
          </p:cNvPr>
          <p:cNvSpPr/>
          <p:nvPr/>
        </p:nvSpPr>
        <p:spPr>
          <a:xfrm>
            <a:off x="5579290" y="2769728"/>
            <a:ext cx="128427" cy="57150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285D88-5812-1224-42CD-7BF7F79E2610}"/>
              </a:ext>
            </a:extLst>
          </p:cNvPr>
          <p:cNvSpPr txBox="1"/>
          <p:nvPr/>
        </p:nvSpPr>
        <p:spPr>
          <a:xfrm>
            <a:off x="7328790" y="1204542"/>
            <a:ext cx="3520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곰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=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고점의 몸통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0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C8FBE-0286-2A5F-6236-6431770B4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5791CE42-7072-8E6A-D10F-B42688D6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216" y="947027"/>
            <a:ext cx="9223535" cy="571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BF432E-A85E-FC6D-3509-6280E7A562D9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언제살까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15B285B-F6EB-B795-88CC-E8AF8D3235D5}"/>
              </a:ext>
            </a:extLst>
          </p:cNvPr>
          <p:cNvSpPr/>
          <p:nvPr/>
        </p:nvSpPr>
        <p:spPr>
          <a:xfrm>
            <a:off x="7552068" y="5369776"/>
            <a:ext cx="182728" cy="334192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5417E-332C-4368-27BD-F2FAF1FADE9A}"/>
              </a:ext>
            </a:extLst>
          </p:cNvPr>
          <p:cNvSpPr txBox="1"/>
          <p:nvPr/>
        </p:nvSpPr>
        <p:spPr>
          <a:xfrm>
            <a:off x="119074" y="2222477"/>
            <a:ext cx="4011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노란선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돌파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흰 점선 돌파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빨간선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돌파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80601-765B-67C3-DEC2-C33837CD2A89}"/>
              </a:ext>
            </a:extLst>
          </p:cNvPr>
          <p:cNvSpPr txBox="1"/>
          <p:nvPr/>
        </p:nvSpPr>
        <p:spPr>
          <a:xfrm>
            <a:off x="607203" y="4449756"/>
            <a:ext cx="1648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위 ≠ 돌파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0C96716-F91B-09F3-18D6-03EE41151936}"/>
              </a:ext>
            </a:extLst>
          </p:cNvPr>
          <p:cNvSpPr/>
          <p:nvPr/>
        </p:nvSpPr>
        <p:spPr>
          <a:xfrm>
            <a:off x="9748212" y="4043925"/>
            <a:ext cx="182728" cy="925726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2B5ED-3F67-D91F-59AE-EE081ED9C4D7}"/>
              </a:ext>
            </a:extLst>
          </p:cNvPr>
          <p:cNvSpPr txBox="1"/>
          <p:nvPr/>
        </p:nvSpPr>
        <p:spPr>
          <a:xfrm>
            <a:off x="3934327" y="274766"/>
            <a:ext cx="7438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분전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10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 이후에 절대 매수 금지★★★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615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61AA9-2FB3-014A-56F4-08A7F623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A7CE68A-E363-F035-7BE6-0EBE9371A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63" y="755060"/>
            <a:ext cx="9192962" cy="60967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99B0DF-E337-2814-D2C6-4A5CA8CAE2CD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언제살까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4C29C8E-6A75-B7C0-B69F-4A437C9DCDCB}"/>
              </a:ext>
            </a:extLst>
          </p:cNvPr>
          <p:cNvSpPr/>
          <p:nvPr/>
        </p:nvSpPr>
        <p:spPr>
          <a:xfrm>
            <a:off x="6721889" y="5625678"/>
            <a:ext cx="182728" cy="334192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59325-3143-653B-2664-3A05AA1DCAAB}"/>
              </a:ext>
            </a:extLst>
          </p:cNvPr>
          <p:cNvSpPr txBox="1"/>
          <p:nvPr/>
        </p:nvSpPr>
        <p:spPr>
          <a:xfrm>
            <a:off x="119074" y="2222477"/>
            <a:ext cx="4011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노란선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돌파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흰 점선 돌파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빨간선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돌파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C7C22-B8DC-A968-63C9-756FE20B8480}"/>
              </a:ext>
            </a:extLst>
          </p:cNvPr>
          <p:cNvSpPr txBox="1"/>
          <p:nvPr/>
        </p:nvSpPr>
        <p:spPr>
          <a:xfrm>
            <a:off x="8779581" y="5129087"/>
            <a:ext cx="2003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꼬리가 찍고 올라온 것도 괜찮다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.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202323-6CD9-0FFD-C61C-C616B02DDBDB}"/>
              </a:ext>
            </a:extLst>
          </p:cNvPr>
          <p:cNvSpPr/>
          <p:nvPr/>
        </p:nvSpPr>
        <p:spPr>
          <a:xfrm>
            <a:off x="8316454" y="4903144"/>
            <a:ext cx="182728" cy="862204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94CF7-CC32-52AE-F15D-2B91A9DD4B2F}"/>
              </a:ext>
            </a:extLst>
          </p:cNvPr>
          <p:cNvSpPr txBox="1"/>
          <p:nvPr/>
        </p:nvSpPr>
        <p:spPr>
          <a:xfrm>
            <a:off x="3934327" y="274766"/>
            <a:ext cx="7438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분전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10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 이후에 절대 매수 금지★★★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52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F1FBE-8266-87E3-4DED-B6AA730D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이건 단순히 웃긴 짤이 아닌 많은 개인 투자자들이 실제로 겪는 일. 1. 하락은 기회이지만, 항상 그럴까. 본질에 대한 고려 없이  가격만 보면, 싸 보여도 계속 싸질 수 있다. 2. 현금이 없다면 기회도">
            <a:extLst>
              <a:ext uri="{FF2B5EF4-FFF2-40B4-BE49-F238E27FC236}">
                <a16:creationId xmlns:a16="http://schemas.microsoft.com/office/drawing/2014/main" id="{F381DA3D-8887-BA52-43ED-79466F2A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9" y="1562100"/>
            <a:ext cx="4857750" cy="3733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3EE388-1E65-EA1C-D510-96A5F0DF9A45}"/>
              </a:ext>
            </a:extLst>
          </p:cNvPr>
          <p:cNvSpPr txBox="1"/>
          <p:nvPr/>
        </p:nvSpPr>
        <p:spPr>
          <a:xfrm>
            <a:off x="622549" y="347853"/>
            <a:ext cx="5593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물타기와 분할매수의 차이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83029-8D18-F80A-458C-AB188B493567}"/>
              </a:ext>
            </a:extLst>
          </p:cNvPr>
          <p:cNvSpPr txBox="1"/>
          <p:nvPr/>
        </p:nvSpPr>
        <p:spPr>
          <a:xfrm>
            <a:off x="4325378" y="495096"/>
            <a:ext cx="40111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시드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1000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 기준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4E3FA-F323-7364-0488-DE1E32041848}"/>
              </a:ext>
            </a:extLst>
          </p:cNvPr>
          <p:cNvSpPr txBox="1"/>
          <p:nvPr/>
        </p:nvSpPr>
        <p:spPr>
          <a:xfrm>
            <a:off x="3051424" y="1678969"/>
            <a:ext cx="957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1000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17EA4-2057-B7BA-27A7-19217B372252}"/>
              </a:ext>
            </a:extLst>
          </p:cNvPr>
          <p:cNvSpPr txBox="1"/>
          <p:nvPr/>
        </p:nvSpPr>
        <p:spPr>
          <a:xfrm>
            <a:off x="3398679" y="2397304"/>
            <a:ext cx="957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100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BFE52-71D1-544C-1AAE-6D9D557E418D}"/>
              </a:ext>
            </a:extLst>
          </p:cNvPr>
          <p:cNvSpPr txBox="1"/>
          <p:nvPr/>
        </p:nvSpPr>
        <p:spPr>
          <a:xfrm>
            <a:off x="3877304" y="3074543"/>
            <a:ext cx="957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100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4B3A94-072E-5E80-548A-6AA33CC1CD08}"/>
              </a:ext>
            </a:extLst>
          </p:cNvPr>
          <p:cNvSpPr txBox="1"/>
          <p:nvPr/>
        </p:nvSpPr>
        <p:spPr>
          <a:xfrm>
            <a:off x="4508329" y="3751782"/>
            <a:ext cx="957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20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6E554-F6CF-825A-27E2-2285D18BB327}"/>
              </a:ext>
            </a:extLst>
          </p:cNvPr>
          <p:cNvSpPr txBox="1"/>
          <p:nvPr/>
        </p:nvSpPr>
        <p:spPr>
          <a:xfrm>
            <a:off x="4834555" y="4429021"/>
            <a:ext cx="957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10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20A705-F23D-3A02-F5B5-7527A5A60BD6}"/>
              </a:ext>
            </a:extLst>
          </p:cNvPr>
          <p:cNvSpPr txBox="1"/>
          <p:nvPr/>
        </p:nvSpPr>
        <p:spPr>
          <a:xfrm>
            <a:off x="5681609" y="1484015"/>
            <a:ext cx="60412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전체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시드에서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3~5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분할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즉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종목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= 200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종목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운영시드에서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Ex)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차매수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= 60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2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차매수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= 60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3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차매수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= 80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6C565BC-775F-D941-9183-340565EC156A}"/>
              </a:ext>
            </a:extLst>
          </p:cNvPr>
          <p:cNvCxnSpPr/>
          <p:nvPr/>
        </p:nvCxnSpPr>
        <p:spPr>
          <a:xfrm>
            <a:off x="622549" y="2917861"/>
            <a:ext cx="44734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2EE20C9-B29E-97DF-31CB-275F90E1B33C}"/>
              </a:ext>
            </a:extLst>
          </p:cNvPr>
          <p:cNvSpPr txBox="1"/>
          <p:nvPr/>
        </p:nvSpPr>
        <p:spPr>
          <a:xfrm>
            <a:off x="3289315" y="2579307"/>
            <a:ext cx="24380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물타기 했을 때 평단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8AF6BF2-0B3C-12E2-0713-A97B7AA0FBD1}"/>
              </a:ext>
            </a:extLst>
          </p:cNvPr>
          <p:cNvCxnSpPr/>
          <p:nvPr/>
        </p:nvCxnSpPr>
        <p:spPr>
          <a:xfrm>
            <a:off x="622549" y="4304179"/>
            <a:ext cx="44734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4897632-A72F-A89E-54B6-7E87E1548FDF}"/>
              </a:ext>
            </a:extLst>
          </p:cNvPr>
          <p:cNvSpPr txBox="1"/>
          <p:nvPr/>
        </p:nvSpPr>
        <p:spPr>
          <a:xfrm>
            <a:off x="3289315" y="3965625"/>
            <a:ext cx="24380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분할매수 했을 때 평단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0E8874-BA3E-AEDB-0102-2CA4694BCC2D}"/>
              </a:ext>
            </a:extLst>
          </p:cNvPr>
          <p:cNvSpPr txBox="1"/>
          <p:nvPr/>
        </p:nvSpPr>
        <p:spPr>
          <a:xfrm>
            <a:off x="622549" y="835464"/>
            <a:ext cx="5593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=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매수할 금액을 정해놓고 하는 것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754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9" grpId="0"/>
      <p:bldP spid="22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CF30B-89E3-D3AF-D571-1D1DA314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91619D-DC34-F692-46D7-0424D892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943" y="156706"/>
            <a:ext cx="7563906" cy="6544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611F0A-F1B8-73B6-2CA3-C665D509D7CE}"/>
              </a:ext>
            </a:extLst>
          </p:cNvPr>
          <p:cNvSpPr txBox="1"/>
          <p:nvPr/>
        </p:nvSpPr>
        <p:spPr>
          <a:xfrm>
            <a:off x="440451" y="3250223"/>
            <a:ext cx="24913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38% = 1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50% = 2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61% = 3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095099-D196-769D-A4D2-7165B22A94DB}"/>
              </a:ext>
            </a:extLst>
          </p:cNvPr>
          <p:cNvSpPr txBox="1"/>
          <p:nvPr/>
        </p:nvSpPr>
        <p:spPr>
          <a:xfrm>
            <a:off x="304572" y="1735658"/>
            <a:ext cx="4187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메이드 봉 종가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= 1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</a:p>
        </p:txBody>
      </p:sp>
    </p:spTree>
    <p:extLst>
      <p:ext uri="{BB962C8B-B14F-4D97-AF65-F5344CB8AC3E}">
        <p14:creationId xmlns:p14="http://schemas.microsoft.com/office/powerpoint/2010/main" val="3165470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6018C-D931-A332-3808-6FA7F1CA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2166B30-F186-F352-3F02-6A91ACB7809D}"/>
              </a:ext>
            </a:extLst>
          </p:cNvPr>
          <p:cNvSpPr txBox="1"/>
          <p:nvPr/>
        </p:nvSpPr>
        <p:spPr>
          <a:xfrm>
            <a:off x="440451" y="3250223"/>
            <a:ext cx="24913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38% = 1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50% = 2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61% = 3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23E4B-BED4-1481-69E5-67DBA7B6E370}"/>
              </a:ext>
            </a:extLst>
          </p:cNvPr>
          <p:cNvSpPr txBox="1"/>
          <p:nvPr/>
        </p:nvSpPr>
        <p:spPr>
          <a:xfrm>
            <a:off x="304572" y="1735658"/>
            <a:ext cx="4187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메이드 봉 종가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= 1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ED0A83-0FFD-2A58-7A6B-CB51B9603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3" y="0"/>
            <a:ext cx="660118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8C204-7A8D-DACC-9DED-D16BA8BCD0B4}"/>
              </a:ext>
            </a:extLst>
          </p:cNvPr>
          <p:cNvSpPr txBox="1"/>
          <p:nvPr/>
        </p:nvSpPr>
        <p:spPr>
          <a:xfrm>
            <a:off x="300992" y="236868"/>
            <a:ext cx="4738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메이드봉이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초록색 봉일 경우</a:t>
            </a:r>
          </a:p>
        </p:txBody>
      </p:sp>
    </p:spTree>
    <p:extLst>
      <p:ext uri="{BB962C8B-B14F-4D97-AF65-F5344CB8AC3E}">
        <p14:creationId xmlns:p14="http://schemas.microsoft.com/office/powerpoint/2010/main" val="237341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5052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여러가지 </a:t>
            </a:r>
            <a:r>
              <a:rPr kumimoji="0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종목에서</a:t>
            </a:r>
            <a:r>
              <a:rPr kumimoji="0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타점</a:t>
            </a:r>
            <a:r>
              <a:rPr kumimoji="0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직접</a:t>
            </a:r>
            <a:r>
              <a:rPr kumimoji="0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찾기</a:t>
            </a:r>
            <a:endParaRPr kumimoji="0" sz="3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11247120" cy="615553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10640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미션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— 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그룹별로 차트에 해당되는 종목을 찾아보기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종목명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날짜 기록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1221D-97B6-519B-381C-B0E7CDF6C111}"/>
              </a:ext>
            </a:extLst>
          </p:cNvPr>
          <p:cNvSpPr txBox="1"/>
          <p:nvPr/>
        </p:nvSpPr>
        <p:spPr>
          <a:xfrm>
            <a:off x="457200" y="1787484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A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CE44F-7B46-9956-4EF3-41D0DD2EBBC5}"/>
              </a:ext>
            </a:extLst>
          </p:cNvPr>
          <p:cNvSpPr txBox="1"/>
          <p:nvPr/>
        </p:nvSpPr>
        <p:spPr>
          <a:xfrm>
            <a:off x="6094412" y="1710750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B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65D9841-5854-B95B-6AD2-E0005627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49" y="1967103"/>
            <a:ext cx="3864851" cy="463598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2662B66-6327-D910-7936-296BE620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681" y="1926193"/>
            <a:ext cx="3864851" cy="4635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79280" y="27378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⏱ 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30</a:t>
            </a: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3AC5B7-4FCC-CD28-AD72-04928B42B904}"/>
              </a:ext>
            </a:extLst>
          </p:cNvPr>
          <p:cNvSpPr/>
          <p:nvPr/>
        </p:nvSpPr>
        <p:spPr>
          <a:xfrm>
            <a:off x="1799349" y="4244185"/>
            <a:ext cx="1413751" cy="2262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F19BB5-32B3-C03D-3BE9-7C27BB474A42}"/>
              </a:ext>
            </a:extLst>
          </p:cNvPr>
          <p:cNvSpPr/>
          <p:nvPr/>
        </p:nvSpPr>
        <p:spPr>
          <a:xfrm>
            <a:off x="7253681" y="6034885"/>
            <a:ext cx="1413751" cy="2262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9A53BE-653F-6E67-58EB-0422C0AA34A9}"/>
              </a:ext>
            </a:extLst>
          </p:cNvPr>
          <p:cNvSpPr/>
          <p:nvPr/>
        </p:nvSpPr>
        <p:spPr>
          <a:xfrm>
            <a:off x="4847349" y="2349280"/>
            <a:ext cx="410451" cy="2262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227942-C4F2-CE25-8934-293289D9FC11}"/>
              </a:ext>
            </a:extLst>
          </p:cNvPr>
          <p:cNvSpPr/>
          <p:nvPr/>
        </p:nvSpPr>
        <p:spPr>
          <a:xfrm>
            <a:off x="10301681" y="2310028"/>
            <a:ext cx="410451" cy="2262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A3B55-BB27-F287-1F17-E221A659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6970A91-D6C0-2000-AEA9-DDC4FC157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39" y="0"/>
            <a:ext cx="11164546" cy="685800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790C649-1537-FBB4-D563-8626B9BE2686}"/>
              </a:ext>
            </a:extLst>
          </p:cNvPr>
          <p:cNvCxnSpPr>
            <a:cxnSpLocks/>
          </p:cNvCxnSpPr>
          <p:nvPr/>
        </p:nvCxnSpPr>
        <p:spPr>
          <a:xfrm>
            <a:off x="9534619" y="4061264"/>
            <a:ext cx="0" cy="1106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A0CF16-5C90-2383-90C6-50BA408D572F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언제팔까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DA78B7-470A-AEC1-C8AC-15B01DEA2413}"/>
              </a:ext>
            </a:extLst>
          </p:cNvPr>
          <p:cNvSpPr txBox="1"/>
          <p:nvPr/>
        </p:nvSpPr>
        <p:spPr>
          <a:xfrm>
            <a:off x="8380855" y="4061264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수익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22%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520133-BA08-D0BA-8E55-268288381249}"/>
              </a:ext>
            </a:extLst>
          </p:cNvPr>
          <p:cNvSpPr/>
          <p:nvPr/>
        </p:nvSpPr>
        <p:spPr>
          <a:xfrm>
            <a:off x="673050" y="3743452"/>
            <a:ext cx="678072" cy="72161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D53DC09-7EDD-B773-8EFB-FC20E8E2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380" y="1182485"/>
            <a:ext cx="2723595" cy="557373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A20C9A1A-F24B-E7B5-8785-1DAB2CD40C4C}"/>
              </a:ext>
            </a:extLst>
          </p:cNvPr>
          <p:cNvSpPr/>
          <p:nvPr/>
        </p:nvSpPr>
        <p:spPr>
          <a:xfrm>
            <a:off x="4952144" y="3842535"/>
            <a:ext cx="914400" cy="1541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F9818F1-65E9-4229-3452-85870A1CC46A}"/>
              </a:ext>
            </a:extLst>
          </p:cNvPr>
          <p:cNvSpPr/>
          <p:nvPr/>
        </p:nvSpPr>
        <p:spPr>
          <a:xfrm>
            <a:off x="4952144" y="4498371"/>
            <a:ext cx="914400" cy="2585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1E8426-9C3F-704E-F0F6-0D92073B9FBE}"/>
              </a:ext>
            </a:extLst>
          </p:cNvPr>
          <p:cNvSpPr txBox="1"/>
          <p:nvPr/>
        </p:nvSpPr>
        <p:spPr>
          <a:xfrm>
            <a:off x="3560416" y="373492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목표 매도가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A7020-5EFF-BF8E-2E69-23E95712FC15}"/>
              </a:ext>
            </a:extLst>
          </p:cNvPr>
          <p:cNvSpPr txBox="1"/>
          <p:nvPr/>
        </p:nvSpPr>
        <p:spPr>
          <a:xfrm>
            <a:off x="3560416" y="444298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실제 매도가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809686E-7514-6B93-A328-611E5218ED9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409344" y="3996647"/>
            <a:ext cx="0" cy="50172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CE5DB4A-49BE-1784-3D25-30A296C367F3}"/>
              </a:ext>
            </a:extLst>
          </p:cNvPr>
          <p:cNvSpPr txBox="1"/>
          <p:nvPr/>
        </p:nvSpPr>
        <p:spPr>
          <a:xfrm>
            <a:off x="4680155" y="4061264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6~7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칸</a:t>
            </a:r>
          </a:p>
        </p:txBody>
      </p:sp>
    </p:spTree>
    <p:extLst>
      <p:ext uri="{BB962C8B-B14F-4D97-AF65-F5344CB8AC3E}">
        <p14:creationId xmlns:p14="http://schemas.microsoft.com/office/powerpoint/2010/main" val="4900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 animBg="1"/>
      <p:bldP spid="28" grpId="0" animBg="1"/>
      <p:bldP spid="29" grpId="0"/>
      <p:bldP spid="30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420E2-D609-8FF7-4011-7ED79FCC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FEC87-71E3-9681-08B1-085453076ECF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언제팔까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194146-4EFD-6101-5FAE-0C23195B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67" y="1016000"/>
            <a:ext cx="9298281" cy="551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A9D7B7-D3E6-4199-F577-318AA3D9F49C}"/>
              </a:ext>
            </a:extLst>
          </p:cNvPr>
          <p:cNvSpPr txBox="1"/>
          <p:nvPr/>
        </p:nvSpPr>
        <p:spPr>
          <a:xfrm>
            <a:off x="6725361" y="3115074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일봉에서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구름대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상단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FD4519-BBF9-ADF6-725D-0FA95DEF0802}"/>
              </a:ext>
            </a:extLst>
          </p:cNvPr>
          <p:cNvSpPr/>
          <p:nvPr/>
        </p:nvSpPr>
        <p:spPr>
          <a:xfrm>
            <a:off x="6629400" y="3429000"/>
            <a:ext cx="1976604" cy="4826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D1FE2-475B-F7B2-AE34-7681FD13E9E2}"/>
              </a:ext>
            </a:extLst>
          </p:cNvPr>
          <p:cNvSpPr txBox="1"/>
          <p:nvPr/>
        </p:nvSpPr>
        <p:spPr>
          <a:xfrm>
            <a:off x="2418669" y="231749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평균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5%~ 10%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031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33877-3F36-A5A1-C038-926FEE2E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8243AA0-8C62-FFFC-5CE2-EF1158AA0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24" y="0"/>
            <a:ext cx="1004540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035C90-1AFC-F76E-EB3C-0C802BB84A49}"/>
              </a:ext>
            </a:extLst>
          </p:cNvPr>
          <p:cNvSpPr txBox="1"/>
          <p:nvPr/>
        </p:nvSpPr>
        <p:spPr>
          <a:xfrm>
            <a:off x="9481261" y="283865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매도라인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E8B9DE-E060-3029-5A82-282372882ECB}"/>
              </a:ext>
            </a:extLst>
          </p:cNvPr>
          <p:cNvSpPr txBox="1"/>
          <p:nvPr/>
        </p:nvSpPr>
        <p:spPr>
          <a:xfrm>
            <a:off x="2418669" y="231749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평균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5%~ 10%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AB4A4-F73E-3990-27C8-C6344EED54CD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언제팔까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818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48553-ECFA-B528-604B-217474B8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44FF18B-4447-2791-8102-093A6481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975" y="387116"/>
            <a:ext cx="9753850" cy="6470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ACB890-D2D3-7E34-39DC-AECC92A5FB46}"/>
              </a:ext>
            </a:extLst>
          </p:cNvPr>
          <p:cNvSpPr txBox="1"/>
          <p:nvPr/>
        </p:nvSpPr>
        <p:spPr>
          <a:xfrm>
            <a:off x="138701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언제팔까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4ABB66C-00C5-7F65-82F8-E8F28C4C2499}"/>
              </a:ext>
            </a:extLst>
          </p:cNvPr>
          <p:cNvSpPr/>
          <p:nvPr/>
        </p:nvSpPr>
        <p:spPr>
          <a:xfrm>
            <a:off x="7643699" y="5332471"/>
            <a:ext cx="678072" cy="72161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9A97B21-DAE8-CDDB-237D-B81EC6270E60}"/>
              </a:ext>
            </a:extLst>
          </p:cNvPr>
          <p:cNvCxnSpPr>
            <a:cxnSpLocks/>
          </p:cNvCxnSpPr>
          <p:nvPr/>
        </p:nvCxnSpPr>
        <p:spPr>
          <a:xfrm>
            <a:off x="7942125" y="3113070"/>
            <a:ext cx="0" cy="23375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EE8083-FCAF-49BE-A91A-860BC021D7E9}"/>
              </a:ext>
            </a:extLst>
          </p:cNvPr>
          <p:cNvSpPr txBox="1"/>
          <p:nvPr/>
        </p:nvSpPr>
        <p:spPr>
          <a:xfrm>
            <a:off x="6788361" y="4343887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수익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39%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AD145-187E-C63A-3D69-27A4C2437F0A}"/>
              </a:ext>
            </a:extLst>
          </p:cNvPr>
          <p:cNvSpPr txBox="1"/>
          <p:nvPr/>
        </p:nvSpPr>
        <p:spPr>
          <a:xfrm>
            <a:off x="6622262" y="2598051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수익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48%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BC98B5D-B80B-04AA-EA71-B3B20E1A0599}"/>
              </a:ext>
            </a:extLst>
          </p:cNvPr>
          <p:cNvCxnSpPr>
            <a:cxnSpLocks/>
          </p:cNvCxnSpPr>
          <p:nvPr/>
        </p:nvCxnSpPr>
        <p:spPr>
          <a:xfrm>
            <a:off x="7942125" y="2598051"/>
            <a:ext cx="0" cy="28466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9AB41EF-C242-6217-5B8E-D2BACFEC8158}"/>
              </a:ext>
            </a:extLst>
          </p:cNvPr>
          <p:cNvCxnSpPr>
            <a:cxnSpLocks/>
          </p:cNvCxnSpPr>
          <p:nvPr/>
        </p:nvCxnSpPr>
        <p:spPr>
          <a:xfrm flipV="1">
            <a:off x="5741653" y="3191013"/>
            <a:ext cx="1027416" cy="1130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792984-42A3-5391-D598-45BD5938022D}"/>
              </a:ext>
            </a:extLst>
          </p:cNvPr>
          <p:cNvSpPr txBox="1"/>
          <p:nvPr/>
        </p:nvSpPr>
        <p:spPr>
          <a:xfrm>
            <a:off x="3374592" y="4321171"/>
            <a:ext cx="36279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최종목표가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780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선이 가장 맨 위에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있을때만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28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5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469A0-5D46-7FA1-2239-9A90035A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FC095-46FA-0223-75AE-90CF3963AC11}"/>
              </a:ext>
            </a:extLst>
          </p:cNvPr>
          <p:cNvSpPr txBox="1"/>
          <p:nvPr/>
        </p:nvSpPr>
        <p:spPr>
          <a:xfrm>
            <a:off x="138701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하면 안되는 것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755189-0C14-04F5-66FF-FB347E3D6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37" y="1729217"/>
            <a:ext cx="7372455" cy="3859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3A718-692B-52E0-35B9-0A87F0BAD5CC}"/>
              </a:ext>
            </a:extLst>
          </p:cNvPr>
          <p:cNvSpPr txBox="1"/>
          <p:nvPr/>
        </p:nvSpPr>
        <p:spPr>
          <a:xfrm>
            <a:off x="3201325" y="127086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일봉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5CE76A-9258-796B-5DA1-2B9ED40485CD}"/>
              </a:ext>
            </a:extLst>
          </p:cNvPr>
          <p:cNvSpPr txBox="1"/>
          <p:nvPr/>
        </p:nvSpPr>
        <p:spPr>
          <a:xfrm>
            <a:off x="6591797" y="2907784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구름 하단을 찍고 왔거나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구름 하단에 근처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인것은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하지말기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56A843-8D7F-75D0-6455-E63AD0374BE1}"/>
              </a:ext>
            </a:extLst>
          </p:cNvPr>
          <p:cNvSpPr txBox="1"/>
          <p:nvPr/>
        </p:nvSpPr>
        <p:spPr>
          <a:xfrm>
            <a:off x="610525" y="3021248"/>
            <a:ext cx="14847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송원산업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실리콘투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덕성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        7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160341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76384-5B39-CC8E-6678-40028CAB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275539-250D-24F6-EE57-B365934DA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63" y="911831"/>
            <a:ext cx="9873265" cy="57175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4F3C1E-05E8-DEF2-3270-1FF39536FBCC}"/>
              </a:ext>
            </a:extLst>
          </p:cNvPr>
          <p:cNvSpPr txBox="1"/>
          <p:nvPr/>
        </p:nvSpPr>
        <p:spPr>
          <a:xfrm>
            <a:off x="138701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조심해야 되는 것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22A389-553C-A248-38FB-1DC5D28E77AE}"/>
              </a:ext>
            </a:extLst>
          </p:cNvPr>
          <p:cNvSpPr/>
          <p:nvPr/>
        </p:nvSpPr>
        <p:spPr>
          <a:xfrm>
            <a:off x="5755376" y="3626961"/>
            <a:ext cx="678072" cy="72161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12088DF-5602-B42C-B76E-F6AD4A21E525}"/>
              </a:ext>
            </a:extLst>
          </p:cNvPr>
          <p:cNvSpPr/>
          <p:nvPr/>
        </p:nvSpPr>
        <p:spPr>
          <a:xfrm>
            <a:off x="10642017" y="5124066"/>
            <a:ext cx="678072" cy="72161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12233-AD5B-616F-921F-78BCA6117D5D}"/>
              </a:ext>
            </a:extLst>
          </p:cNvPr>
          <p:cNvSpPr txBox="1"/>
          <p:nvPr/>
        </p:nvSpPr>
        <p:spPr>
          <a:xfrm>
            <a:off x="4843557" y="2089952"/>
            <a:ext cx="24192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왼쪽에 파란구름이 사선으로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내려오고 있는 것은 조심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짧게 먹고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빠지는게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낫다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A17F53B-B7B1-6DBC-A05D-673884F4A80D}"/>
              </a:ext>
            </a:extLst>
          </p:cNvPr>
          <p:cNvCxnSpPr>
            <a:cxnSpLocks/>
          </p:cNvCxnSpPr>
          <p:nvPr/>
        </p:nvCxnSpPr>
        <p:spPr>
          <a:xfrm>
            <a:off x="3820149" y="2059650"/>
            <a:ext cx="1842760" cy="15418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48906C-503A-3C97-2F97-E12C7578E447}"/>
              </a:ext>
            </a:extLst>
          </p:cNvPr>
          <p:cNvSpPr txBox="1"/>
          <p:nvPr/>
        </p:nvSpPr>
        <p:spPr>
          <a:xfrm>
            <a:off x="166588" y="3979239"/>
            <a:ext cx="265168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바이오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관련주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(OO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바이오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OO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신약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OO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제약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금융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관련주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(OO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증권 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는 하지 말 것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4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0B61C-9B22-73AD-9FA9-4567FD6A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3BFCB48-7053-CEB1-2E8E-3B470550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827" y="966832"/>
            <a:ext cx="8859998" cy="58911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5E1FC-6ED9-C9DD-99E2-24AD9A568FAF}"/>
              </a:ext>
            </a:extLst>
          </p:cNvPr>
          <p:cNvSpPr txBox="1"/>
          <p:nvPr/>
        </p:nvSpPr>
        <p:spPr>
          <a:xfrm>
            <a:off x="138701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조심해야 되는 것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33634B6-0BDD-4006-237D-6CB6513A2E45}"/>
              </a:ext>
            </a:extLst>
          </p:cNvPr>
          <p:cNvSpPr/>
          <p:nvPr/>
        </p:nvSpPr>
        <p:spPr>
          <a:xfrm>
            <a:off x="7123676" y="5530363"/>
            <a:ext cx="678072" cy="72161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A92AE18-CA33-F3DC-75DF-6DFFAF8FA2AE}"/>
              </a:ext>
            </a:extLst>
          </p:cNvPr>
          <p:cNvSpPr/>
          <p:nvPr/>
        </p:nvSpPr>
        <p:spPr>
          <a:xfrm>
            <a:off x="9982482" y="4124739"/>
            <a:ext cx="678072" cy="72161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46675-6CE9-FC8B-525A-687B670B4C48}"/>
              </a:ext>
            </a:extLst>
          </p:cNvPr>
          <p:cNvSpPr txBox="1"/>
          <p:nvPr/>
        </p:nvSpPr>
        <p:spPr>
          <a:xfrm>
            <a:off x="8406467" y="3601519"/>
            <a:ext cx="3114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Made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봉이 있고나서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이미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10%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이상 오른 종목은 조심할 것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D643F7D-D81A-3614-52F1-4E45A2CE08B1}"/>
              </a:ext>
            </a:extLst>
          </p:cNvPr>
          <p:cNvCxnSpPr>
            <a:cxnSpLocks/>
          </p:cNvCxnSpPr>
          <p:nvPr/>
        </p:nvCxnSpPr>
        <p:spPr>
          <a:xfrm>
            <a:off x="3820149" y="2059650"/>
            <a:ext cx="1842760" cy="15418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4B01EA-6968-D978-2889-6E6D41FEF49F}"/>
              </a:ext>
            </a:extLst>
          </p:cNvPr>
          <p:cNvSpPr txBox="1"/>
          <p:nvPr/>
        </p:nvSpPr>
        <p:spPr>
          <a:xfrm>
            <a:off x="10438746" y="5000237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수익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10%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3175179-537C-FE4F-E54C-B2B31091D620}"/>
              </a:ext>
            </a:extLst>
          </p:cNvPr>
          <p:cNvCxnSpPr>
            <a:cxnSpLocks/>
          </p:cNvCxnSpPr>
          <p:nvPr/>
        </p:nvCxnSpPr>
        <p:spPr>
          <a:xfrm>
            <a:off x="10438746" y="4464996"/>
            <a:ext cx="0" cy="10625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85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BDA68-FCC4-E8B8-7701-E1CE4743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6D1537E-7465-C591-AFF3-6F634F29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0"/>
            <a:ext cx="7239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1C03AA-2C81-0A18-506E-2B174A2D1567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손절은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언제할까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78AEC-1FE5-FF00-2E29-21795350926C}"/>
              </a:ext>
            </a:extLst>
          </p:cNvPr>
          <p:cNvSpPr txBox="1"/>
          <p:nvPr/>
        </p:nvSpPr>
        <p:spPr>
          <a:xfrm>
            <a:off x="4732034" y="4203348"/>
            <a:ext cx="85472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차 매수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F26FE-3C04-9FD2-9020-9BA4C8C981EB}"/>
              </a:ext>
            </a:extLst>
          </p:cNvPr>
          <p:cNvSpPr txBox="1"/>
          <p:nvPr/>
        </p:nvSpPr>
        <p:spPr>
          <a:xfrm>
            <a:off x="8105646" y="460974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평균단가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9B73ED-EA0E-CA31-4730-BBD39FEAA822}"/>
              </a:ext>
            </a:extLst>
          </p:cNvPr>
          <p:cNvSpPr txBox="1"/>
          <p:nvPr/>
        </p:nvSpPr>
        <p:spPr>
          <a:xfrm>
            <a:off x="603054" y="2712303"/>
            <a:ext cx="370806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익절과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손절은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1:2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비율로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Ex)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오른쪽 예시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7% 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익절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3.5% 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손절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or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주일간 미상승시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손절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683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E5C7C-5CC3-C0A6-FA97-F1C235ED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2644B3-3E46-AE8E-973A-919EB94E8BB3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+@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수급 체크하기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A976C0-9626-0BEA-4E8D-30978B2C9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" y="983998"/>
            <a:ext cx="6864013" cy="42969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85A25A-C41F-9BC6-2E3C-BD86BF90F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072" y="1982911"/>
            <a:ext cx="7159917" cy="4408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154E1A-98F2-7D11-63D1-A75FD4D9CC06}"/>
              </a:ext>
            </a:extLst>
          </p:cNvPr>
          <p:cNvSpPr txBox="1"/>
          <p:nvPr/>
        </p:nvSpPr>
        <p:spPr>
          <a:xfrm>
            <a:off x="7205294" y="1059589"/>
            <a:ext cx="49835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좋은것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신한증권 ≥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JP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모건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삼성증권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안좋은것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: KB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증권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키움증권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NH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투자증권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52FE61-C402-7B61-2962-AFA7806CA3C6}"/>
              </a:ext>
            </a:extLst>
          </p:cNvPr>
          <p:cNvSpPr/>
          <p:nvPr/>
        </p:nvSpPr>
        <p:spPr>
          <a:xfrm>
            <a:off x="215133" y="1571946"/>
            <a:ext cx="2291761" cy="1171254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E3F671-BB9E-D614-C83A-57547A1E92A9}"/>
              </a:ext>
            </a:extLst>
          </p:cNvPr>
          <p:cNvSpPr/>
          <p:nvPr/>
        </p:nvSpPr>
        <p:spPr>
          <a:xfrm>
            <a:off x="7143523" y="2558260"/>
            <a:ext cx="2291761" cy="1171254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980BA7-3D2C-A6DF-2F89-22AB12F7591D}"/>
              </a:ext>
            </a:extLst>
          </p:cNvPr>
          <p:cNvSpPr/>
          <p:nvPr/>
        </p:nvSpPr>
        <p:spPr>
          <a:xfrm>
            <a:off x="4741665" y="2569690"/>
            <a:ext cx="2291761" cy="1171254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90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3A07E-8018-57BB-856E-0DC62589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D5A534-4533-C594-3FCD-B8F4F5196D15}"/>
              </a:ext>
            </a:extLst>
          </p:cNvPr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+@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수급 체크하기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ED20B5-0F0B-D20A-6321-72DC640D1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06" y="1513540"/>
            <a:ext cx="7550212" cy="411934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74C5328-E9FB-4C73-6EA6-9C519840BA61}"/>
              </a:ext>
            </a:extLst>
          </p:cNvPr>
          <p:cNvCxnSpPr/>
          <p:nvPr/>
        </p:nvCxnSpPr>
        <p:spPr>
          <a:xfrm flipV="1">
            <a:off x="5377543" y="3614057"/>
            <a:ext cx="2971800" cy="12736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20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b="1" dirty="0">
                <a:solidFill>
                  <a:srgbClr val="FFFFFF"/>
                </a:solidFill>
                <a:latin typeface="Malgun Gothic"/>
              </a:rPr>
              <a:t>단타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타점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3가지 —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핵심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정리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47120" cy="1417320"/>
          </a:xfrm>
          <a:prstGeom prst="rect">
            <a:avLst/>
          </a:prstGeom>
          <a:solidFill>
            <a:srgbClr val="15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4452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4526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차트가 모든 조건을 만족 하는가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2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94818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곰 선 먼저 체크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|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엔벨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위에 있는가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| P2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를 돌파 했는가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| 780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돌파 했는가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47120" cy="141732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64008" cy="1417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0276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2768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수급이 잘 들어오고 있는가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2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3530600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좋은것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신한증권 ≥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JP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모건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삼성증권   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|   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안좋은것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: KB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증권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키움증권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NH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투자증권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+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프로그램 매수세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11247120" cy="1417320"/>
          </a:xfrm>
          <a:prstGeom prst="rect">
            <a:avLst/>
          </a:prstGeom>
          <a:solidFill>
            <a:srgbClr val="00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64008" cy="141732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7625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6250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매도라인까지 먹을 공간이 남았는가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?</a:t>
            </a:r>
            <a:endParaRPr kumimoji="0" sz="2200" b="1" i="0" u="none" strike="noStrike" kern="1200" cap="none" spc="0" normalizeH="0" baseline="0" noProof="0" dirty="0">
              <a:ln>
                <a:noFill/>
              </a:ln>
              <a:solidFill>
                <a:srgbClr val="00CC66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526542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처음엔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분봉 기준으로 매도라인을 보다가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여유가 되면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일봉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 구름까지 체크하기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936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오늘의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2시간, 이렇게 씁니다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5943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0~10분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88"/>
                </a:solidFill>
                <a:latin typeface="Malgun Gothic"/>
              </a:rPr>
              <a:t>오프닝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과제 종목 공유 — 타점 후보 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59436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64008" cy="5943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10~40분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FF00"/>
                </a:solidFill>
                <a:latin typeface="Malgun Gothic"/>
              </a:rPr>
              <a:t>교육 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14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이동평균선 — 정배열/역배열로 타점 판단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64008" cy="5943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40~55분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Malgun Gothic"/>
              </a:rPr>
              <a:t>짝활동 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246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가져온 종목, 이평선으로 체크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11247120" cy="59436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64008" cy="5943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977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55~85분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FF00"/>
                </a:solidFill>
                <a:latin typeface="Malgun Gothic"/>
              </a:rPr>
              <a:t>교육 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977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볼린저밴드 — 타점의 신뢰도 높이기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11247120" cy="59436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64008" cy="5943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85~100분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Malgun Gothic"/>
              </a:rPr>
              <a:t>짝활동 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709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두 조건 동시 충족하는 타점 찾기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1124712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349240"/>
            <a:ext cx="64008" cy="5943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100~120분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440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88"/>
                </a:solidFill>
                <a:latin typeface="Malgun Gothic"/>
              </a:rPr>
              <a:t>마무리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4406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짝별 공유 + 4주차 예고 (검색기 만들기)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오프닝  |  0~10분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지난 주 과제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FF00"/>
                </a:solidFill>
                <a:latin typeface="Malgun Gothic"/>
              </a:rPr>
              <a:t>타점 후보를 찾은 종목을 꺼내주세요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종목명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어떤 타점 후보를 발견했나요?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Malgun Gothic"/>
              </a:rPr>
              <a:t>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474720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거래량급증 / 눌림목 / 전고점 중 어느 것?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Malgun Gothic"/>
              </a:rPr>
              <a:t>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28600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3474720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Malgun Gothic"/>
              </a:rPr>
              <a:t>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지금 사도 되겠다고 생각했나요?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37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Malgun Gothic"/>
              </a:rPr>
              <a:t>각자 30초씩  —  정답 없음, 솔직하게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교육 ①  |  10~40분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이동평균선 — 추세를 읽는 기준선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8229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9280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FF00"/>
                </a:solidFill>
                <a:latin typeface="Malgun Gothic"/>
              </a:rPr>
              <a:t>20일선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9280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단기 추세  —  주가가 이선 위에 있으면 단기 상승 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64008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9900"/>
                </a:solidFill>
                <a:latin typeface="Malgun Gothic"/>
              </a:rPr>
              <a:t>60일선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85292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중기 추세  —  2주차에 배운 타점의 신뢰도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64008" cy="8229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130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88FF"/>
                </a:solidFill>
                <a:latin typeface="Malgun Gothic"/>
              </a:rPr>
              <a:t>120일선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81304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장기 추세  —  이선 위에 있으면 큰 흐름이 살아있음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11247120" cy="155448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64008" cy="15544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800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FF00"/>
                </a:solidFill>
                <a:latin typeface="Malgun Gothic"/>
              </a:rPr>
              <a:t>정배열  vs  역배열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정배열 (20 &gt; 60 &gt; 120)  →  주가가 올라가기 좋은 환경
역배열 (20 &lt; 60 &lt; 120)  →  반등이 와도 저항이 많은 환경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</a:rPr>
              <a:t>정배열 — 타점이 살아있는 환경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짝활동 ①  |  40~55분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내 종목, 이평선으로 체크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91440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C00"/>
                </a:solidFill>
                <a:latin typeface="Malgun Gothic"/>
              </a:rPr>
              <a:t>미션  —  과제 종목 차트를 열고 짝이랑 이동평균선 상태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차트에서 20일선 / 60일선 / 120일선 켜기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정배열인가, 역배열인가? 짝이랑 판단하기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주가가 이평선 위에 있는가, 아래에 있는가?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타점 후보가 이평선 지지를 받는 자리인가?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결과를 한 문장으로 정리  ("이 종목은 지금 ___ 상태다")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172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CC00"/>
                </a:solidFill>
                <a:latin typeface="Malgun Gothic"/>
              </a:rPr>
              <a:t>⏱  15분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교육 ②  |  55~85분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볼린저밴드 — 타점의 신뢰도를 높인다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247120" cy="86868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8686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444"/>
                </a:solidFill>
                <a:latin typeface="Malgun Gothic"/>
              </a:rPr>
              <a:t>상단밴드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9202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주가가 여기 닿으면 과열 신호  —  단기 조정 가능성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47120" cy="868680"/>
          </a:xfrm>
          <a:prstGeom prst="rect">
            <a:avLst/>
          </a:prstGeom>
          <a:solidFill>
            <a:srgbClr val="1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64008" cy="8686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FF00"/>
                </a:solidFill>
                <a:latin typeface="Malgun Gothic"/>
              </a:rPr>
              <a:t>중심선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2608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20일 이동평균  —  이걸 기준으로 위/아래를 판단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11247120" cy="868680"/>
          </a:xfrm>
          <a:prstGeom prst="rect">
            <a:avLst/>
          </a:prstGeom>
          <a:solidFill>
            <a:srgbClr val="0D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64008" cy="8686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488FF"/>
                </a:solidFill>
                <a:latin typeface="Malgun Gothic"/>
              </a:rPr>
              <a:t>하단밴드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9319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주가가 여기 닿으면 과매도 신호  —  반등 타점 후보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11247120" cy="164592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64008" cy="16459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FF00"/>
                </a:solidFill>
                <a:latin typeface="Malgun Gothic"/>
              </a:rPr>
              <a:t>핵심 조합  —  이평선 + 볼린저밴드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정배열 상태에서  +  하단밴드 터치 후 반등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Malgun Gothic"/>
              </a:rPr>
              <a:t>조건 하나보다 두 가지가 동시에 맞을 때 신뢰도가 올라간다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볼린저밴드 하단 터치 + 정배열 — 신뢰도 높은 타점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짝활동 ②  |  85~100분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두 조건 동시에 충족하는 타점 찾기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303520" cy="118872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FF00"/>
                </a:solidFill>
                <a:latin typeface="Malgun Gothic"/>
              </a:rPr>
              <a:t>조건 A  —  이동평균선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정배열 상태
+ 주가가 이평선 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202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888888"/>
                </a:solidFill>
                <a:latin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600200"/>
            <a:ext cx="5212080" cy="1188720"/>
          </a:xfrm>
          <a:prstGeom prst="rect">
            <a:avLst/>
          </a:prstGeom>
          <a:solidFill>
            <a:srgbClr val="0D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88FF"/>
                </a:solidFill>
                <a:latin typeface="Malgun Gothic"/>
              </a:rPr>
              <a:t>조건 B  —  볼린저밴드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하단밴드 터치 후 반등
+ 거래량 동반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차트에 이평선 3개 + 볼린저밴드 동시에 켜기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935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935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조건 A 확인  (정배열인가?)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966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966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조건 B 확인  (하단밴드 근처에서 반등 신호 있는가?)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457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두 조건이 동시에 보이는 구간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218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Malgun Gothic"/>
              </a:rPr>
              <a:t>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2180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짝에게 "이 자리가 타점이라고 생각한 이유" 설명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172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CC00"/>
                </a:solidFill>
                <a:latin typeface="Malgun Gothic"/>
              </a:rPr>
              <a:t>⏱  15분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오늘의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조건이 하나일 때보다
두 개가 겹칠 때 신뢰도가 올라간다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3474720" cy="3017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474720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88888"/>
                </a:solidFill>
                <a:latin typeface="Malgun Gothic"/>
              </a:rPr>
              <a:t>조건 1개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타점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Malgun Gothic"/>
              </a:rPr>
              <a:t>신뢰도 보통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200400"/>
            <a:ext cx="3474720" cy="301752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3200400"/>
            <a:ext cx="3474720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FF00"/>
                </a:solidFill>
                <a:latin typeface="Malgun Gothic"/>
              </a:rPr>
              <a:t>조건 2개
동시 충족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타점 강화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63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Malgun Gothic"/>
              </a:rPr>
              <a:t>신뢰도 높음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200400"/>
            <a:ext cx="3474720" cy="3017520"/>
          </a:xfrm>
          <a:prstGeom prst="rect">
            <a:avLst/>
          </a:prstGeom>
          <a:solidFill>
            <a:srgbClr val="00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3200400"/>
            <a:ext cx="3474720" cy="64008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C66"/>
                </a:solidFill>
                <a:latin typeface="Malgun Gothic"/>
              </a:rPr>
              <a:t>조건 3개+
동시 충족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최적 타점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663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Malgun Gothic"/>
              </a:rPr>
              <a:t>신뢰도 매우 높음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FF00"/>
                </a:solidFill>
                <a:latin typeface="Malgun Gothic"/>
              </a:rPr>
              <a:t>4주차에서는 이 조건들을 자동으로 찾아주는 검색기를 직접 만든다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Malgun Gothic"/>
              </a:rPr>
              <a:t>마무리  |  100~120분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오늘 우리가 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Malgun Gothic"/>
              </a:rPr>
              <a:t>이동평균선으로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7373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FF00"/>
                </a:solidFill>
                <a:latin typeface="Malgun Gothic"/>
              </a:rPr>
              <a:t>타점이 살아있는 환경인지 판단했다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Malgun Gothic"/>
              </a:rPr>
              <a:t>볼린저밴드로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231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FF00"/>
                </a:solidFill>
                <a:latin typeface="Malgun Gothic"/>
              </a:rPr>
              <a:t>하단 터치 후 반등 자리를 확인했다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Malgun Gothic"/>
              </a:rPr>
              <a:t>두 조건을 겹쳐서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1089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FF00"/>
                </a:solidFill>
                <a:latin typeface="Malgun Gothic"/>
              </a:rPr>
              <a:t>신뢰도 높은 타점을 직접 찾아봤다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47120" cy="960120"/>
          </a:xfrm>
          <a:prstGeom prst="rect">
            <a:avLst/>
          </a:prstGeom>
          <a:solidFill>
            <a:srgbClr val="0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4FF00"/>
                </a:solidFill>
                <a:latin typeface="Malgun Gothic"/>
              </a:rPr>
              <a:t>과제  —  오늘 찾은 타점 종목 1개, 진입 이유 2가지 적어오기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Malgun Gothic"/>
              </a:rPr>
              <a:t>(이평선 근거 하나 + 볼린저밴드 근거 하나)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8646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4주차 예고  —  검색기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Malgun Gothic"/>
              </a:rPr>
              <a:t>오늘 배운 조건들을 키움 / HTS 검색기에 직접 입력
"내 조건을 자동으로 찾아주는 도구"를 손으로 만든다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Malgun Gothic"/>
              </a:rPr>
              <a:t>피스메이커 자가점검  |  차이보존 · 공감≠동감 · 최소한의힘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1386</Words>
  <Application>Microsoft Office PowerPoint</Application>
  <PresentationFormat>사용자 지정</PresentationFormat>
  <Paragraphs>298</Paragraphs>
  <Slides>40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Apple SD Gothic Neo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은수 김</cp:lastModifiedBy>
  <cp:revision>3</cp:revision>
  <dcterms:created xsi:type="dcterms:W3CDTF">2013-01-27T09:14:16Z</dcterms:created>
  <dcterms:modified xsi:type="dcterms:W3CDTF">2026-07-09T10:42:53Z</dcterms:modified>
  <cp:category/>
</cp:coreProperties>
</file>