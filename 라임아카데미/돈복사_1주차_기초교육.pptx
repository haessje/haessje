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4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0D0D0D"/>
                </a:solidFill>
                <a:latin typeface="맑은 고딕"/>
              </a:rPr>
              <a:t>돈복사</a:t>
            </a:r>
            <a:r>
              <a:rPr sz="1800" b="1" i="0" dirty="0">
                <a:solidFill>
                  <a:srgbClr val="0D0D0D"/>
                </a:solidFill>
                <a:latin typeface="맑은 고딕"/>
              </a:rPr>
              <a:t> </a:t>
            </a:r>
            <a:r>
              <a:rPr lang="ko-KR" altLang="en-US" b="1" dirty="0">
                <a:solidFill>
                  <a:srgbClr val="0D0D0D"/>
                </a:solidFill>
                <a:latin typeface="맑은 고딕"/>
              </a:rPr>
              <a:t>기본 </a:t>
            </a:r>
            <a:r>
              <a:rPr sz="1800" b="1" i="0" dirty="0" err="1">
                <a:solidFill>
                  <a:srgbClr val="0D0D0D"/>
                </a:solidFill>
                <a:latin typeface="맑은 고딕"/>
              </a:rPr>
              <a:t>자료</a:t>
            </a:r>
            <a:endParaRPr sz="1800" b="1" i="0" dirty="0">
              <a:solidFill>
                <a:srgbClr val="0D0D0D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맑은 고딕"/>
              </a:rPr>
              <a:t>주식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FF00"/>
                </a:solidFill>
                <a:latin typeface="맑은 고딕"/>
              </a:rPr>
              <a:t>완전 정복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999999"/>
                </a:solidFill>
                <a:latin typeface="맑은 고딕"/>
              </a:rPr>
              <a:t>캔들차트</a:t>
            </a:r>
            <a:r>
              <a:rPr sz="1800" b="0" i="0" dirty="0">
                <a:solidFill>
                  <a:srgbClr val="999999"/>
                </a:solidFill>
                <a:latin typeface="맑은 고딕"/>
              </a:rPr>
              <a:t>  ·  </a:t>
            </a:r>
            <a:r>
              <a:rPr sz="1800" b="0" i="0" dirty="0" err="1">
                <a:solidFill>
                  <a:srgbClr val="999999"/>
                </a:solidFill>
                <a:latin typeface="맑은 고딕"/>
              </a:rPr>
              <a:t>주식</a:t>
            </a:r>
            <a:r>
              <a:rPr sz="18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999999"/>
                </a:solidFill>
                <a:latin typeface="맑은 고딕"/>
              </a:rPr>
              <a:t>용어</a:t>
            </a:r>
            <a:r>
              <a:rPr sz="1800" b="0" i="0" dirty="0">
                <a:solidFill>
                  <a:srgbClr val="999999"/>
                </a:solidFill>
                <a:latin typeface="맑은 고딕"/>
              </a:rPr>
              <a:t>  ·  </a:t>
            </a:r>
            <a:r>
              <a:rPr sz="1800" b="0" i="0" dirty="0" err="1">
                <a:solidFill>
                  <a:srgbClr val="999999"/>
                </a:solidFill>
                <a:latin typeface="맑은 고딕"/>
              </a:rPr>
              <a:t>차트</a:t>
            </a:r>
            <a:r>
              <a:rPr sz="18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lang="ko-KR" altLang="en-US" sz="1800" b="0" i="0" dirty="0">
                <a:solidFill>
                  <a:srgbClr val="999999"/>
                </a:solidFill>
                <a:latin typeface="맑은 고딕"/>
              </a:rPr>
              <a:t>기초 지표</a:t>
            </a:r>
            <a:endParaRPr sz="1800" b="0" i="0" dirty="0">
              <a:solidFill>
                <a:srgbClr val="999999"/>
              </a:solidFill>
              <a:latin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30284" y="2199695"/>
            <a:ext cx="27432" cy="2743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15984" y="2474015"/>
            <a:ext cx="256032" cy="7315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30284" y="3205535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78924" y="1371600"/>
            <a:ext cx="27432" cy="3657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64624" y="1737360"/>
            <a:ext cx="256032" cy="10058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78924" y="2743200"/>
            <a:ext cx="27432" cy="182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27564" y="2148840"/>
            <a:ext cx="27432" cy="1371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13264" y="2286000"/>
            <a:ext cx="256032" cy="5486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227564" y="2834640"/>
            <a:ext cx="27432" cy="4572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76204" y="1645920"/>
            <a:ext cx="27432" cy="2743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661904" y="1920240"/>
            <a:ext cx="256032" cy="8686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776204" y="2788920"/>
            <a:ext cx="27432" cy="2743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324844" y="1234440"/>
            <a:ext cx="27432" cy="3200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10544" y="1554480"/>
            <a:ext cx="256032" cy="1188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324844" y="2743200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576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맑은 고딕"/>
              </a:rPr>
              <a:t>양봉/음봉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9748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맑은 고딕"/>
              </a:rPr>
              <a:t>시가·고가·저가·종가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맑은 고딕"/>
              </a:rPr>
              <a:t>거래량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7804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맑은 고딕"/>
              </a:rPr>
              <a:t>이동평균선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맑은 고딕"/>
              </a:rPr>
              <a:t>상한가/하한가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  <a:latin typeface="맑은 고딕"/>
              </a:rPr>
              <a:t>01  주식이란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  <a:latin typeface="맑은 고딕"/>
              </a:rPr>
              <a:t>회사의 조각을 사는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11457432" cy="16916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73152" cy="16916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FF00"/>
                </a:solidFill>
                <a:latin typeface="맑은 고딕"/>
              </a:rPr>
              <a:t>🍕  피자 비유로 이해하기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111831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삼성전자라는 피자 한 판이 있다고 생각해봐요.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 피자를 1억 조각으로 잘랐어요. 그게 바로 "주식"이에요.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내가 그 조각 1개를 사면  →  삼성전자의 아주 작은 주인(주주)이 되는 거예요!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108960" cy="1554480"/>
          </a:xfrm>
          <a:prstGeom prst="round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  <a:latin typeface="맑은 고딕"/>
              </a:rPr>
              <a:t>회사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  <a:latin typeface="맑은 고딕"/>
              </a:rPr>
              <a:t>(삼성전자)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017520"/>
            <a:ext cx="3108960" cy="1554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맑은 고딕"/>
              </a:rPr>
              <a:t>주식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40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맑은 고딕"/>
              </a:rPr>
              <a:t>발행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017520"/>
            <a:ext cx="3108960" cy="1554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3337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나(투자자)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주주!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657600"/>
            <a:ext cx="91440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0" y="3657600"/>
            <a:ext cx="91440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57432" cy="1600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맑은 고딕"/>
              </a:rPr>
              <a:t>핵심 포인트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21808"/>
            <a:ext cx="111831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① 주식을 사면 그 회사의 주인(주주)이 된다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② 회사가 잘되면 주가가 오르고, 못되면 내린다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③ 주가는 매일 수많은 사람들의 매수/매도로 결정된다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  <a:latin typeface="맑은 고딕"/>
              </a:rPr>
              <a:t>02  캔들차트란?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  <a:latin typeface="맑은 고딕"/>
              </a:rPr>
              <a:t>하루의 주가 움직임을 초 모양으로 표현한 차트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맑은 고딕"/>
              </a:rPr>
              <a:t>하나의 캔들 = 하루(또는 1시간, 1분 등)의 가격 정보를 담고 있어요.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6604" y="1737360"/>
            <a:ext cx="27432" cy="7315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08860" y="2468880"/>
            <a:ext cx="502920" cy="21945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46604" y="4663440"/>
            <a:ext cx="27432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0" y="178308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고가  (High)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그날 가장 높았던 가격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51460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2404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맑은 고딕"/>
              </a:rPr>
              <a:t>종가  (Close)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장 마감 때 가격 (양봉)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2900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6432" y="3319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9999"/>
                </a:solidFill>
                <a:latin typeface="맑은 고딕"/>
              </a:rPr>
              <a:t>몸통  (Body)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시가와 종가 사이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61772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6432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맑은 고딕"/>
              </a:rPr>
              <a:t>시가  (Open)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장 시작 때 가격 (양봉)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25780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6432" y="5148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저가  (Low)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그날 가장 낮았던 가격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58684" y="1737360"/>
            <a:ext cx="27432" cy="73152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20940" y="2468880"/>
            <a:ext cx="502920" cy="21945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58684" y="4663440"/>
            <a:ext cx="27432" cy="6400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5684" y="1243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4488FF"/>
                </a:solidFill>
                <a:latin typeface="맑은 고딕"/>
              </a:rPr>
              <a:t>음봉</a:t>
            </a:r>
            <a:r>
              <a:rPr sz="1400" b="1" i="0" dirty="0">
                <a:solidFill>
                  <a:srgbClr val="4488FF"/>
                </a:solidFill>
                <a:latin typeface="맑은 고딕"/>
              </a:rPr>
              <a:t> (</a:t>
            </a:r>
            <a:r>
              <a:rPr sz="1400" b="1" i="0" dirty="0" err="1">
                <a:solidFill>
                  <a:srgbClr val="4488FF"/>
                </a:solidFill>
                <a:latin typeface="맑은 고딕"/>
              </a:rPr>
              <a:t>파란색</a:t>
            </a:r>
            <a:r>
              <a:rPr sz="1400" b="1" i="0" dirty="0">
                <a:solidFill>
                  <a:srgbClr val="4488FF"/>
                </a:solidFill>
                <a:latin typeface="맑은 고딕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88FF"/>
                </a:solidFill>
                <a:latin typeface="맑은 고딕"/>
              </a:rPr>
              <a:t>↑ 시가 (Open)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88FF"/>
                </a:solidFill>
                <a:latin typeface="맑은 고딕"/>
              </a:rPr>
              <a:t>↑ 종가 (Close)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4737" y="549205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bg1"/>
                </a:solidFill>
                <a:latin typeface="맑은 고딕"/>
              </a:rPr>
              <a:t>※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음봉은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시가가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위,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종가가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아래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
   (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종가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&lt;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시가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 → 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가격이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맑은 고딕"/>
              </a:rPr>
              <a:t>내린</a:t>
            </a:r>
            <a:r>
              <a:rPr sz="1100" b="0" i="0" dirty="0">
                <a:solidFill>
                  <a:schemeClr val="bg1"/>
                </a:solidFill>
                <a:latin typeface="맑은 고딕"/>
              </a:rPr>
              <a:t> 날)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43600"/>
            <a:ext cx="5486400" cy="530352"/>
          </a:xfrm>
          <a:prstGeom prst="round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맑은 고딕"/>
              </a:rPr>
              <a:t>🔴 양봉  =  종가 &gt; 시가  →  가격이 올랐다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5943600"/>
            <a:ext cx="5788152" cy="530352"/>
          </a:xfrm>
          <a:prstGeom prst="roundRect">
            <a:avLst/>
          </a:prstGeom>
          <a:solidFill>
            <a:srgbClr val="08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989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88FF"/>
                </a:solidFill>
                <a:latin typeface="맑은 고딕"/>
              </a:rPr>
              <a:t>🔵 음봉  =  종가 &lt; 시가  →  가격이 내렸다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  <a:latin typeface="맑은 고딕"/>
              </a:rPr>
              <a:t>03  캔들 꼬리가 말하는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  <a:latin typeface="맑은 고딕"/>
              </a:rPr>
              <a:t>꼬리 하나에도 시장의 심리가 담겨 있어요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999999"/>
                </a:solidFill>
                <a:latin typeface="맑은 고딕"/>
              </a:rPr>
              <a:t>돈복사</a:t>
            </a:r>
            <a:r>
              <a:rPr sz="9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900" b="0" i="0" dirty="0" err="1">
                <a:solidFill>
                  <a:srgbClr val="999999"/>
                </a:solidFill>
                <a:latin typeface="맑은 고딕"/>
              </a:rPr>
              <a:t>커뮤니티</a:t>
            </a:r>
            <a:r>
              <a:rPr sz="900" b="0" i="0" dirty="0">
                <a:solidFill>
                  <a:srgbClr val="999999"/>
                </a:solidFill>
                <a:latin typeface="맑은 고딕"/>
              </a:rPr>
              <a:t>  ·  1주차 </a:t>
            </a:r>
            <a:r>
              <a:rPr sz="900" b="0" i="0" dirty="0" err="1">
                <a:solidFill>
                  <a:srgbClr val="999999"/>
                </a:solidFill>
                <a:latin typeface="맑은 고딕"/>
              </a:rPr>
              <a:t>기초</a:t>
            </a:r>
            <a:r>
              <a:rPr sz="9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900" b="0" i="0" dirty="0" err="1">
                <a:solidFill>
                  <a:srgbClr val="999999"/>
                </a:solidFill>
                <a:latin typeface="맑은 고딕"/>
              </a:rPr>
              <a:t>교육자료</a:t>
            </a:r>
            <a:endParaRPr sz="900" b="0" i="0" dirty="0">
              <a:solidFill>
                <a:srgbClr val="99999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586484" y="1619618"/>
            <a:ext cx="27432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63040" y="2991218"/>
            <a:ext cx="274320" cy="8229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86484" y="3814178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3DA93F-BA52-2735-7E40-0E8AB0E6DBC6}"/>
              </a:ext>
            </a:extLst>
          </p:cNvPr>
          <p:cNvGrpSpPr/>
          <p:nvPr/>
        </p:nvGrpSpPr>
        <p:grpSpPr>
          <a:xfrm>
            <a:off x="166956" y="4423637"/>
            <a:ext cx="2743200" cy="1563624"/>
            <a:chOff x="228600" y="4179938"/>
            <a:chExt cx="2743200" cy="1563624"/>
          </a:xfrm>
        </p:grpSpPr>
        <p:sp>
          <p:nvSpPr>
            <p:cNvPr id="11" name="TextBox 10"/>
            <p:cNvSpPr txBox="1"/>
            <p:nvPr/>
          </p:nvSpPr>
          <p:spPr>
            <a:xfrm>
              <a:off x="228600" y="417993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>
                  <a:solidFill>
                    <a:srgbClr val="FFCC00"/>
                  </a:solidFill>
                  <a:latin typeface="맑은 고딕"/>
                </a:rPr>
                <a:t>① 윗꼬리가 길다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600" y="460970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높이 올랐다가 다시 내려왔다는 뜻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" y="499375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고점에서 "팔자"가 많았음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8600" y="537780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상승 힘이 약해지는 신호일 수 있음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4741164" y="1600200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17720" y="1828800"/>
            <a:ext cx="274320" cy="8229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1164" y="2651760"/>
            <a:ext cx="27432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0BADB84-DFC1-19BE-EFE0-7C63D8A4088E}"/>
              </a:ext>
            </a:extLst>
          </p:cNvPr>
          <p:cNvGrpSpPr/>
          <p:nvPr/>
        </p:nvGrpSpPr>
        <p:grpSpPr>
          <a:xfrm>
            <a:off x="3321636" y="4423637"/>
            <a:ext cx="2743200" cy="1563624"/>
            <a:chOff x="3383280" y="4160520"/>
            <a:chExt cx="2743200" cy="1563624"/>
          </a:xfrm>
        </p:grpSpPr>
        <p:sp>
          <p:nvSpPr>
            <p:cNvPr id="18" name="TextBox 17"/>
            <p:cNvSpPr txBox="1"/>
            <p:nvPr/>
          </p:nvSpPr>
          <p:spPr>
            <a:xfrm>
              <a:off x="3383280" y="416052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>
                  <a:solidFill>
                    <a:srgbClr val="00CC66"/>
                  </a:solidFill>
                  <a:latin typeface="맑은 고딕"/>
                </a:rPr>
                <a:t>② 아랫꼬리가 길다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83280" y="459028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많이 내려갔다가 다시 올라왔다는 뜻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83280" y="497433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저점에서 "사자"가 강하게 들어옴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83280" y="535838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하락이 약해지는 신호일 수 있음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7968996" y="2120895"/>
            <a:ext cx="274320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7FAD6A6-D5C1-E0E0-1221-2C2A62767AA9}"/>
              </a:ext>
            </a:extLst>
          </p:cNvPr>
          <p:cNvGrpSpPr/>
          <p:nvPr/>
        </p:nvGrpSpPr>
        <p:grpSpPr>
          <a:xfrm>
            <a:off x="6672912" y="4423637"/>
            <a:ext cx="2743200" cy="1563624"/>
            <a:chOff x="6734556" y="4133088"/>
            <a:chExt cx="2743200" cy="1563624"/>
          </a:xfrm>
        </p:grpSpPr>
        <p:sp>
          <p:nvSpPr>
            <p:cNvPr id="23" name="TextBox 22"/>
            <p:cNvSpPr txBox="1"/>
            <p:nvPr/>
          </p:nvSpPr>
          <p:spPr>
            <a:xfrm>
              <a:off x="6734556" y="413308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>
                  <a:solidFill>
                    <a:srgbClr val="D4FF00"/>
                  </a:solidFill>
                  <a:latin typeface="맑은 고딕"/>
                </a:rPr>
                <a:t>③ 꼬리가 없는 캔들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34556" y="456285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시가=저가, 종가=고가인 경우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34556" y="494690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하루 종일 한 방향으로만 움직임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34556" y="533095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매우 강한 추세 신호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10959084" y="1728216"/>
            <a:ext cx="27432" cy="9144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835640" y="2642616"/>
            <a:ext cx="274320" cy="4572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59084" y="3099816"/>
            <a:ext cx="27432" cy="9144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873670D-E0E8-451A-B1BC-24A6630A22FA}"/>
              </a:ext>
            </a:extLst>
          </p:cNvPr>
          <p:cNvGrpSpPr/>
          <p:nvPr/>
        </p:nvGrpSpPr>
        <p:grpSpPr>
          <a:xfrm>
            <a:off x="9539556" y="4423637"/>
            <a:ext cx="2743200" cy="1563624"/>
            <a:chOff x="9601200" y="4151376"/>
            <a:chExt cx="2743200" cy="1563624"/>
          </a:xfrm>
        </p:grpSpPr>
        <p:sp>
          <p:nvSpPr>
            <p:cNvPr id="30" name="TextBox 29"/>
            <p:cNvSpPr txBox="1"/>
            <p:nvPr/>
          </p:nvSpPr>
          <p:spPr>
            <a:xfrm>
              <a:off x="9601200" y="415137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>
                  <a:solidFill>
                    <a:srgbClr val="FF8800"/>
                  </a:solidFill>
                  <a:latin typeface="맑은 고딕"/>
                </a:rPr>
                <a:t>④ 위아래 꼬리 모두 길다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01200" y="458114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위아래로 많이 흔들렸다는 뜻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01200" y="496519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매수/매도 힘겨루기가 치열함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601200" y="534924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999999"/>
                  </a:solidFill>
                  <a:latin typeface="맑은 고딕"/>
                </a:rPr>
                <a:t>→ 방향성이 불분명한 혼조 상태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3200400" y="1005840"/>
            <a:ext cx="18288" cy="5669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1005840"/>
            <a:ext cx="18288" cy="5669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01200" y="1005840"/>
            <a:ext cx="18288" cy="5669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  <a:latin typeface="맑은 고딕"/>
              </a:rPr>
              <a:t>04  핵심 용어 ①  —  가격 관련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  <a:latin typeface="맑은 고딕"/>
              </a:rPr>
              <a:t>시가·고가·저가·종가 완벽 이해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444"/>
                </a:solidFill>
                <a:latin typeface="맑은 고딕"/>
              </a:rPr>
              <a:t>시가 (Open)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장이 오전 9시에 열릴 때 첫 번째로 거래된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비유: 마라톤의 출발선 가격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99999"/>
                </a:solidFill>
                <a:latin typeface="맑은 고딕"/>
              </a:rPr>
              <a:t>예)  삼성전자 오늘 시가  70,000원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444"/>
                </a:solidFill>
                <a:latin typeface="맑은 고딕"/>
              </a:rPr>
              <a:t>종가 (Close)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장이 오후 3시 30분에 닫힐 때 마지막으로 거래된 가격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맑은 고딕"/>
              </a:rPr>
              <a:t>비유: 마라톤의 결승선 가격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95351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99999"/>
                </a:solidFill>
                <a:latin typeface="맑은 고딕"/>
              </a:rPr>
              <a:t>예)  삼성전자 오늘 종가  72,000원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FF00"/>
                </a:solidFill>
                <a:latin typeface="맑은 고딕"/>
              </a:rPr>
              <a:t>고가 (High)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그날 하루 중 가장 높았던 가격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잠깐이라도 그 가격에 거래됐으면 고가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65099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 dirty="0">
                <a:solidFill>
                  <a:srgbClr val="999999"/>
                </a:solidFill>
                <a:latin typeface="맑은 고딕"/>
              </a:rPr>
              <a:t>예) 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오늘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고가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 74,500원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88FF"/>
                </a:solidFill>
                <a:latin typeface="맑은 고딕"/>
              </a:rPr>
              <a:t>저가 (Low)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그날 하루 중 가장 낮았던 가격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잠깐이라도 그 가격에 거래됐으면 저가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565099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99999"/>
                </a:solidFill>
                <a:latin typeface="맑은 고딕"/>
              </a:rPr>
              <a:t>예)  오늘 저가  69,800원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5743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FF00"/>
                </a:solidFill>
                <a:latin typeface="맑은 고딕"/>
              </a:rPr>
              <a:t>공식:  양봉 = 종가 &gt; 시가    /    음봉 = 종가 &lt; 시가    /    고가 ≥ 종가,시가 ≥ 저가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  <a:latin typeface="맑은 고딕"/>
              </a:rPr>
              <a:t>05  핵심 용어 ②  —  매매 &amp; 거래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  <a:latin typeface="맑은 고딕"/>
              </a:rPr>
              <a:t>매수·매도·거래량·시가총액·상한가·하한가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맑은 고딕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맑은 고딕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66"/>
                </a:solidFill>
                <a:latin typeface="맑은 고딕"/>
              </a:rPr>
              <a:t>매수 (BUY)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주식을 돈을 주고 사는 행위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비유: 편의점에서 물건을 집어드는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01515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99999"/>
                </a:solidFill>
                <a:latin typeface="맑은 고딕"/>
              </a:rPr>
              <a:t>예)  10주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매수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 →  내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계좌에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주식이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들어온다</a:t>
            </a:r>
            <a:endParaRPr sz="1100" b="0" i="0" dirty="0">
              <a:solidFill>
                <a:srgbClr val="999999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800"/>
                </a:solidFill>
                <a:latin typeface="맑은 고딕"/>
              </a:rPr>
              <a:t>매도 (SELL)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갖고 있던 주식을 파는 행위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비유: 편의점에 물건을 판매하는 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00488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99999"/>
                </a:solidFill>
                <a:latin typeface="맑은 고딕"/>
              </a:rPr>
              <a:t>예)  10주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매도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 → 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계좌에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현금이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들어온다</a:t>
            </a:r>
            <a:endParaRPr sz="1100" b="0" i="0" dirty="0">
              <a:solidFill>
                <a:srgbClr val="999999"/>
              </a:solidFill>
              <a:latin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FF00"/>
                </a:solidFill>
                <a:latin typeface="맑은 고딕"/>
              </a:rPr>
              <a:t>거래량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그날 사고 판 주식 수의 총합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거래량이 많을수록 시장의 관심이 높다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73318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99999"/>
                </a:solidFill>
                <a:latin typeface="맑은 고딕"/>
              </a:rPr>
              <a:t>예) 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오늘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거래량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1,200만 주  → 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관심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많은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종목</a:t>
            </a:r>
            <a:endParaRPr sz="1100" b="0" i="0" dirty="0">
              <a:solidFill>
                <a:srgbClr val="999999"/>
              </a:solidFill>
              <a:latin typeface="맑은 고딕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093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C00"/>
                </a:solidFill>
                <a:latin typeface="맑은 고딕"/>
              </a:rPr>
              <a:t>시가총액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주가 × 발행 주식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회사 전체가 얼마짜리인지 알 수 있음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572291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99999"/>
                </a:solidFill>
                <a:latin typeface="맑은 고딕"/>
              </a:rPr>
              <a:t>예)  </a:t>
            </a:r>
            <a:r>
              <a:rPr sz="1100" b="0" i="0" dirty="0" err="1">
                <a:solidFill>
                  <a:srgbClr val="999999"/>
                </a:solidFill>
                <a:latin typeface="맑은 고딕"/>
              </a:rPr>
              <a:t>주가</a:t>
            </a:r>
            <a:r>
              <a:rPr sz="1100" b="0" i="0" dirty="0">
                <a:solidFill>
                  <a:srgbClr val="999999"/>
                </a:solidFill>
                <a:latin typeface="맑은 고딕"/>
              </a:rPr>
              <a:t> 70,000원 × 59억 주  =  약 418조 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5743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맑은 고딕"/>
              </a:rPr>
              <a:t>상한가 +30%  :  하루에 오를 수 있는 최대폭    |    하한가 -30%  :  하루에 내릴 수 있는 최대폭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(Moving Average)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일정 기간 종가의 평균을 이어 추세 방향을 파악하는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📌 개념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일정 기간(n일) 종가 평균값을 연결한 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단기 노이즈를 제거하고 추세를 부드럽게 표시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기간이 길수록 느리게, 짧을수록 빠르게 반응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46120"/>
            <a:ext cx="5257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📊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주요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기간선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 5일선  ── 1주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초단기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20일선  ── 1달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단기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60일선  ── 3달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중기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120일선  ── 6달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장기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240일선  ── 1년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초장기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— 크로스 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단기선이 장기선을 돌파하는 순간 매매 신호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골든크로스 (매수 신호)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단기선이 장기선을 아래 -&gt; 위로 돌파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상승 모멘텀이 장기 평균을 넘어선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데드크로스 (매도 신호)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4444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단기선이 장기선을 위 -&gt; 아래로 돌파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하락 모멘텀이 장기 평균 아래로 내려간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7492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주의사항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후행성 지표 — 신호는 항상 약간 늦게 나온다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횡보장에서는 크로스가 잦아 신뢰도 하락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단독보다 다른 지표와 병행 권장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— 정배열과 역배열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순서로 시장 전체 분위기를 파악한다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정배열: 주가 &gt; 5일 &gt; 20일 &gt; 60일  -&gt;  강한 상승 추세  -&gt;  눌림목 매수 유효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역배열: 60일 &gt; 20일 &gt; 5일 &gt; 주가  -&gt;  강한 하락 추세  -&gt;  반등 매도 / 단기 주의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 (Bollinger Bands)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± 표준편차(2σ) 3선 구조 — 변동성과 가격 위치 동시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📌 개념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존 볼린저(John Bollinger) 1980년대 개발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이동평균 기준 통계적 변동 범위를 시각화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가격의 약 95%가 밴드 안에 존재 (통계적)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구성 공식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중간밴드 = MA20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상단밴드 = MA20 + 2 x 표준편차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하단밴드 = MA20 - 2 x 표준편차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4488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 터치 = 과매수 / 하단 터치 = 과매도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 — 수축(Squeeze)과 팽창(Expansion)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밴드 폭의 변화가 변동성과 방향성을 예고한다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수축(Squeeze): 밴드 폭 좁아짐 = 변동성 감소 -&gt; 큰 움직임 임박 (방향 미확인)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팽창(Expansion): 밴드 폭 넓어짐 = 변동성 증가 -&gt; 추세 형성 중 (방향 확인 후 대응)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 (Ichimoku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5선+구름대로 추세·지지·저항·모멘텀을 동시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41732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전환선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(9일 최고+최저)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64792"/>
            <a:ext cx="1417320" cy="5943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8562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562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(26일 최고+최저) /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32304"/>
            <a:ext cx="1417320" cy="5943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252374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선행스팬1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2374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(전환선+기준선) / 2  -&gt;  26일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99816"/>
            <a:ext cx="1417320" cy="59436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319125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선행스팬2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912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(52일 최고+최저) / 2  -&gt;  26일 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67328"/>
            <a:ext cx="1417320" cy="59436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385876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후행스팬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58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당일 종가를 26일 전에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구름대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스팬1 &gt; 스팬2 = 양운(지지) / 가격 위 = 상승 추세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스팬2 &gt; 스팬1 = 음운(저항) / 가격 아래 = 하락 추세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구름 돌파 = 강한 추세 전환 신호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 — 구름대(雲)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선행스팬1과 2 사이 구역 = 미래의 지지·저항대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구름대란?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선행스팬1과 2 사이 영역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현재보다 26일 앞에 그려짐 -&gt; 미래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양운 (상승 구름)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스팬1 &gt; 스팬2 / 가격이 구름 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-&gt; 상승 추세 / 구름 = 지지대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2628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음운 (하락 구름)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스팬2 &gt; 스팬1 / 가격이 구름 아래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-&gt; 하락 추세 / 구름 = 저항대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722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구름 두꺼울수록 지지·저항 강함  /  구름 돌파 = 추세 전환 신호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엔벨로프선 (Envelope)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이동평균에서 고정 비율(%)로 평행 이동 — 횡보장 과매수·과매도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📌 개념 및 구성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상단선 = MA x (1 + n%)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중간선 = MA (이동평균)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하단선 = MA x (1 - n%)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n%: 종목 변동성에 맞게 설정 (보통 5~15%)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49039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볼린저밴드와의 차이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AA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엔벨로프   -&gt; 고정 비율 / 밴드 폭 일정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볼린저밴드 -&gt; 표준편차  / 밴드 폭 변동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57784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활용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 터치 -&gt; 과매수 -&gt; 차익 매도 검토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하단 터치 -&gt; 과매도 -&gt; 분할 매수 검토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횡보(박스권)장에서 특히 유효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4가지 지표 비교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4572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051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구성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51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주요 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051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특이점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640312" cy="1216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91440" cy="121615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6184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n일 종가 평균선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6184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추세 방향
지지·저항 파악
크로스 신호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61848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후행성 지표
단순·직관적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70632"/>
            <a:ext cx="11640312" cy="121615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2770632"/>
            <a:ext cx="91440" cy="1216152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MA ± 2σ
3선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880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변동성 분석
과매수·과매도
수축·팽창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880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변동성 반영
밴드 폭 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32504"/>
            <a:ext cx="11640312" cy="1216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4032504"/>
            <a:ext cx="91440" cy="1216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4048" y="414223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4142232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5선 + 구름대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1422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추세·지지·저항
모멘텀 동시
미래 예고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14223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가장 복잡
선행 정보 포함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94376"/>
            <a:ext cx="11640312" cy="121615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5294376"/>
            <a:ext cx="91440" cy="1216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048" y="5404104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엔벨로프선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540410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MA ± 고정%
3선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540410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과매수·과매도
횡보장 매매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5404104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고정 비율
설정 단순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실전 흐름: 이동평균선으로 추세 확인  -&gt;  볼린저밴드·엔벨로프로 진입 타이밍  -&gt;  일목균형표로 지지·저항 검증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핵심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요약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28016" cy="2468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추세의 방향을 확인한다.
골든·데드크로스로 전환 포착.
정배열=상승 / 역배열=하락.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128016" cy="24688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7960" y="1216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변동성을 눈으로 본다.
수축 후 팽창 = 큰 움직임 예고.
상단=과매수 / 하단=과매도.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128016" cy="24688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867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하나로 모든 걸 담는다.
구름 위=상승 / 아래=하락.
구름 돌파 = 강한 추세 전환.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0332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28016" cy="24688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3867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엔벨로프선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정상 범위를 설정한다.
상단=과매수 / 하단=과매도.
횡보장에서 특히 효과적.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1544</Words>
  <Application>Microsoft Office PowerPoint</Application>
  <PresentationFormat>사용자 지정</PresentationFormat>
  <Paragraphs>236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은수 김</cp:lastModifiedBy>
  <cp:revision>3</cp:revision>
  <dcterms:created xsi:type="dcterms:W3CDTF">2013-01-27T09:14:16Z</dcterms:created>
  <dcterms:modified xsi:type="dcterms:W3CDTF">2026-07-02T04:15:51Z</dcterms:modified>
  <cp:category/>
</cp:coreProperties>
</file>