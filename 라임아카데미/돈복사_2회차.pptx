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69" r:id="rId2"/>
    <p:sldId id="258" r:id="rId3"/>
    <p:sldId id="259" r:id="rId4"/>
    <p:sldId id="260" r:id="rId5"/>
    <p:sldId id="261" r:id="rId6"/>
    <p:sldId id="262" r:id="rId7"/>
    <p:sldId id="270" r:id="rId8"/>
    <p:sldId id="301" r:id="rId9"/>
    <p:sldId id="264" r:id="rId10"/>
    <p:sldId id="312" r:id="rId11"/>
    <p:sldId id="313" r:id="rId12"/>
    <p:sldId id="314" r:id="rId13"/>
    <p:sldId id="316" r:id="rId14"/>
    <p:sldId id="315" r:id="rId15"/>
    <p:sldId id="320" r:id="rId16"/>
    <p:sldId id="319" r:id="rId17"/>
    <p:sldId id="330" r:id="rId18"/>
    <p:sldId id="328" r:id="rId19"/>
    <p:sldId id="318" r:id="rId20"/>
    <p:sldId id="317" r:id="rId21"/>
    <p:sldId id="323" r:id="rId22"/>
    <p:sldId id="324" r:id="rId23"/>
    <p:sldId id="322" r:id="rId24"/>
    <p:sldId id="326" r:id="rId25"/>
    <p:sldId id="329" r:id="rId26"/>
    <p:sldId id="267" r:id="rId27"/>
    <p:sldId id="280" r:id="rId28"/>
    <p:sldId id="284" r:id="rId29"/>
    <p:sldId id="286" r:id="rId30"/>
    <p:sldId id="283" r:id="rId31"/>
    <p:sldId id="285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F00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284" autoAdjust="0"/>
  </p:normalViewPr>
  <p:slideViewPr>
    <p:cSldViewPr snapToGrid="0" snapToObjects="1">
      <p:cViewPr varScale="1">
        <p:scale>
          <a:sx n="79" d="100"/>
          <a:sy n="79" d="100"/>
        </p:scale>
        <p:origin x="10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A80C9-FA2A-442D-8820-5C01C66CA9C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5948A-A645-4BC0-990D-42EDF4FA2A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63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1D1F-12D2-A15B-3665-57BD7E9E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25AF6-06A3-2426-0D55-645B3C15C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4FAD22-C025-2A12-418D-FFF811650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실제로 적어내거나 말하게 하면 </a:t>
            </a:r>
            <a:r>
              <a:rPr lang="ko-KR" altLang="ko-KR" b="1" dirty="0"/>
              <a:t>파는 사람의 가격이 사는 사람 가격보다 2배 이상 높게</a:t>
            </a:r>
            <a:r>
              <a:rPr lang="ko-KR" altLang="ko-KR" dirty="0"/>
              <a:t> 나옵니다.</a:t>
            </a:r>
          </a:p>
          <a:p>
            <a:r>
              <a:rPr lang="ko-KR" altLang="ko-KR" b="1" dirty="0"/>
              <a:t>해설:</a:t>
            </a:r>
            <a:r>
              <a:rPr lang="ko-KR" altLang="ko-KR" dirty="0"/>
              <a:t> "같은 물건인데 내 손에 들어오는 순간 가치가 급등합니다. 이걸 경제학에선 </a:t>
            </a:r>
            <a:r>
              <a:rPr lang="ko-KR" altLang="ko-KR" b="1" dirty="0"/>
              <a:t>소유 효과</a:t>
            </a:r>
            <a:r>
              <a:rPr lang="ko-KR" altLang="ko-KR" dirty="0"/>
              <a:t>라고 해요. 우리가 어떤 종목을 매수하는 순간, 객관적 눈은 멀어버리고 '이 주식은 진짜 </a:t>
            </a:r>
            <a:r>
              <a:rPr lang="ko-KR" altLang="ko-KR" dirty="0" err="1"/>
              <a:t>대박이야'라며</a:t>
            </a:r>
            <a:r>
              <a:rPr lang="ko-KR" altLang="ko-KR" dirty="0"/>
              <a:t> 사랑에 빠지는 이유입니다. 옆에서 아무리 위험하다고 해도 귀에 안 들리는 현상, 다들 </a:t>
            </a:r>
            <a:r>
              <a:rPr lang="ko-KR" altLang="ko-KR" dirty="0" err="1"/>
              <a:t>겪어보셨죠</a:t>
            </a:r>
            <a:r>
              <a:rPr lang="ko-KR" altLang="ko-KR" dirty="0"/>
              <a:t>?"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1B29A-FA05-E2DB-F844-C4F14600A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52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B996-AB72-9F88-F672-7275FABD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DBD75D-89F7-FAD7-A76F-D55651890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8A3B6C-2025-CC6E-2404-1831F3795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이 단어는 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피스메이커가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먼저 말하지 않습니다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
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피스메이트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입에서 먼저 나오는 순간이 오늘 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1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회차의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정점입니다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C8A81-B77C-9187-A5DA-DE007C5C3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293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7E48-056E-ECC8-6E51-86884088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51E41C-E63E-867A-DFB3-F5D7DA8CB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0048AE-1FDA-E5BD-316D-6FE41AD11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이동평균선에 대한 설명이 </a:t>
            </a:r>
            <a:r>
              <a:rPr lang="ko-KR" altLang="en-US" dirty="0" err="1"/>
              <a:t>나와있는것을</a:t>
            </a:r>
            <a:r>
              <a:rPr lang="ko-KR" altLang="en-US" dirty="0"/>
              <a:t> 볼 수 있는데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이동평균선을 </a:t>
            </a:r>
            <a:r>
              <a:rPr lang="ko-KR" altLang="en-US" dirty="0" err="1"/>
              <a:t>골든크로스가</a:t>
            </a:r>
            <a:r>
              <a:rPr lang="ko-KR" altLang="en-US" dirty="0"/>
              <a:t> </a:t>
            </a:r>
            <a:r>
              <a:rPr lang="ko-KR" altLang="en-US" dirty="0" err="1"/>
              <a:t>일어났을때</a:t>
            </a:r>
            <a:r>
              <a:rPr lang="ko-KR" altLang="en-US" dirty="0"/>
              <a:t> 매수를 </a:t>
            </a:r>
            <a:r>
              <a:rPr lang="ko-KR" altLang="en-US" dirty="0" err="1"/>
              <a:t>한다라고</a:t>
            </a:r>
            <a:r>
              <a:rPr lang="ko-KR" altLang="en-US" dirty="0"/>
              <a:t> 하면</a:t>
            </a:r>
            <a:r>
              <a:rPr lang="en-US" altLang="ko-KR" dirty="0"/>
              <a:t>, </a:t>
            </a:r>
            <a:r>
              <a:rPr lang="ko-KR" altLang="en-US" dirty="0"/>
              <a:t>여기서 </a:t>
            </a:r>
            <a:r>
              <a:rPr lang="ko-KR" altLang="en-US" dirty="0" err="1"/>
              <a:t>사게됩니다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보통 저렇게 사서 </a:t>
            </a:r>
            <a:r>
              <a:rPr lang="ko-KR" altLang="en-US" dirty="0" err="1"/>
              <a:t>더올라갈거라고</a:t>
            </a:r>
            <a:r>
              <a:rPr lang="ko-KR" altLang="en-US" dirty="0"/>
              <a:t> 생각하지만</a:t>
            </a:r>
            <a:r>
              <a:rPr lang="en-US" altLang="ko-KR" dirty="0"/>
              <a:t>, </a:t>
            </a:r>
            <a:r>
              <a:rPr lang="ko-KR" altLang="en-US" dirty="0" err="1"/>
              <a:t>뚜드러</a:t>
            </a:r>
            <a:r>
              <a:rPr lang="ko-KR" altLang="en-US" dirty="0"/>
              <a:t> 맞아요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52910-AB2C-7A0D-EBEC-E3AE638C0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5948A-A645-4BC0-990D-42EDF4FA2A5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009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우리는 어떻게 </a:t>
            </a:r>
            <a:r>
              <a:rPr lang="ko-KR" altLang="en-US" dirty="0" err="1"/>
              <a:t>할것이냐</a:t>
            </a:r>
            <a:r>
              <a:rPr lang="en-US" altLang="ko-KR" dirty="0"/>
              <a:t>. </a:t>
            </a:r>
            <a:r>
              <a:rPr lang="ko-KR" altLang="en-US" dirty="0"/>
              <a:t>돌파매매가 아닌 </a:t>
            </a:r>
            <a:r>
              <a:rPr lang="ko-KR" altLang="en-US" dirty="0" err="1"/>
              <a:t>눌림매매를</a:t>
            </a:r>
            <a:r>
              <a:rPr lang="ko-KR" altLang="en-US" dirty="0"/>
              <a:t> </a:t>
            </a:r>
            <a:r>
              <a:rPr lang="ko-KR" altLang="en-US" dirty="0" err="1"/>
              <a:t>할거에요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</a:t>
            </a:r>
            <a:r>
              <a:rPr lang="ko-KR" altLang="en-US" dirty="0" err="1"/>
              <a:t>사야지만</a:t>
            </a:r>
            <a:r>
              <a:rPr lang="ko-KR" altLang="en-US" dirty="0"/>
              <a:t> 심리적으로 </a:t>
            </a:r>
            <a:r>
              <a:rPr lang="ko-KR" altLang="en-US" dirty="0" err="1"/>
              <a:t>내려올때</a:t>
            </a:r>
            <a:r>
              <a:rPr lang="ko-KR" altLang="en-US" dirty="0"/>
              <a:t> </a:t>
            </a:r>
            <a:r>
              <a:rPr lang="ko-KR" altLang="en-US" dirty="0" err="1"/>
              <a:t>무서운게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내리길 바래요</a:t>
            </a:r>
            <a:r>
              <a:rPr lang="en-US" altLang="ko-KR" dirty="0"/>
              <a:t>. </a:t>
            </a: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비중을 더 </a:t>
            </a:r>
            <a:r>
              <a:rPr lang="ko-KR" altLang="en-US" dirty="0" err="1"/>
              <a:t>담고싶으니까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5948A-A645-4BC0-990D-42EDF4FA2A5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428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이 단어는 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피스메이커가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먼저 말하지 않습니다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
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피스메이트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입에서 먼저 나오는 순간이 오늘 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1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회차의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정점입니다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54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D06E-D2BD-C0B0-8624-8122B6AF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C736B-B59D-2679-47BC-145E5A6BC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349218-6722-969B-6D9B-58082CB57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틀려도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찾는 과정이 중요합니다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집에 가시면서 한 번만 생각해보세요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FFFFFF"/>
                </a:solidFill>
                <a:latin typeface="Apple SD Gothic Neo"/>
              </a:rPr>
              <a:t>나는 몇 번이나 같은 이유로 같은 실수를 반복했을까</a:t>
            </a:r>
            <a:r>
              <a:rPr lang="en-US" altLang="ko-KR" sz="1200" b="0" i="0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지금 대답 안 하셔도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그냥 가지고 가세요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i="0" dirty="0">
              <a:solidFill>
                <a:srgbClr val="D4FF00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3A4FE-A778-9CA7-13D7-5D716584F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6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37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틀려도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찾는 과정이 중요합니다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집에 가시면서 한 번만 생각해보세요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FFFFFF"/>
                </a:solidFill>
                <a:latin typeface="Apple SD Gothic Neo"/>
              </a:rPr>
              <a:t>나는 몇 번이나 같은 이유로 같은 실수를 반복했을까</a:t>
            </a:r>
            <a:r>
              <a:rPr lang="en-US" altLang="ko-KR" sz="1200" b="0" i="0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지금 대답 안 하셔도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그냥 가지고 가세요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i="0" dirty="0">
              <a:solidFill>
                <a:srgbClr val="D4FF00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23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WEEK 0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2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돈복사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MONEY COPY</a:t>
            </a:r>
            <a:endParaRPr kumimoji="0" sz="7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3931920"/>
            <a:ext cx="105156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주식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수익은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, 감(感)이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아닌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
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'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검증된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조건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'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을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반복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실행할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수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있을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때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일어난다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29200"/>
            <a:ext cx="228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0</a:t>
            </a: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2</a:t>
            </a:r>
            <a:endParaRPr kumimoji="0" sz="130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과제 꺼내기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D4FF00"/>
                </a:solidFill>
                <a:latin typeface="Malgun Gothic"/>
              </a:rPr>
              <a:t>일주일간</a:t>
            </a:r>
            <a:r>
              <a:rPr sz="2000" b="0" dirty="0">
                <a:solidFill>
                  <a:srgbClr val="D4FF00"/>
                </a:solidFill>
                <a:latin typeface="Malgun Gothic"/>
              </a:rPr>
              <a:t> </a:t>
            </a:r>
            <a:r>
              <a:rPr lang="ko-KR" altLang="en-US" sz="2000" dirty="0">
                <a:solidFill>
                  <a:srgbClr val="D4FF00"/>
                </a:solidFill>
                <a:latin typeface="Malgun Gothic"/>
              </a:rPr>
              <a:t>관심있던</a:t>
            </a:r>
            <a:r>
              <a:rPr sz="2000" b="0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D4FF00"/>
                </a:solidFill>
                <a:latin typeface="Malgun Gothic"/>
              </a:rPr>
              <a:t>종목</a:t>
            </a:r>
            <a:r>
              <a:rPr sz="2000" b="0" dirty="0">
                <a:solidFill>
                  <a:srgbClr val="D4FF00"/>
                </a:solidFill>
                <a:latin typeface="Malgun Gothic"/>
              </a:rPr>
              <a:t> 3가지</a:t>
            </a:r>
            <a:r>
              <a:rPr lang="ko-KR" altLang="en-US" sz="2000" b="0" dirty="0">
                <a:solidFill>
                  <a:srgbClr val="D4FF00"/>
                </a:solidFill>
                <a:latin typeface="Malgun Gothic"/>
              </a:rPr>
              <a:t>를 </a:t>
            </a:r>
            <a:r>
              <a:rPr lang="ko-KR" altLang="en-US" sz="2000" b="0" dirty="0" err="1">
                <a:solidFill>
                  <a:srgbClr val="D4FF00"/>
                </a:solidFill>
                <a:latin typeface="Malgun Gothic"/>
              </a:rPr>
              <a:t>포스트잇에</a:t>
            </a:r>
            <a:r>
              <a:rPr lang="ko-KR" altLang="en-US" sz="2000" b="0" dirty="0">
                <a:solidFill>
                  <a:srgbClr val="D4FF00"/>
                </a:solidFill>
                <a:latin typeface="Malgun Gothic"/>
              </a:rPr>
              <a:t> 작성해주세요</a:t>
            </a:r>
            <a:r>
              <a:rPr lang="en-US" altLang="ko-KR" sz="2000" b="0" dirty="0">
                <a:solidFill>
                  <a:srgbClr val="D4FF00"/>
                </a:solidFill>
                <a:latin typeface="Malgun Gothic"/>
              </a:rPr>
              <a:t>.</a:t>
            </a:r>
            <a:endParaRPr sz="2000" b="0" dirty="0">
              <a:solidFill>
                <a:srgbClr val="D4FF00"/>
              </a:solidFill>
              <a:latin typeface="Malgun Gothic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63" y="2286000"/>
            <a:ext cx="11247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좋은 종목을 어떻게 구별하나?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888888"/>
                </a:solidFill>
                <a:latin typeface="Malgun Gothic"/>
              </a:rPr>
              <a:t>✗ 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뉴스에서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좋다고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하니까</a:t>
            </a:r>
            <a:endParaRPr sz="2200" b="0" dirty="0">
              <a:solidFill>
                <a:srgbClr val="888888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888888"/>
                </a:solidFill>
                <a:latin typeface="Malgun Gothic"/>
              </a:rPr>
              <a:t>✗ 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커뮤니티에서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추천해줘서</a:t>
            </a:r>
            <a:endParaRPr sz="2200" b="0" dirty="0">
              <a:solidFill>
                <a:srgbClr val="888888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888888"/>
                </a:solidFill>
                <a:latin typeface="Malgun Gothic"/>
              </a:rPr>
              <a:t>✗  "이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종목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왠지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오를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 것 </a:t>
            </a:r>
            <a:r>
              <a:rPr sz="2200" b="0" dirty="0" err="1">
                <a:solidFill>
                  <a:srgbClr val="888888"/>
                </a:solidFill>
                <a:latin typeface="Malgun Gothic"/>
              </a:rPr>
              <a:t>같아서</a:t>
            </a:r>
            <a:r>
              <a:rPr sz="2200" b="0" dirty="0">
                <a:solidFill>
                  <a:srgbClr val="888888"/>
                </a:solidFill>
                <a:latin typeface="Malgun Gothic"/>
              </a:rPr>
              <a:t>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31639"/>
            <a:ext cx="11247120" cy="173736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4231639"/>
            <a:ext cx="64008" cy="17373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368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FF00"/>
                </a:solidFill>
                <a:latin typeface="Malgun Gothic"/>
              </a:rPr>
              <a:t>재무 건전성 스코어링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717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7가지 항목을 숫자로 채점 → SAFE / CAUTION / DANGER 등급으로 판정
감이 아닌 기준으로, 나쁜 종목을 먼저 걸러낸다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재무 건전성 7항목 스코어링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등급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Malgun Gothic"/>
              </a:rPr>
              <a:t>7항목 합산 점수로 3등급 판정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" cy="128016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CC66"/>
                </a:solidFill>
                <a:latin typeface="Malgun Gothic"/>
              </a:rPr>
              <a:t>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C66"/>
                </a:solidFill>
                <a:latin typeface="Malgun Gothic"/>
              </a:rPr>
              <a:t>+6 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9164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재무적으로 건전. 종목 검토를 계속 진행해도 좋다.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47120" cy="1280160"/>
          </a:xfrm>
          <a:prstGeom prst="rect">
            <a:avLst/>
          </a:prstGeom>
          <a:solidFill>
            <a:srgbClr val="2A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64008" cy="1280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Malgun Gothic"/>
              </a:rPr>
              <a:t>CAUTION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CC00"/>
                </a:solidFill>
                <a:latin typeface="Malgun Gothic"/>
              </a:rPr>
              <a:t>0 ~ +5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5468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약점 있음. 어떤 항목이 낮은지 직접 확인 후 판단.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47120" cy="128016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64008" cy="12801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4444"/>
                </a:solidFill>
                <a:latin typeface="Malgun Gothic"/>
              </a:rPr>
              <a:t>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480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4444"/>
                </a:solidFill>
                <a:latin typeface="Malgun Gothic"/>
              </a:rPr>
              <a:t>-1 이하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61772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재무 리스크 큼. 아무리 차트가 좋아도 신중하게.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* 재무 건전성 = "제외 기준"입니다. SAFE라고 무조건 매수 신호가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스코어링 예시 — 가상 기업 A사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E34BB-A667-6D12-1172-A6AD96A2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981BF-CFCF-DEFD-3E7D-5D4B833AA216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딸깍의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시대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– Ai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활용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1F5452-A0CF-3B19-C5A4-3398DD2E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780" y="1097915"/>
            <a:ext cx="5455265" cy="529916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4218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95CE5-FF09-D36C-D085-DB9EF148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3B4CD3-57CB-2E72-F11E-2314B37DBB1D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9F4A7-E048-7781-4015-F753EB3DB6E6}"/>
              </a:ext>
            </a:extLst>
          </p:cNvPr>
          <p:cNvSpPr txBox="1"/>
          <p:nvPr/>
        </p:nvSpPr>
        <p:spPr>
          <a:xfrm>
            <a:off x="0" y="1572479"/>
            <a:ext cx="1218895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400" b="1" dirty="0">
                <a:solidFill>
                  <a:schemeClr val="bg1"/>
                </a:solidFill>
                <a:latin typeface="Malgun Gothic"/>
              </a:rPr>
              <a:t>과제 종목 </a:t>
            </a:r>
            <a:r>
              <a:rPr lang="en-US" altLang="ko-KR" sz="4400" b="1" dirty="0">
                <a:solidFill>
                  <a:schemeClr val="bg1"/>
                </a:solidFill>
                <a:latin typeface="Malgun Gothic"/>
              </a:rPr>
              <a:t>3</a:t>
            </a:r>
            <a:r>
              <a:rPr lang="ko-KR" altLang="en-US" sz="4400" b="1" dirty="0">
                <a:solidFill>
                  <a:schemeClr val="bg1"/>
                </a:solidFill>
                <a:latin typeface="Malgun Gothic"/>
              </a:rPr>
              <a:t>개를 전부 채점하고</a:t>
            </a:r>
            <a:endParaRPr lang="en-US" altLang="ko-KR" sz="4400" b="1" dirty="0">
              <a:solidFill>
                <a:schemeClr val="bg1"/>
              </a:solidFill>
              <a:latin typeface="Malgun Gothic"/>
            </a:endParaRPr>
          </a:p>
          <a:p>
            <a:pPr lvl="0" algn="ctr">
              <a:defRPr/>
            </a:pPr>
            <a:r>
              <a:rPr lang="ko-KR" altLang="en-US" sz="4400" b="1" dirty="0">
                <a:solidFill>
                  <a:schemeClr val="bg1"/>
                </a:solidFill>
                <a:latin typeface="Malgun Gothic"/>
              </a:rPr>
              <a:t>각각 점수를 적기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547AC6-8B0D-0C91-87C2-034546D8C923}"/>
              </a:ext>
            </a:extLst>
          </p:cNvPr>
          <p:cNvSpPr/>
          <p:nvPr/>
        </p:nvSpPr>
        <p:spPr>
          <a:xfrm>
            <a:off x="3200400" y="3474720"/>
            <a:ext cx="57607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53AF5-DF9C-FA17-2C73-B54DBE2AAD00}"/>
              </a:ext>
            </a:extLst>
          </p:cNvPr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E908C-588E-32CA-3E06-B1D7FA34907E}"/>
              </a:ext>
            </a:extLst>
          </p:cNvPr>
          <p:cNvSpPr txBox="1"/>
          <p:nvPr/>
        </p:nvSpPr>
        <p:spPr>
          <a:xfrm>
            <a:off x="3200400" y="3931920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당신의 답을 적어주세요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CED79-8B22-29F8-AB07-45497C36F6B6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E62FF-AEA4-0416-0579-6D749F9DE28D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D30E60-D6C9-49A4-F2EF-4E71E01DDED4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1DAC7A-551C-C955-BF8C-299EE4FCCA31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내가 찾아본 종목은 어떨까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750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9709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200" b="1" dirty="0">
                <a:solidFill>
                  <a:srgbClr val="FFFFFF"/>
                </a:solidFill>
                <a:latin typeface="Malgun Gothic"/>
              </a:rPr>
              <a:t>단기스윙</a:t>
            </a:r>
            <a:r>
              <a:rPr sz="3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Malgun Gothic"/>
              </a:rPr>
              <a:t>기초</a:t>
            </a:r>
            <a:r>
              <a:rPr sz="3200" b="1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3200" b="1" dirty="0" err="1">
                <a:solidFill>
                  <a:srgbClr val="FFFFFF"/>
                </a:solidFill>
                <a:latin typeface="Malgun Gothic"/>
              </a:rPr>
              <a:t>타점을</a:t>
            </a:r>
            <a:r>
              <a:rPr sz="3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Malgun Gothic"/>
              </a:rPr>
              <a:t>잡는다는</a:t>
            </a:r>
            <a:r>
              <a:rPr sz="3200" b="1" dirty="0">
                <a:solidFill>
                  <a:srgbClr val="FFFFFF"/>
                </a:solidFill>
                <a:latin typeface="Malgun Gothic"/>
              </a:rPr>
              <a:t>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212080" cy="4114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000" b="1" dirty="0">
                <a:solidFill>
                  <a:schemeClr val="bg1"/>
                </a:solidFill>
                <a:latin typeface="Malgun Gothic"/>
              </a:rPr>
              <a:t>중장기</a:t>
            </a:r>
            <a:r>
              <a:rPr sz="2000" b="1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chemeClr val="bg1"/>
                </a:solidFill>
                <a:latin typeface="Malgun Gothic"/>
              </a:rPr>
              <a:t>투자</a:t>
            </a:r>
            <a:r>
              <a:rPr lang="en-US" sz="2000" b="1" dirty="0">
                <a:solidFill>
                  <a:schemeClr val="bg1"/>
                </a:solidFill>
                <a:latin typeface="Malgun Gothic"/>
              </a:rPr>
              <a:t> (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</a:rPr>
              <a:t>스윙</a:t>
            </a:r>
            <a:r>
              <a:rPr lang="en-US" altLang="ko-KR" sz="2000" b="1" dirty="0">
                <a:solidFill>
                  <a:schemeClr val="bg1"/>
                </a:solidFill>
                <a:latin typeface="Malgun Gothic"/>
              </a:rPr>
              <a:t>)</a:t>
            </a:r>
            <a:endParaRPr sz="2000" b="1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888888"/>
                </a:solidFill>
                <a:latin typeface="Malgun Gothic"/>
              </a:rPr>
              <a:t>•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보유기간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: </a:t>
            </a:r>
            <a:r>
              <a:rPr lang="ko-KR" altLang="en-US" sz="1600" b="0" dirty="0">
                <a:solidFill>
                  <a:srgbClr val="888888"/>
                </a:solidFill>
                <a:latin typeface="Malgun Gothic"/>
              </a:rPr>
              <a:t>수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개월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~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수년</a:t>
            </a:r>
            <a:endParaRPr sz="1600" b="0" dirty="0">
              <a:solidFill>
                <a:srgbClr val="888888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888888"/>
                </a:solidFill>
                <a:latin typeface="Malgun Gothic"/>
              </a:rPr>
              <a:t>•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기업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가치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성장에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베팅</a:t>
            </a:r>
            <a:endParaRPr sz="1600" b="0" dirty="0">
              <a:solidFill>
                <a:srgbClr val="888888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888888"/>
                </a:solidFill>
                <a:latin typeface="Malgun Gothic"/>
              </a:rPr>
              <a:t>• "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어떤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기업"이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핵심</a:t>
            </a:r>
            <a:endParaRPr sz="1600" b="0" dirty="0">
              <a:solidFill>
                <a:srgbClr val="888888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888888"/>
                </a:solidFill>
                <a:latin typeface="Malgun Gothic"/>
              </a:rPr>
              <a:t>•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타점보다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종목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선정이</a:t>
            </a:r>
            <a:r>
              <a:rPr sz="1600" b="0" dirty="0">
                <a:solidFill>
                  <a:srgbClr val="888888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888888"/>
                </a:solidFill>
                <a:latin typeface="Malgun Gothic"/>
              </a:rPr>
              <a:t>중요</a:t>
            </a:r>
            <a:endParaRPr sz="1600" b="0" dirty="0">
              <a:solidFill>
                <a:srgbClr val="888888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5760720" cy="411480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0" y="1645920"/>
            <a:ext cx="64008" cy="41148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FF00"/>
                </a:solidFill>
                <a:latin typeface="Malgun Gothic"/>
              </a:rPr>
              <a:t>단타 매매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• 보유기간: 당일 ~ 수일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• 가격 움직임의 패턴에 베팅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74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• "언제"가 "무엇"만큼 중요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• 좋은 종목 + 좋은 타점 = 핵심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D4FF00"/>
                </a:solidFill>
                <a:latin typeface="Malgun Gothic"/>
              </a:rPr>
              <a:t>오늘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목표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 → 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재무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건전성을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통과한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종목에서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lang="ko-KR" altLang="en-US" sz="1600" b="1" dirty="0">
                <a:solidFill>
                  <a:srgbClr val="D4FF00"/>
                </a:solidFill>
                <a:latin typeface="Malgun Gothic"/>
              </a:rPr>
              <a:t>단기스윙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타점</a:t>
            </a:r>
            <a:r>
              <a:rPr sz="16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D4FF00"/>
                </a:solidFill>
                <a:latin typeface="Malgun Gothic"/>
              </a:rPr>
              <a:t>잡기</a:t>
            </a:r>
            <a:endParaRPr sz="1600" b="1" dirty="0">
              <a:solidFill>
                <a:srgbClr val="D4FF0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12F8191-C08D-38B6-679C-9760D4DB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58" y="1171254"/>
            <a:ext cx="10787567" cy="532412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BEE30-C534-5ECF-6A4F-B7620D86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DBD026-6E72-0FDB-8593-2EC2A2F0CF73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BDDDC-0373-9E3E-2FBA-038C50E21DD7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F42406-B03B-478B-561D-D4B5EA5D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169" y="1051076"/>
            <a:ext cx="8316486" cy="524900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75742C6-6FAD-32A6-3069-FE1FC85299C0}"/>
              </a:ext>
            </a:extLst>
          </p:cNvPr>
          <p:cNvSpPr/>
          <p:nvPr/>
        </p:nvSpPr>
        <p:spPr>
          <a:xfrm>
            <a:off x="2342508" y="3534310"/>
            <a:ext cx="2455523" cy="431515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8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8DDA0-4989-F379-B603-025181C1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EF8ED2-6B1B-5A47-A61A-FCE90B90D826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CB7B1-1373-F9A9-17CC-457033AEAECB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AA3CF-AAA6-526D-E640-BD9CA5ADF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318" y="789504"/>
            <a:ext cx="5611812" cy="570620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C6229C8-F25A-6700-7004-EE01C695165C}"/>
              </a:ext>
            </a:extLst>
          </p:cNvPr>
          <p:cNvSpPr/>
          <p:nvPr/>
        </p:nvSpPr>
        <p:spPr>
          <a:xfrm>
            <a:off x="5810037" y="1086557"/>
            <a:ext cx="284375" cy="318500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67FF16-0B96-D86C-84A9-5A0161F09345}"/>
              </a:ext>
            </a:extLst>
          </p:cNvPr>
          <p:cNvSpPr/>
          <p:nvPr/>
        </p:nvSpPr>
        <p:spPr>
          <a:xfrm>
            <a:off x="5943600" y="5137080"/>
            <a:ext cx="3262045" cy="318500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96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00728-3085-9C1D-9FE0-FFFB583B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9615B4F-C8A1-38E0-1549-BD606140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633" y="890303"/>
            <a:ext cx="6267236" cy="561024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DFE76E-E6E1-82FE-459E-812BBE766D46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D4058-8D1D-8D98-312F-544F16CC1260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FF2F56-0D15-66C7-F084-FD410F10EF04}"/>
              </a:ext>
            </a:extLst>
          </p:cNvPr>
          <p:cNvSpPr/>
          <p:nvPr/>
        </p:nvSpPr>
        <p:spPr>
          <a:xfrm>
            <a:off x="4238091" y="938092"/>
            <a:ext cx="508570" cy="212645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DCADAD-B958-9898-4B72-E9F43AC43749}"/>
              </a:ext>
            </a:extLst>
          </p:cNvPr>
          <p:cNvSpPr/>
          <p:nvPr/>
        </p:nvSpPr>
        <p:spPr>
          <a:xfrm>
            <a:off x="3424720" y="3482781"/>
            <a:ext cx="1547972" cy="349480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D3EE01-941C-A52A-C421-A7C490DCE211}"/>
              </a:ext>
            </a:extLst>
          </p:cNvPr>
          <p:cNvSpPr/>
          <p:nvPr/>
        </p:nvSpPr>
        <p:spPr>
          <a:xfrm>
            <a:off x="5294616" y="2939841"/>
            <a:ext cx="3315127" cy="204052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11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E474C-C80E-D511-191C-35AF1554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D3E05B-6192-A9EC-E4CC-0C9A09AACB8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DD7D4-F94F-E56C-E8BF-DA0F1FBEC271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1ACB8D-6EE0-1EAD-520D-BEA8064E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215" y="997672"/>
            <a:ext cx="9062394" cy="549045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B64474F-3E3D-6092-E4CE-A50733BF1EE8}"/>
              </a:ext>
            </a:extLst>
          </p:cNvPr>
          <p:cNvSpPr/>
          <p:nvPr/>
        </p:nvSpPr>
        <p:spPr>
          <a:xfrm>
            <a:off x="1563215" y="997672"/>
            <a:ext cx="645729" cy="235227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877FC6-D305-57CE-0448-F5B0DD253723}"/>
              </a:ext>
            </a:extLst>
          </p:cNvPr>
          <p:cNvSpPr/>
          <p:nvPr/>
        </p:nvSpPr>
        <p:spPr>
          <a:xfrm>
            <a:off x="4883651" y="2188237"/>
            <a:ext cx="1547972" cy="349480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064282-7AA7-0A27-47E1-53AE30335DC0}"/>
              </a:ext>
            </a:extLst>
          </p:cNvPr>
          <p:cNvSpPr/>
          <p:nvPr/>
        </p:nvSpPr>
        <p:spPr>
          <a:xfrm>
            <a:off x="4883651" y="2907428"/>
            <a:ext cx="4465832" cy="277561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6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0160F-120B-5512-0688-84AE7051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D81C8C-B8D9-D93E-965E-A85F9C8BC48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24A34-067E-C93F-5F25-51CE018EDC48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40B189-CF85-1A97-B0A8-5BF441BA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361" y="999503"/>
            <a:ext cx="7352375" cy="553043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77899F5-BEC4-671F-B8A4-F9F499CD2612}"/>
              </a:ext>
            </a:extLst>
          </p:cNvPr>
          <p:cNvSpPr/>
          <p:nvPr/>
        </p:nvSpPr>
        <p:spPr>
          <a:xfrm>
            <a:off x="2962382" y="1695078"/>
            <a:ext cx="3315127" cy="174819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E352BAE-BF0E-6461-B005-4794144109FC}"/>
              </a:ext>
            </a:extLst>
          </p:cNvPr>
          <p:cNvSpPr/>
          <p:nvPr/>
        </p:nvSpPr>
        <p:spPr>
          <a:xfrm>
            <a:off x="7787811" y="4654193"/>
            <a:ext cx="2163925" cy="2029856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8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7ED74-F20C-654C-24AA-282A1B858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192C72-EB33-46CB-0B46-703840C7D48F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A7ADD-03D3-C100-30CE-3ED92C430458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트레이딩뷰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세팅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45042C-215E-A68A-504A-7233E824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8834"/>
            <a:ext cx="8168237" cy="538110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94F58F2-2C18-3194-942E-6564CC898880}"/>
              </a:ext>
            </a:extLst>
          </p:cNvPr>
          <p:cNvSpPr/>
          <p:nvPr/>
        </p:nvSpPr>
        <p:spPr>
          <a:xfrm>
            <a:off x="457200" y="1993214"/>
            <a:ext cx="258737" cy="236279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EB1482-C0B3-3064-40FF-ED32C7010A0B}"/>
              </a:ext>
            </a:extLst>
          </p:cNvPr>
          <p:cNvSpPr/>
          <p:nvPr/>
        </p:nvSpPr>
        <p:spPr>
          <a:xfrm>
            <a:off x="5440852" y="1580534"/>
            <a:ext cx="258737" cy="236279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77A3AC9-B953-43C3-50D2-F4FBC6502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578" y="890303"/>
            <a:ext cx="2960056" cy="570916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116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BC612-4842-D58A-B860-7DF0181C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39572-C542-0CA0-38C2-7862C17DCA2B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2AD5D-54E0-E573-F7D3-27B5FC23A164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BA1DF-6DFC-CCE6-AC98-4A4D9AF5F47D}"/>
              </a:ext>
            </a:extLst>
          </p:cNvPr>
          <p:cNvSpPr txBox="1"/>
          <p:nvPr/>
        </p:nvSpPr>
        <p:spPr>
          <a:xfrm>
            <a:off x="4418012" y="873760"/>
            <a:ext cx="335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🙏🏻</a:t>
            </a:r>
            <a:endParaRPr kumimoji="0" sz="60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2F04F-900E-2CFA-BCEA-189F42FEC988}"/>
              </a:ext>
            </a:extLst>
          </p:cNvPr>
          <p:cNvSpPr txBox="1"/>
          <p:nvPr/>
        </p:nvSpPr>
        <p:spPr>
          <a:xfrm>
            <a:off x="0" y="2125980"/>
            <a:ext cx="12188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"  </a:t>
            </a: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그전에 잠깐 </a:t>
            </a:r>
            <a:r>
              <a:rPr kumimoji="0" lang="en-US" altLang="ko-KR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!!</a:t>
            </a: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C6CD69-8212-F5C4-6711-ECABF231B8A5}"/>
              </a:ext>
            </a:extLst>
          </p:cNvPr>
          <p:cNvSpPr/>
          <p:nvPr/>
        </p:nvSpPr>
        <p:spPr>
          <a:xfrm>
            <a:off x="1828800" y="4594860"/>
            <a:ext cx="850392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AB1FB-0CDC-18C2-6502-BA026326D6FE}"/>
              </a:ext>
            </a:extLst>
          </p:cNvPr>
          <p:cNvSpPr txBox="1"/>
          <p:nvPr/>
        </p:nvSpPr>
        <p:spPr>
          <a:xfrm>
            <a:off x="0" y="4823460"/>
            <a:ext cx="12188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나눠드린 자료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…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1" dirty="0">
              <a:solidFill>
                <a:prstClr val="white"/>
              </a:solidFill>
              <a:latin typeface="Apple SD Gothic Neo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읽어 보신 분</a:t>
            </a:r>
            <a:r>
              <a:rPr lang="en-US" altLang="ko-KR" sz="20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..?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90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D1681-F626-0EF8-8E98-656A1F1F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E443BA-038D-5D5F-EE5A-2CB2D7B07A7B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2261C-ED28-B022-49EB-4B02030CC4F7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238E2C-2480-A437-C1A3-9122F3D31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386366"/>
            <a:ext cx="6085268" cy="608526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7E4174C3-C7DD-8AB9-0533-20737AB0F3C1}"/>
              </a:ext>
            </a:extLst>
          </p:cNvPr>
          <p:cNvSpPr/>
          <p:nvPr/>
        </p:nvSpPr>
        <p:spPr>
          <a:xfrm>
            <a:off x="6824643" y="4452882"/>
            <a:ext cx="497255" cy="466447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3F4C93B-1767-6C20-3CBF-D4C599993A82}"/>
              </a:ext>
            </a:extLst>
          </p:cNvPr>
          <p:cNvSpPr/>
          <p:nvPr/>
        </p:nvSpPr>
        <p:spPr>
          <a:xfrm>
            <a:off x="6690531" y="768695"/>
            <a:ext cx="497255" cy="466447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F84EC31-09BB-9D84-5512-7FC517E226F7}"/>
              </a:ext>
            </a:extLst>
          </p:cNvPr>
          <p:cNvCxnSpPr>
            <a:cxnSpLocks/>
          </p:cNvCxnSpPr>
          <p:nvPr/>
        </p:nvCxnSpPr>
        <p:spPr>
          <a:xfrm>
            <a:off x="7475758" y="1361691"/>
            <a:ext cx="1058642" cy="14058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99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A5352-6409-8915-610E-EFAF8255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09F31-25DF-F2B4-8FC6-7F744A74FBBE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E3C7D-47E3-E0C6-DDA4-B43AC3CC361F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7CE007-65F9-7674-F53F-7E6DAE464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085" y="636791"/>
            <a:ext cx="6336731" cy="576914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02C5C2-2E6C-553E-64BA-DA37A4C633DF}"/>
              </a:ext>
            </a:extLst>
          </p:cNvPr>
          <p:cNvSpPr txBox="1"/>
          <p:nvPr/>
        </p:nvSpPr>
        <p:spPr>
          <a:xfrm>
            <a:off x="2223142" y="2419703"/>
            <a:ext cx="253989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매수 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차 매수 </a:t>
            </a:r>
            <a:endParaRPr lang="en-US" altLang="ko-KR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매수 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DC7B0-DE66-D41E-17E6-A4663F59AD08}"/>
              </a:ext>
            </a:extLst>
          </p:cNvPr>
          <p:cNvSpPr txBox="1"/>
          <p:nvPr/>
        </p:nvSpPr>
        <p:spPr>
          <a:xfrm>
            <a:off x="803596" y="2419703"/>
            <a:ext cx="92246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6E0B8-774C-5B89-62F5-7D353AA82B85}"/>
              </a:ext>
            </a:extLst>
          </p:cNvPr>
          <p:cNvSpPr txBox="1"/>
          <p:nvPr/>
        </p:nvSpPr>
        <p:spPr>
          <a:xfrm>
            <a:off x="1513369" y="2419703"/>
            <a:ext cx="92246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8DBAA3-6D3E-DB63-8F16-F3F0D54A7050}"/>
              </a:ext>
            </a:extLst>
          </p:cNvPr>
          <p:cNvSpPr txBox="1"/>
          <p:nvPr/>
        </p:nvSpPr>
        <p:spPr>
          <a:xfrm>
            <a:off x="7813174" y="798052"/>
            <a:ext cx="403745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매도라인 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(1/2</a:t>
            </a:r>
            <a:r>
              <a:rPr kumimoji="0" lang="en-US" altLang="ko-KR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b="1" i="0" u="none" strike="noStrike" kern="1200" cap="none" spc="0" normalizeH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익절</a:t>
            </a:r>
            <a:r>
              <a:rPr kumimoji="0" lang="en-US" altLang="ko-KR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CAE2493-6E80-2D96-08E4-9CE8010AE341}"/>
              </a:ext>
            </a:extLst>
          </p:cNvPr>
          <p:cNvCxnSpPr/>
          <p:nvPr/>
        </p:nvCxnSpPr>
        <p:spPr>
          <a:xfrm flipV="1">
            <a:off x="9743470" y="173951"/>
            <a:ext cx="609600" cy="615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21F7543-7D6B-FB71-62CD-F4B5D7E95EEB}"/>
              </a:ext>
            </a:extLst>
          </p:cNvPr>
          <p:cNvCxnSpPr>
            <a:cxnSpLocks/>
          </p:cNvCxnSpPr>
          <p:nvPr/>
        </p:nvCxnSpPr>
        <p:spPr>
          <a:xfrm>
            <a:off x="9743470" y="1361691"/>
            <a:ext cx="822289" cy="1058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6EA0D7B-E211-8DBD-2F85-878E01B3BBE8}"/>
              </a:ext>
            </a:extLst>
          </p:cNvPr>
          <p:cNvSpPr txBox="1"/>
          <p:nvPr/>
        </p:nvSpPr>
        <p:spPr>
          <a:xfrm>
            <a:off x="8965318" y="73152"/>
            <a:ext cx="403745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장기투자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E3B120-F7A9-FC42-C33C-12AA11C5FB9D}"/>
              </a:ext>
            </a:extLst>
          </p:cNvPr>
          <p:cNvSpPr txBox="1"/>
          <p:nvPr/>
        </p:nvSpPr>
        <p:spPr>
          <a:xfrm>
            <a:off x="9117718" y="2015116"/>
            <a:ext cx="403745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본절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탈출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1E6745-1C15-97B7-6E12-B4B41B15B013}"/>
              </a:ext>
            </a:extLst>
          </p:cNvPr>
          <p:cNvSpPr txBox="1"/>
          <p:nvPr/>
        </p:nvSpPr>
        <p:spPr>
          <a:xfrm>
            <a:off x="9117718" y="2486465"/>
            <a:ext cx="403745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★리스크가 없는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공짜 투자 세팅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87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8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3F5A7-C41E-F812-4906-9F6750C3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DD12A9-D06C-9966-7E66-5B9DE9008FA1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184C8-7C72-E2FB-9664-703262EFC44C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873966-C7C0-C31C-D950-66318F40F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490367"/>
            <a:ext cx="7644246" cy="619368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E6162-5D55-45A9-FE63-A7D593E0A5A1}"/>
              </a:ext>
            </a:extLst>
          </p:cNvPr>
          <p:cNvSpPr txBox="1"/>
          <p:nvPr/>
        </p:nvSpPr>
        <p:spPr>
          <a:xfrm>
            <a:off x="1199014" y="2344183"/>
            <a:ext cx="253989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매수 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차 매수 </a:t>
            </a:r>
            <a:endParaRPr lang="en-US" altLang="ko-KR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매수 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4399D17-0A0E-AEBC-43CA-99C5DC7723B6}"/>
              </a:ext>
            </a:extLst>
          </p:cNvPr>
          <p:cNvSpPr/>
          <p:nvPr/>
        </p:nvSpPr>
        <p:spPr>
          <a:xfrm>
            <a:off x="8226724" y="2036406"/>
            <a:ext cx="656210" cy="615554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A7561A-BC1A-34E8-E615-CF1AE99B3C91}"/>
              </a:ext>
            </a:extLst>
          </p:cNvPr>
          <p:cNvSpPr txBox="1"/>
          <p:nvPr/>
        </p:nvSpPr>
        <p:spPr>
          <a:xfrm>
            <a:off x="457200" y="1254773"/>
            <a:ext cx="41940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삼성전자 </a:t>
            </a:r>
            <a:r>
              <a:rPr kumimoji="0" lang="ko-KR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언제사요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0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09AA7-BB9C-E2F5-1C5A-41EB13AC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56C953C-0C9A-5680-61EC-5A8ACE15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89" y="2072640"/>
            <a:ext cx="8587863" cy="46715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EF861D-FE2A-7613-C753-7017559476B1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D78B5-B71E-E939-A9AE-1656E5F97374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22E5D-ED2E-C625-5F9C-88F9776D49EE}"/>
              </a:ext>
            </a:extLst>
          </p:cNvPr>
          <p:cNvSpPr txBox="1"/>
          <p:nvPr/>
        </p:nvSpPr>
        <p:spPr>
          <a:xfrm>
            <a:off x="457200" y="1254773"/>
            <a:ext cx="41940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하이닉스 </a:t>
            </a:r>
            <a:r>
              <a:rPr kumimoji="0" lang="ko-KR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언제사요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A505D-00CC-AA34-5C98-CC9BFA4BFD05}"/>
              </a:ext>
            </a:extLst>
          </p:cNvPr>
          <p:cNvSpPr txBox="1"/>
          <p:nvPr/>
        </p:nvSpPr>
        <p:spPr>
          <a:xfrm>
            <a:off x="1780974" y="4408405"/>
            <a:ext cx="2539892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t>1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t>차 매수 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차 매수 </a:t>
            </a:r>
            <a:endParaRPr lang="en-US" altLang="ko-KR" sz="1400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t>3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t>차 매수 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8166171-17FA-D0EF-FE98-F2F82EBB11CD}"/>
              </a:ext>
            </a:extLst>
          </p:cNvPr>
          <p:cNvSpPr/>
          <p:nvPr/>
        </p:nvSpPr>
        <p:spPr>
          <a:xfrm>
            <a:off x="6585543" y="4701470"/>
            <a:ext cx="656210" cy="615554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49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AA71D-75A5-2943-05DB-82A9F778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59794-92E2-C17A-EB46-0861CEDFABB1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D4312-C0C2-5A96-56A3-CF9D88F03AEC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3413C-8BFA-CBFB-5160-44B021021D71}"/>
              </a:ext>
            </a:extLst>
          </p:cNvPr>
          <p:cNvSpPr txBox="1"/>
          <p:nvPr/>
        </p:nvSpPr>
        <p:spPr>
          <a:xfrm>
            <a:off x="457200" y="1254773"/>
            <a:ext cx="41940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하이닉스 </a:t>
            </a:r>
            <a:r>
              <a:rPr kumimoji="0" lang="ko-KR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언제사요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1AFED0-103A-05E4-CF0C-EE0E9D7A2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0" y="1851767"/>
            <a:ext cx="9018905" cy="486406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734C02C-5A0F-7BFB-59E1-114E36F09EB4}"/>
              </a:ext>
            </a:extLst>
          </p:cNvPr>
          <p:cNvSpPr/>
          <p:nvPr/>
        </p:nvSpPr>
        <p:spPr>
          <a:xfrm>
            <a:off x="3729314" y="6114459"/>
            <a:ext cx="319868" cy="280074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73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66A76-E145-3476-7D07-BEA6F203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670098-F725-E9AB-D291-797FB8731C0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14D74-380D-E5C6-2EF4-9A677C45A27A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400A15-9226-CE13-EB49-736A5686E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742" y="481727"/>
            <a:ext cx="7363853" cy="617306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3614B9-6A49-8F54-8A37-B476DFF861C7}"/>
              </a:ext>
            </a:extLst>
          </p:cNvPr>
          <p:cNvSpPr txBox="1"/>
          <p:nvPr/>
        </p:nvSpPr>
        <p:spPr>
          <a:xfrm>
            <a:off x="2622222" y="3079502"/>
            <a:ext cx="253989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매수 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차 매수 </a:t>
            </a:r>
            <a:endParaRPr lang="en-US" altLang="ko-KR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 매수 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468E1-0A21-D5C6-C35A-4F9093E97210}"/>
              </a:ext>
            </a:extLst>
          </p:cNvPr>
          <p:cNvSpPr txBox="1"/>
          <p:nvPr/>
        </p:nvSpPr>
        <p:spPr>
          <a:xfrm>
            <a:off x="2160991" y="3062347"/>
            <a:ext cx="92246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A34EA83-2B76-ED4E-7B2F-FA6D9E2F2664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2936742" y="3568257"/>
            <a:ext cx="7363853" cy="1"/>
          </a:xfrm>
          <a:prstGeom prst="line">
            <a:avLst/>
          </a:prstGeom>
          <a:ln w="38100">
            <a:solidFill>
              <a:srgbClr val="D4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09BFD9F-1826-2546-14C9-CB3DB72742B3}"/>
              </a:ext>
            </a:extLst>
          </p:cNvPr>
          <p:cNvCxnSpPr>
            <a:cxnSpLocks/>
          </p:cNvCxnSpPr>
          <p:nvPr/>
        </p:nvCxnSpPr>
        <p:spPr>
          <a:xfrm>
            <a:off x="2936742" y="3927921"/>
            <a:ext cx="7363853" cy="0"/>
          </a:xfrm>
          <a:prstGeom prst="line">
            <a:avLst/>
          </a:prstGeom>
          <a:ln w="38100">
            <a:solidFill>
              <a:srgbClr val="D4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38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3795E-572E-8B70-F64B-827C8AC4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84F5133-E06D-E1BC-5CBD-5C4711A7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15" y="890302"/>
            <a:ext cx="10511671" cy="59676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C35D66-8BB6-BE2D-AAA0-F3DE64EE3B79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59404-9AA7-A926-AA85-315574415094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363F12-5EBB-5CED-7997-BD80AB2535C8}"/>
              </a:ext>
            </a:extLst>
          </p:cNvPr>
          <p:cNvSpPr/>
          <p:nvPr/>
        </p:nvSpPr>
        <p:spPr>
          <a:xfrm>
            <a:off x="858439" y="2233825"/>
            <a:ext cx="324487" cy="258303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E753F86-77B4-F266-1DCC-6D844620B776}"/>
              </a:ext>
            </a:extLst>
          </p:cNvPr>
          <p:cNvCxnSpPr>
            <a:cxnSpLocks/>
          </p:cNvCxnSpPr>
          <p:nvPr/>
        </p:nvCxnSpPr>
        <p:spPr>
          <a:xfrm>
            <a:off x="858439" y="4318065"/>
            <a:ext cx="10471947" cy="0"/>
          </a:xfrm>
          <a:prstGeom prst="line">
            <a:avLst/>
          </a:prstGeom>
          <a:ln w="38100">
            <a:solidFill>
              <a:srgbClr val="D4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BEF6501-2D24-F1EE-ABD5-924CA9647E57}"/>
              </a:ext>
            </a:extLst>
          </p:cNvPr>
          <p:cNvCxnSpPr>
            <a:cxnSpLocks/>
          </p:cNvCxnSpPr>
          <p:nvPr/>
        </p:nvCxnSpPr>
        <p:spPr>
          <a:xfrm>
            <a:off x="6632448" y="1639824"/>
            <a:ext cx="0" cy="2678241"/>
          </a:xfrm>
          <a:prstGeom prst="straightConnector1">
            <a:avLst/>
          </a:prstGeom>
          <a:ln w="28575">
            <a:solidFill>
              <a:srgbClr val="D4FF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F092B76-3358-0E07-42FD-95D5B78096B4}"/>
              </a:ext>
            </a:extLst>
          </p:cNvPr>
          <p:cNvCxnSpPr>
            <a:cxnSpLocks/>
          </p:cNvCxnSpPr>
          <p:nvPr/>
        </p:nvCxnSpPr>
        <p:spPr>
          <a:xfrm>
            <a:off x="6632448" y="4318065"/>
            <a:ext cx="0" cy="1375599"/>
          </a:xfrm>
          <a:prstGeom prst="straightConnector1">
            <a:avLst/>
          </a:prstGeom>
          <a:ln w="28575">
            <a:solidFill>
              <a:srgbClr val="D4FF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64D0D1B-38BD-58F1-CFE7-E2AC6B5E07DB}"/>
              </a:ext>
            </a:extLst>
          </p:cNvPr>
          <p:cNvSpPr txBox="1"/>
          <p:nvPr/>
        </p:nvSpPr>
        <p:spPr>
          <a:xfrm>
            <a:off x="5397894" y="1997216"/>
            <a:ext cx="1353312" cy="319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손익비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2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(48%)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FFFF"/>
              </a:solidFill>
              <a:latin typeface="Malgun Gothic"/>
              <a:ea typeface="맑은 고딕" panose="020B050302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Malgun Gothic"/>
                <a:ea typeface="맑은 고딕" panose="020B0503020000020004" pitchFamily="50" charset="-127"/>
              </a:rPr>
              <a:t>(24%)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980699B-8029-0991-F7F6-82139B7CC274}"/>
              </a:ext>
            </a:extLst>
          </p:cNvPr>
          <p:cNvSpPr/>
          <p:nvPr/>
        </p:nvSpPr>
        <p:spPr>
          <a:xfrm>
            <a:off x="9327664" y="1381662"/>
            <a:ext cx="656210" cy="615554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9A9D90F-3902-6DE1-3491-1CD2408A5B44}"/>
              </a:ext>
            </a:extLst>
          </p:cNvPr>
          <p:cNvSpPr/>
          <p:nvPr/>
        </p:nvSpPr>
        <p:spPr>
          <a:xfrm>
            <a:off x="10634451" y="2978944"/>
            <a:ext cx="656210" cy="615554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13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정리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83208"/>
            <a:ext cx="11247120" cy="91440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20952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아래 내용에 해당되지 않으면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,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매수할 생각 조차 하지마라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.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골든 크로스가 나기 직전 차트를 관심종목에 넣어두고 체크한다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골든 크로스가 나오면 이미 주가는 많이 올라가 있는 상태일 것이다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바로 매수하지 않고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latin typeface="Malgun Gothic"/>
              </a:rPr>
              <a:t>피보나치 기준 매수타점까지 </a:t>
            </a:r>
            <a:r>
              <a:rPr lang="ko-KR" altLang="en-US" sz="2000" dirty="0" err="1">
                <a:solidFill>
                  <a:srgbClr val="FFFFFF"/>
                </a:solidFill>
                <a:latin typeface="Malgun Gothic"/>
              </a:rPr>
              <a:t>눌림목을</a:t>
            </a:r>
            <a:r>
              <a:rPr lang="ko-KR" altLang="en-US" sz="2000" dirty="0">
                <a:solidFill>
                  <a:srgbClr val="FFFFFF"/>
                </a:solidFill>
                <a:latin typeface="Malgun Gothic"/>
              </a:rPr>
              <a:t> 기다린다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목표 매도점은 전고점을 잡고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도달 시 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</a:rPr>
              <a:t>½ </a:t>
            </a:r>
            <a:r>
              <a:rPr lang="ko-KR" altLang="en-US" sz="2000" dirty="0">
                <a:solidFill>
                  <a:srgbClr val="FFFFFF"/>
                </a:solidFill>
                <a:latin typeface="Malgun Gothic"/>
              </a:rPr>
              <a:t>매도 한 후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latin typeface="Malgun Gothic"/>
              </a:rPr>
              <a:t>추세를 다 먹는다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손절가와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목표매도가를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Malgun Gothic"/>
              </a:rPr>
              <a:t>손익비</a:t>
            </a:r>
            <a:r>
              <a:rPr lang="ko-KR" altLang="en-US" sz="2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</a:rPr>
              <a:t>1:2 </a:t>
            </a:r>
            <a:r>
              <a:rPr lang="ko-KR" altLang="en-US" sz="2000" dirty="0">
                <a:solidFill>
                  <a:srgbClr val="FFFFFF"/>
                </a:solidFill>
                <a:latin typeface="Malgun Gothic"/>
              </a:rPr>
              <a:t>비율로 잡아서 매매한다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5052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400" b="1" dirty="0">
                <a:solidFill>
                  <a:srgbClr val="FFFFFF"/>
                </a:solidFill>
                <a:latin typeface="Malgun Gothic"/>
              </a:rPr>
              <a:t>여러가지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종목에서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타점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직접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찾기</a:t>
            </a:r>
            <a:endParaRPr sz="34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11247120" cy="615553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10640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FFCC00"/>
                </a:solidFill>
                <a:latin typeface="Malgun Gothic"/>
              </a:rPr>
              <a:t>미션</a:t>
            </a:r>
            <a:r>
              <a:rPr sz="2000" b="1" dirty="0">
                <a:solidFill>
                  <a:srgbClr val="FFCC00"/>
                </a:solidFill>
                <a:latin typeface="Malgun Gothic"/>
              </a:rPr>
              <a:t>  —  </a:t>
            </a:r>
            <a:r>
              <a:rPr lang="ko-KR" altLang="en-US" sz="2000" b="1" dirty="0">
                <a:solidFill>
                  <a:srgbClr val="FFCC00"/>
                </a:solidFill>
                <a:latin typeface="Malgun Gothic"/>
              </a:rPr>
              <a:t>그룹별로 차트에 해당되는 종목을 찾아보기 </a:t>
            </a:r>
            <a:r>
              <a:rPr lang="en-US" altLang="ko-KR" sz="2000" b="1" dirty="0">
                <a:solidFill>
                  <a:srgbClr val="FFCC00"/>
                </a:solidFill>
                <a:latin typeface="Malgun Gothic"/>
              </a:rPr>
              <a:t>(</a:t>
            </a:r>
            <a:r>
              <a:rPr lang="ko-KR" altLang="en-US" sz="2000" b="1" dirty="0" err="1">
                <a:solidFill>
                  <a:srgbClr val="FFCC00"/>
                </a:solidFill>
                <a:latin typeface="Malgun Gothic"/>
              </a:rPr>
              <a:t>종목명</a:t>
            </a:r>
            <a:r>
              <a:rPr lang="en-US" altLang="ko-KR" sz="2000" b="1" dirty="0">
                <a:solidFill>
                  <a:srgbClr val="FFCC00"/>
                </a:solidFill>
                <a:latin typeface="Malgun Gothic"/>
              </a:rPr>
              <a:t>, </a:t>
            </a:r>
            <a:r>
              <a:rPr lang="ko-KR" altLang="en-US" sz="2000" b="1" dirty="0">
                <a:solidFill>
                  <a:srgbClr val="FFCC00"/>
                </a:solidFill>
                <a:latin typeface="Malgun Gothic"/>
              </a:rPr>
              <a:t>날짜 기록</a:t>
            </a:r>
            <a:r>
              <a:rPr lang="en-US" altLang="ko-KR" sz="2000" b="1" dirty="0">
                <a:solidFill>
                  <a:srgbClr val="FFCC00"/>
                </a:solidFill>
                <a:latin typeface="Malgun Gothic"/>
              </a:rPr>
              <a:t>)</a:t>
            </a:r>
            <a:r>
              <a:rPr lang="ko-KR" altLang="en-US" sz="2000" b="1" dirty="0">
                <a:solidFill>
                  <a:srgbClr val="FFCC00"/>
                </a:solidFill>
                <a:latin typeface="Malgun Gothic"/>
              </a:rPr>
              <a:t> </a:t>
            </a:r>
            <a:endParaRPr sz="2000" b="1" dirty="0">
              <a:solidFill>
                <a:srgbClr val="FFCC00"/>
              </a:solidFill>
              <a:latin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79280" y="27378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dirty="0">
                <a:solidFill>
                  <a:srgbClr val="FFCC00"/>
                </a:solidFill>
                <a:latin typeface="Malgun Gothic"/>
              </a:rPr>
              <a:t>⏱  </a:t>
            </a:r>
            <a:r>
              <a:rPr lang="en-US" sz="2200" b="1" dirty="0">
                <a:solidFill>
                  <a:srgbClr val="FFCC00"/>
                </a:solidFill>
                <a:latin typeface="Malgun Gothic"/>
              </a:rPr>
              <a:t>30</a:t>
            </a:r>
            <a:r>
              <a:rPr sz="2200" b="1" dirty="0">
                <a:solidFill>
                  <a:srgbClr val="FFCC00"/>
                </a:solidFill>
                <a:latin typeface="Malgun Gothic"/>
              </a:rPr>
              <a:t>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3E47E3-7B85-B9DE-4389-E098F5EDF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" y="1802190"/>
            <a:ext cx="6029358" cy="496322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20323D3-C6E6-78F0-46CC-58775F50F67C}"/>
              </a:ext>
            </a:extLst>
          </p:cNvPr>
          <p:cNvSpPr/>
          <p:nvPr/>
        </p:nvSpPr>
        <p:spPr>
          <a:xfrm>
            <a:off x="5900927" y="4782263"/>
            <a:ext cx="193291" cy="277561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74CAD9-2FA1-7054-5D79-95A47A41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361" y="1802190"/>
            <a:ext cx="5449375" cy="496322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54A7E7-B1B1-A6DC-5C98-1E0E70C1BE05}"/>
              </a:ext>
            </a:extLst>
          </p:cNvPr>
          <p:cNvSpPr/>
          <p:nvPr/>
        </p:nvSpPr>
        <p:spPr>
          <a:xfrm>
            <a:off x="6584543" y="1810319"/>
            <a:ext cx="681889" cy="253271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EEC3FD-A3F1-7020-47AC-72E677841207}"/>
              </a:ext>
            </a:extLst>
          </p:cNvPr>
          <p:cNvSpPr/>
          <p:nvPr/>
        </p:nvSpPr>
        <p:spPr>
          <a:xfrm>
            <a:off x="6596735" y="2337088"/>
            <a:ext cx="681889" cy="253271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7BB031-1FF2-1F7F-4D27-95DA203F4EF5}"/>
              </a:ext>
            </a:extLst>
          </p:cNvPr>
          <p:cNvSpPr/>
          <p:nvPr/>
        </p:nvSpPr>
        <p:spPr>
          <a:xfrm>
            <a:off x="10260431" y="2822043"/>
            <a:ext cx="285649" cy="253271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626734-23F6-6648-DF48-EC0624E18042}"/>
              </a:ext>
            </a:extLst>
          </p:cNvPr>
          <p:cNvSpPr/>
          <p:nvPr/>
        </p:nvSpPr>
        <p:spPr>
          <a:xfrm>
            <a:off x="9642964" y="2790098"/>
            <a:ext cx="580891" cy="253271"/>
          </a:xfrm>
          <a:prstGeom prst="rect">
            <a:avLst/>
          </a:prstGeom>
          <a:solidFill>
            <a:srgbClr val="D4FF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18012" y="873760"/>
            <a:ext cx="335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🔒</a:t>
            </a:r>
            <a:endParaRPr kumimoji="0" sz="60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125980"/>
            <a:ext cx="12188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"  </a:t>
            </a:r>
            <a:r>
              <a:rPr lang="en-US" sz="9000" b="1" dirty="0">
                <a:solidFill>
                  <a:srgbClr val="D4FF00"/>
                </a:solidFill>
                <a:latin typeface="Apple SD Gothic Neo"/>
              </a:rPr>
              <a:t>Secret Recipe</a:t>
            </a: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594860"/>
            <a:ext cx="850392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823460"/>
            <a:ext cx="12188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다음주에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… to be continue…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일단 익숙해집시다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B6A2F-9616-2FBB-0546-20ACF218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386298-90CA-8E07-DA44-69A4C0095335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5F5BC5-D155-F5F6-2ED3-D4DE720668A6}"/>
              </a:ext>
            </a:extLst>
          </p:cNvPr>
          <p:cNvSpPr txBox="1"/>
          <p:nvPr/>
        </p:nvSpPr>
        <p:spPr>
          <a:xfrm>
            <a:off x="685800" y="50292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다음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주 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내용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DAFD0-2A74-7AB5-5832-4D7CDF18A683}"/>
              </a:ext>
            </a:extLst>
          </p:cNvPr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3DBB05-3A3D-6F18-86BD-E2B3EC3F5851}"/>
              </a:ext>
            </a:extLst>
          </p:cNvPr>
          <p:cNvSpPr txBox="1"/>
          <p:nvPr/>
        </p:nvSpPr>
        <p:spPr>
          <a:xfrm>
            <a:off x="-127000" y="4522900"/>
            <a:ext cx="335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🔒</a:t>
            </a:r>
            <a:endParaRPr kumimoji="0" sz="60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F5841-6639-CF9B-5D5D-A53B099FBB43}"/>
              </a:ext>
            </a:extLst>
          </p:cNvPr>
          <p:cNvSpPr txBox="1"/>
          <p:nvPr/>
        </p:nvSpPr>
        <p:spPr>
          <a:xfrm>
            <a:off x="1231900" y="4649146"/>
            <a:ext cx="5415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D4FF00"/>
                </a:solidFill>
                <a:latin typeface="Apple SD Gothic Neo"/>
              </a:rPr>
              <a:t>Secret Recipe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0E44D-F25A-418C-823D-CE1A2E4A3D0E}"/>
              </a:ext>
            </a:extLst>
          </p:cNvPr>
          <p:cNvSpPr txBox="1"/>
          <p:nvPr/>
        </p:nvSpPr>
        <p:spPr>
          <a:xfrm>
            <a:off x="1178560" y="1727482"/>
            <a:ext cx="767016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 </a:t>
            </a:r>
            <a:r>
              <a:rPr lang="en-US" altLang="ko-KR" sz="3800" b="1" dirty="0">
                <a:solidFill>
                  <a:srgbClr val="FF0000"/>
                </a:solidFill>
                <a:latin typeface="Apple SD Gothic Neo"/>
                <a:ea typeface="맑은 고딕" panose="020B0503020000020004" pitchFamily="50" charset="-127"/>
              </a:rPr>
              <a:t>2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주일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10%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3800" b="1" dirty="0">
                <a:solidFill>
                  <a:schemeClr val="bg1"/>
                </a:solidFill>
                <a:latin typeface="Apple SD Gothic Neo"/>
                <a:ea typeface="맑은 고딕" panose="020B0503020000020004" pitchFamily="50" charset="-127"/>
              </a:rPr>
              <a:t>단기스윙</a:t>
            </a:r>
            <a:r>
              <a:rPr lang="en-US" altLang="ko-KR" sz="3800" b="1" dirty="0">
                <a:solidFill>
                  <a:schemeClr val="bg1"/>
                </a:solidFill>
                <a:latin typeface="Apple SD Gothic Neo"/>
                <a:ea typeface="맑은 고딕" panose="020B0503020000020004" pitchFamily="50" charset="-127"/>
              </a:rPr>
              <a:t>(</a:t>
            </a:r>
            <a:r>
              <a:rPr lang="ko-KR" altLang="en-US" sz="3800" b="1" dirty="0">
                <a:solidFill>
                  <a:schemeClr val="bg1"/>
                </a:solidFill>
                <a:latin typeface="Apple SD Gothic Neo"/>
                <a:ea typeface="맑은 고딕" panose="020B0503020000020004" pitchFamily="50" charset="-127"/>
              </a:rPr>
              <a:t>최대</a:t>
            </a:r>
            <a:r>
              <a:rPr lang="en-US" altLang="ko-KR" sz="3800" b="1" dirty="0">
                <a:solidFill>
                  <a:schemeClr val="bg1"/>
                </a:solidFill>
                <a:latin typeface="Apple SD Gothic Neo"/>
                <a:ea typeface="맑은 고딕" panose="020B0503020000020004" pitchFamily="50" charset="-127"/>
              </a:rPr>
              <a:t>1</a:t>
            </a:r>
            <a:r>
              <a:rPr lang="ko-KR" altLang="en-US" sz="3800" b="1" dirty="0">
                <a:solidFill>
                  <a:schemeClr val="bg1"/>
                </a:solidFill>
                <a:latin typeface="Apple SD Gothic Neo"/>
                <a:ea typeface="맑은 고딕" panose="020B0503020000020004" pitchFamily="50" charset="-127"/>
              </a:rPr>
              <a:t>달</a:t>
            </a:r>
            <a:r>
              <a:rPr lang="en-US" altLang="ko-KR" sz="3800" b="1" dirty="0">
                <a:solidFill>
                  <a:schemeClr val="bg1"/>
                </a:solidFill>
                <a:latin typeface="Apple SD Gothic Neo"/>
                <a:ea typeface="맑은 고딕" panose="020B0503020000020004" pitchFamily="50" charset="-127"/>
              </a:rPr>
              <a:t>) : 45% 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90%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200%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진짜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안나옴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</a:t>
            </a:r>
            <a:endParaRPr kumimoji="0" lang="en-US" altLang="ko-KR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32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E965A-CC23-F343-7BE8-2FBB5277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C039FE-B897-1DF4-818F-C6B861C2A8A6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1EDDC-1B7F-51CD-6F56-957D95341B93}"/>
              </a:ext>
            </a:extLst>
          </p:cNvPr>
          <p:cNvSpPr txBox="1"/>
          <p:nvPr/>
        </p:nvSpPr>
        <p:spPr>
          <a:xfrm>
            <a:off x="0" y="496608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b="1" dirty="0" err="1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돈복사</a:t>
            </a:r>
            <a:r>
              <a:rPr lang="ko-KR" altLang="en-US" sz="44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 월드컵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F05BA-CBB7-5E3F-11CD-4B4518AFDA18}"/>
              </a:ext>
            </a:extLst>
          </p:cNvPr>
          <p:cNvSpPr/>
          <p:nvPr/>
        </p:nvSpPr>
        <p:spPr>
          <a:xfrm>
            <a:off x="1071626" y="1577215"/>
            <a:ext cx="10045700" cy="479298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AC07F-20A3-C202-76F8-7F990B9A548C}"/>
              </a:ext>
            </a:extLst>
          </p:cNvPr>
          <p:cNvSpPr/>
          <p:nvPr/>
        </p:nvSpPr>
        <p:spPr>
          <a:xfrm>
            <a:off x="3214116" y="2130332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70E2DD-E0AA-B121-27B5-EA0A086A1B7B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44434-7A81-ECA7-42F8-753352DF70C1}"/>
              </a:ext>
            </a:extLst>
          </p:cNvPr>
          <p:cNvSpPr txBox="1"/>
          <p:nvPr/>
        </p:nvSpPr>
        <p:spPr>
          <a:xfrm>
            <a:off x="1713155" y="1445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B34F9-D811-0BF0-40ED-5AFEC4F72760}"/>
              </a:ext>
            </a:extLst>
          </p:cNvPr>
          <p:cNvSpPr txBox="1"/>
          <p:nvPr/>
        </p:nvSpPr>
        <p:spPr>
          <a:xfrm rot="10800000">
            <a:off x="9386047" y="-3377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D8EB2-7940-3180-6DCE-96DC53C153B3}"/>
              </a:ext>
            </a:extLst>
          </p:cNvPr>
          <p:cNvSpPr txBox="1"/>
          <p:nvPr/>
        </p:nvSpPr>
        <p:spPr>
          <a:xfrm>
            <a:off x="4143152" y="1326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white">
                    <a:lumMod val="50000"/>
                  </a:prstClr>
                </a:solidFill>
                <a:latin typeface="Apple SD Gothic Neo"/>
                <a:ea typeface="맑은 고딕" panose="020B0503020000020004" pitchFamily="50" charset="-127"/>
              </a:rPr>
              <a:t>5:5 Team Game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B97CA-E132-ED17-EAE7-28ECD696BD7D}"/>
              </a:ext>
            </a:extLst>
          </p:cNvPr>
          <p:cNvSpPr txBox="1"/>
          <p:nvPr/>
        </p:nvSpPr>
        <p:spPr>
          <a:xfrm>
            <a:off x="0" y="1657685"/>
            <a:ext cx="12188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RULE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EE598-60A2-E64A-DFBF-1944AA811324}"/>
              </a:ext>
            </a:extLst>
          </p:cNvPr>
          <p:cNvSpPr txBox="1"/>
          <p:nvPr/>
        </p:nvSpPr>
        <p:spPr>
          <a:xfrm>
            <a:off x="1315339" y="2399500"/>
            <a:ext cx="10337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1️⃣</a:t>
            </a:r>
            <a:r>
              <a:rPr lang="ko-KR" altLang="ko-KR" b="1" dirty="0">
                <a:solidFill>
                  <a:schemeClr val="bg1"/>
                </a:solidFill>
              </a:rPr>
              <a:t>매매 인정 기준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다음주 </a:t>
            </a:r>
            <a:r>
              <a:rPr lang="ko-KR" altLang="ko-KR" dirty="0">
                <a:solidFill>
                  <a:schemeClr val="bg1"/>
                </a:solidFill>
              </a:rPr>
              <a:t>월요일 장부터 5주차 모임 전날(금요일 장 마감)까지 진행된 매매.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r>
              <a:rPr lang="ko-KR" altLang="en-US" dirty="0">
                <a:solidFill>
                  <a:schemeClr val="bg1"/>
                </a:solidFill>
              </a:rPr>
              <a:t>주에 최대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가지 종목만 언급 가능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>
                <a:solidFill>
                  <a:srgbClr val="FF0000"/>
                </a:solidFill>
              </a:rPr>
              <a:t>매매하기전 종목을 </a:t>
            </a:r>
            <a:r>
              <a:rPr lang="ko-KR" altLang="en-US" dirty="0" err="1">
                <a:solidFill>
                  <a:srgbClr val="FF0000"/>
                </a:solidFill>
              </a:rPr>
              <a:t>단톡방에</a:t>
            </a:r>
            <a:r>
              <a:rPr lang="ko-KR" altLang="en-US" dirty="0">
                <a:solidFill>
                  <a:srgbClr val="FF0000"/>
                </a:solidFill>
              </a:rPr>
              <a:t> 얘기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시간과 날짜 기록을 위해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>
                <a:solidFill>
                  <a:srgbClr val="FF0000"/>
                </a:solidFill>
              </a:rPr>
              <a:t>매도한 뒤 종목과 </a:t>
            </a:r>
            <a:r>
              <a:rPr lang="ko-KR" altLang="en-US" dirty="0" err="1">
                <a:solidFill>
                  <a:srgbClr val="FF0000"/>
                </a:solidFill>
              </a:rPr>
              <a:t>단톡방에</a:t>
            </a:r>
            <a:r>
              <a:rPr lang="ko-KR" altLang="en-US" dirty="0">
                <a:solidFill>
                  <a:srgbClr val="FF0000"/>
                </a:solidFill>
              </a:rPr>
              <a:t> 얘기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수익 확인을 위해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FF00"/>
                </a:solidFill>
              </a:rPr>
              <a:t>Ex) </a:t>
            </a:r>
            <a:r>
              <a:rPr lang="ko-KR" altLang="en-US" dirty="0">
                <a:solidFill>
                  <a:srgbClr val="FFFF00"/>
                </a:solidFill>
              </a:rPr>
              <a:t>삼성전자 매수 </a:t>
            </a:r>
            <a:r>
              <a:rPr lang="en-US" altLang="ko-KR" dirty="0">
                <a:solidFill>
                  <a:srgbClr val="FFFF00"/>
                </a:solidFill>
              </a:rPr>
              <a:t>|  </a:t>
            </a:r>
            <a:r>
              <a:rPr lang="ko-KR" altLang="en-US" dirty="0">
                <a:solidFill>
                  <a:srgbClr val="FFFF00"/>
                </a:solidFill>
              </a:rPr>
              <a:t>삼성전자 매도</a:t>
            </a:r>
            <a:endParaRPr lang="en-US" altLang="ko-KR" dirty="0">
              <a:solidFill>
                <a:srgbClr val="FFFF00"/>
              </a:solidFill>
            </a:endParaRPr>
          </a:p>
          <a:p>
            <a:endParaRPr lang="en-US" altLang="ko-KR" b="1" dirty="0">
              <a:solidFill>
                <a:schemeClr val="bg1"/>
              </a:solidFill>
            </a:endParaRPr>
          </a:p>
          <a:p>
            <a:r>
              <a:rPr lang="en-US" altLang="ko-KR" b="1" dirty="0">
                <a:solidFill>
                  <a:schemeClr val="bg1"/>
                </a:solidFill>
              </a:rPr>
              <a:t>2️⃣ </a:t>
            </a:r>
            <a:r>
              <a:rPr lang="ko-KR" altLang="ko-KR" b="1" dirty="0">
                <a:solidFill>
                  <a:schemeClr val="bg1"/>
                </a:solidFill>
              </a:rPr>
              <a:t>팀 승리 조건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ko-KR" dirty="0">
                <a:solidFill>
                  <a:schemeClr val="bg1"/>
                </a:solidFill>
              </a:rPr>
              <a:t>(팀원 전체의 성공 횟수 ÷ 팀원 전체의 총 매매 횟수) × 100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ko-KR" dirty="0">
                <a:solidFill>
                  <a:schemeClr val="bg1"/>
                </a:solidFill>
              </a:rPr>
              <a:t> = 팀 승률(%)이 더 높은 팀이 승리.</a:t>
            </a:r>
            <a:r>
              <a:rPr lang="en-US" altLang="ko-KR" dirty="0">
                <a:solidFill>
                  <a:schemeClr val="bg1"/>
                </a:solidFill>
              </a:rPr>
              <a:t>   </a:t>
            </a:r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>
                <a:solidFill>
                  <a:srgbClr val="FF0000"/>
                </a:solidFill>
              </a:rPr>
              <a:t>수익율이 아닌 승률임  </a:t>
            </a:r>
            <a:r>
              <a:rPr lang="en-US" altLang="ko-KR" dirty="0">
                <a:solidFill>
                  <a:srgbClr val="FF0000"/>
                </a:solidFill>
              </a:rPr>
              <a:t>|  </a:t>
            </a:r>
            <a:r>
              <a:rPr lang="ko-KR" altLang="en-US" dirty="0">
                <a:solidFill>
                  <a:srgbClr val="FF0000"/>
                </a:solidFill>
              </a:rPr>
              <a:t>단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주도 상관 없음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chemeClr val="bg1"/>
                </a:solidFill>
              </a:rPr>
              <a:t>3️⃣ </a:t>
            </a:r>
            <a:r>
              <a:rPr lang="ko-KR" altLang="ko-KR" dirty="0">
                <a:solidFill>
                  <a:schemeClr val="bg1"/>
                </a:solidFill>
              </a:rPr>
              <a:t>손절하기 싫어서 "저 이거 장기 투자로 </a:t>
            </a:r>
            <a:r>
              <a:rPr lang="ko-KR" altLang="ko-KR" dirty="0" err="1">
                <a:solidFill>
                  <a:schemeClr val="bg1"/>
                </a:solidFill>
              </a:rPr>
              <a:t>바꿀래요</a:t>
            </a:r>
            <a:r>
              <a:rPr lang="ko-KR" altLang="ko-KR" dirty="0">
                <a:solidFill>
                  <a:schemeClr val="bg1"/>
                </a:solidFill>
              </a:rPr>
              <a:t>" </a:t>
            </a:r>
            <a:r>
              <a:rPr lang="ko-KR" altLang="en-US" dirty="0">
                <a:solidFill>
                  <a:schemeClr val="bg1"/>
                </a:solidFill>
              </a:rPr>
              <a:t>해서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5</a:t>
            </a:r>
            <a:r>
              <a:rPr lang="ko-KR" altLang="en-US" dirty="0">
                <a:solidFill>
                  <a:schemeClr val="bg1"/>
                </a:solidFill>
              </a:rPr>
              <a:t>주차 </a:t>
            </a:r>
            <a:r>
              <a:rPr lang="ko-KR" altLang="ko-KR" dirty="0">
                <a:solidFill>
                  <a:schemeClr val="bg1"/>
                </a:solidFill>
              </a:rPr>
              <a:t>금요일 마감 기준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마이너스일 경우 </a:t>
            </a:r>
            <a:r>
              <a:rPr lang="en-US" altLang="ko-KR" dirty="0">
                <a:solidFill>
                  <a:srgbClr val="FFFF00"/>
                </a:solidFill>
              </a:rPr>
              <a:t>‘</a:t>
            </a:r>
            <a:r>
              <a:rPr lang="ko-KR" altLang="ko-KR" dirty="0">
                <a:solidFill>
                  <a:srgbClr val="FFFF00"/>
                </a:solidFill>
              </a:rPr>
              <a:t>실패(</a:t>
            </a:r>
            <a:r>
              <a:rPr lang="ko-KR" altLang="ko-KR" dirty="0" err="1">
                <a:solidFill>
                  <a:srgbClr val="FFFF00"/>
                </a:solidFill>
              </a:rPr>
              <a:t>손절</a:t>
            </a:r>
            <a:r>
              <a:rPr lang="ko-KR" altLang="ko-KR" dirty="0">
                <a:solidFill>
                  <a:srgbClr val="FFFF00"/>
                </a:solidFill>
              </a:rPr>
              <a:t>) </a:t>
            </a:r>
            <a:r>
              <a:rPr lang="en-US" altLang="ko-KR" dirty="0">
                <a:solidFill>
                  <a:srgbClr val="FFFF00"/>
                </a:solidFill>
              </a:rPr>
              <a:t>3</a:t>
            </a:r>
            <a:r>
              <a:rPr lang="ko-KR" altLang="ko-KR" dirty="0" err="1">
                <a:solidFill>
                  <a:srgbClr val="FFFF00"/>
                </a:solidFill>
              </a:rPr>
              <a:t>회'로</a:t>
            </a:r>
            <a:r>
              <a:rPr lang="ko-KR" altLang="ko-KR" dirty="0">
                <a:solidFill>
                  <a:srgbClr val="FFFF00"/>
                </a:solidFill>
              </a:rPr>
              <a:t> 강제 카운트</a:t>
            </a:r>
            <a:r>
              <a:rPr lang="ko-KR" altLang="ko-KR" dirty="0">
                <a:solidFill>
                  <a:schemeClr val="bg1"/>
                </a:solidFill>
              </a:rPr>
              <a:t>합니다. 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26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다음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주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과제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10515600" cy="2926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45720" cy="29260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Team game </a:t>
            </a:r>
            <a:r>
              <a:rPr kumimoji="0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참여 종목 </a:t>
            </a:r>
            <a:r>
              <a:rPr lang="ko-KR" altLang="en-US" sz="2100" b="1" dirty="0">
                <a:solidFill>
                  <a:srgbClr val="FFFFFF"/>
                </a:solidFill>
                <a:latin typeface="Apple SD Gothic Neo"/>
              </a:rPr>
              <a:t>최소 </a:t>
            </a:r>
            <a:r>
              <a:rPr lang="en-US" altLang="ko-KR" sz="2100" b="1" dirty="0">
                <a:solidFill>
                  <a:srgbClr val="FFFFFF"/>
                </a:solidFill>
                <a:latin typeface="Apple SD Gothic Neo"/>
              </a:rPr>
              <a:t>1</a:t>
            </a:r>
            <a:r>
              <a:rPr kumimoji="0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개를 고르기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>
                <a:solidFill>
                  <a:srgbClr val="FFFFFF"/>
                </a:solidFill>
                <a:latin typeface="Apple SD Gothic Neo"/>
              </a:rPr>
              <a:t>왜 그 종목인지  </a:t>
            </a:r>
            <a:r>
              <a:rPr lang="en-US" altLang="ko-KR" sz="2100" dirty="0">
                <a:solidFill>
                  <a:srgbClr val="FFFFFF"/>
                </a:solidFill>
                <a:latin typeface="Apple SD Gothic Neo"/>
              </a:rPr>
              <a:t>—  </a:t>
            </a:r>
            <a:r>
              <a:rPr lang="ko-KR" altLang="en-US" sz="2100" dirty="0">
                <a:solidFill>
                  <a:srgbClr val="FFFFFF"/>
                </a:solidFill>
                <a:latin typeface="Apple SD Gothic Neo"/>
              </a:rPr>
              <a:t>조건 </a:t>
            </a:r>
            <a:r>
              <a:rPr lang="en-US" altLang="ko-KR" sz="2100" dirty="0">
                <a:solidFill>
                  <a:srgbClr val="FFFFFF"/>
                </a:solidFill>
                <a:latin typeface="Apple SD Gothic Neo"/>
              </a:rPr>
              <a:t>3</a:t>
            </a:r>
            <a:r>
              <a:rPr lang="ko-KR" altLang="en-US" sz="2100" dirty="0">
                <a:solidFill>
                  <a:srgbClr val="FFFFFF"/>
                </a:solidFill>
                <a:latin typeface="Apple SD Gothic Neo"/>
              </a:rPr>
              <a:t>가지를 직접 작성하기</a:t>
            </a:r>
            <a:r>
              <a:rPr lang="en-US" altLang="ko-KR" sz="2100" dirty="0">
                <a:solidFill>
                  <a:srgbClr val="FFFFFF"/>
                </a:solidFill>
                <a:latin typeface="Apple SD Gothic Ne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958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100" dirty="0">
                <a:solidFill>
                  <a:srgbClr val="FFFFFF"/>
                </a:solidFill>
                <a:latin typeface="Apple SD Gothic Neo"/>
              </a:rPr>
              <a:t>직접 매수를 해도 좋고</a:t>
            </a:r>
            <a:r>
              <a:rPr lang="en-US" altLang="ko-KR" sz="2100" dirty="0">
                <a:solidFill>
                  <a:srgbClr val="FFFFFF"/>
                </a:solidFill>
                <a:latin typeface="Apple SD Gothic Neo"/>
              </a:rPr>
              <a:t>, </a:t>
            </a:r>
            <a:r>
              <a:rPr lang="ko-KR" altLang="en-US" sz="2100" dirty="0">
                <a:solidFill>
                  <a:srgbClr val="FFFFFF"/>
                </a:solidFill>
                <a:latin typeface="Apple SD Gothic Neo"/>
              </a:rPr>
              <a:t>시뮬레이션을 해도 좋으니 수익률 체크하기</a:t>
            </a:r>
            <a:r>
              <a:rPr lang="en-US" altLang="ko-KR" sz="2100" dirty="0">
                <a:solidFill>
                  <a:srgbClr val="FFFFFF"/>
                </a:solidFill>
                <a:latin typeface="Apple SD Gothic Neo"/>
              </a:rPr>
              <a:t>.</a:t>
            </a:r>
            <a:endParaRPr lang="ko-KR" altLang="en-US" sz="210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10515600" cy="3657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64F10-B5EC-CA42-17B5-46C4010FDBE0}"/>
              </a:ext>
            </a:extLst>
          </p:cNvPr>
          <p:cNvSpPr txBox="1"/>
          <p:nvPr/>
        </p:nvSpPr>
        <p:spPr>
          <a:xfrm>
            <a:off x="731520" y="5394960"/>
            <a:ext cx="960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✔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과제를 수행하지 못하면 차주 모임 참여 불가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C41EAE-735C-CF96-EEEC-202540E24BC9}"/>
              </a:ext>
            </a:extLst>
          </p:cNvPr>
          <p:cNvSpPr txBox="1"/>
          <p:nvPr/>
        </p:nvSpPr>
        <p:spPr>
          <a:xfrm>
            <a:off x="6553925" y="1828353"/>
            <a:ext cx="3522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오늘 배운 내용을 사용해도 좋습니다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DF98F-B700-D6C1-4FFC-E705132A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39F1A-C8CA-ABE1-4D4D-6154DBB3CC5D}"/>
              </a:ext>
            </a:extLst>
          </p:cNvPr>
          <p:cNvSpPr txBox="1"/>
          <p:nvPr/>
        </p:nvSpPr>
        <p:spPr>
          <a:xfrm>
            <a:off x="1522412" y="2358297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궁금한점</a:t>
            </a:r>
            <a:r>
              <a:rPr kumimoji="0" lang="en-US" altLang="ko-KR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5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바라는점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E198C-A291-6643-1921-C1B75D7C3EB9}"/>
              </a:ext>
            </a:extLst>
          </p:cNvPr>
          <p:cNvSpPr txBox="1"/>
          <p:nvPr/>
        </p:nvSpPr>
        <p:spPr>
          <a:xfrm>
            <a:off x="1522412" y="3318417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자유롭게 얘기해주세요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201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952</Words>
  <Application>Microsoft Office PowerPoint</Application>
  <PresentationFormat>사용자 지정</PresentationFormat>
  <Paragraphs>181</Paragraphs>
  <Slides>31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Apple SD Gothic Neo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은수 김</cp:lastModifiedBy>
  <cp:revision>13</cp:revision>
  <dcterms:created xsi:type="dcterms:W3CDTF">2013-01-27T09:14:16Z</dcterms:created>
  <dcterms:modified xsi:type="dcterms:W3CDTF">2026-07-10T09:06:42Z</dcterms:modified>
  <cp:category/>
</cp:coreProperties>
</file>